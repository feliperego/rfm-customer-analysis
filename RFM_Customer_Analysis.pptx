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88952" cy="3657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0"/>
            <a:ext cx="8686800" cy="1737360"/>
          </a:xfrm>
          <a:prstGeom prst="rect">
            <a:avLst/>
          </a:prstGeom>
          <a:noFill/>
        </p:spPr>
        <p:txBody>
          <a:bodyPr wrap="square">
            <a:spAutoFit/>
          </a:bodyPr>
          <a:lstStyle/>
          <a:p>
            <a:pPr algn="l"/>
            <a:r>
              <a:rPr sz="3600" b="1" i="0">
                <a:solidFill>
                  <a:srgbClr val="FFFFFF"/>
                </a:solidFill>
              </a:rPr>
              <a:t>Unlocking Customer Value Through
Behavioural Segmentation</a:t>
            </a:r>
          </a:p>
        </p:txBody>
      </p:sp>
      <p:sp>
        <p:nvSpPr>
          <p:cNvPr id="6" name="TextBox 5"/>
          <p:cNvSpPr txBox="1"/>
          <p:nvPr/>
        </p:nvSpPr>
        <p:spPr>
          <a:xfrm>
            <a:off x="502920" y="2971800"/>
            <a:ext cx="8229600" cy="411480"/>
          </a:xfrm>
          <a:prstGeom prst="rect">
            <a:avLst/>
          </a:prstGeom>
          <a:noFill/>
        </p:spPr>
        <p:txBody>
          <a:bodyPr wrap="square">
            <a:spAutoFit/>
          </a:bodyPr>
          <a:lstStyle/>
          <a:p>
            <a:pPr algn="l"/>
            <a:r>
              <a:rPr sz="1400" b="0" i="0">
                <a:solidFill>
                  <a:srgbClr val="BDD7EE"/>
                </a:solidFill>
              </a:rPr>
              <a:t>RFM Analysis — Customer Intelligence Report</a:t>
            </a:r>
          </a:p>
        </p:txBody>
      </p:sp>
      <p:sp>
        <p:nvSpPr>
          <p:cNvPr id="7" name="TextBox 6"/>
          <p:cNvSpPr txBox="1"/>
          <p:nvPr/>
        </p:nvSpPr>
        <p:spPr>
          <a:xfrm>
            <a:off x="502920" y="3520440"/>
            <a:ext cx="9144000" cy="320040"/>
          </a:xfrm>
          <a:prstGeom prst="rect">
            <a:avLst/>
          </a:prstGeom>
          <a:noFill/>
        </p:spPr>
        <p:txBody>
          <a:bodyPr wrap="square">
            <a:spAutoFit/>
          </a:bodyPr>
          <a:lstStyle/>
          <a:p>
            <a:pPr algn="l"/>
            <a:r>
              <a:rPr sz="1100" b="0" i="1">
                <a:solidFill>
                  <a:srgbClr val="BDD7EE"/>
                </a:solidFill>
              </a:rPr>
              <a:t>Analysis across 100 customers  |  8 of 11 behavioural segments present  |  3-year CLV horizon</a:t>
            </a:r>
          </a:p>
        </p:txBody>
      </p:sp>
      <p:sp>
        <p:nvSpPr>
          <p:cNvPr id="8" name="TextBox 7"/>
          <p:cNvSpPr txBox="1"/>
          <p:nvPr/>
        </p:nvSpPr>
        <p:spPr>
          <a:xfrm>
            <a:off x="502920" y="6309360"/>
            <a:ext cx="3657600" cy="320040"/>
          </a:xfrm>
          <a:prstGeom prst="rect">
            <a:avLst/>
          </a:prstGeom>
          <a:noFill/>
        </p:spPr>
        <p:txBody>
          <a:bodyPr wrap="square">
            <a:spAutoFit/>
          </a:bodyPr>
          <a:lstStyle/>
          <a:p>
            <a:pPr algn="l"/>
            <a:r>
              <a:rPr sz="1000" b="0" i="0">
                <a:solidFill>
                  <a:srgbClr val="BDD7EE"/>
                </a:solidFill>
              </a:rPr>
              <a:t>March 2026</a:t>
            </a:r>
          </a:p>
        </p:txBody>
      </p:sp>
      <p:sp>
        <p:nvSpPr>
          <p:cNvPr id="9" name="TextBox 8"/>
          <p:cNvSpPr txBox="1"/>
          <p:nvPr/>
        </p:nvSpPr>
        <p:spPr>
          <a:xfrm>
            <a:off x="9601200" y="6309360"/>
            <a:ext cx="2286000" cy="320040"/>
          </a:xfrm>
          <a:prstGeom prst="rect">
            <a:avLst/>
          </a:prstGeom>
          <a:noFill/>
        </p:spPr>
        <p:txBody>
          <a:bodyPr wrap="square">
            <a:spAutoFit/>
          </a:bodyPr>
          <a:lstStyle/>
          <a:p>
            <a:pPr algn="r"/>
            <a:r>
              <a:rPr sz="900" b="0" i="0">
                <a:solidFill>
                  <a:srgbClr val="FFC000"/>
                </a:solidFill>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Executive Summary</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Three findings define the commercial opportunity in this customer base</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2</a:t>
            </a:r>
          </a:p>
        </p:txBody>
      </p:sp>
      <p:sp>
        <p:nvSpPr>
          <p:cNvPr id="8" name="Rectangle 7"/>
          <p:cNvSpPr/>
          <p:nvPr/>
        </p:nvSpPr>
        <p:spPr>
          <a:xfrm>
            <a:off x="365760" y="1188720"/>
            <a:ext cx="54864" cy="1280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188720"/>
            <a:ext cx="548640" cy="365760"/>
          </a:xfrm>
          <a:prstGeom prst="rect">
            <a:avLst/>
          </a:prstGeom>
          <a:noFill/>
        </p:spPr>
        <p:txBody>
          <a:bodyPr wrap="square">
            <a:spAutoFit/>
          </a:bodyPr>
          <a:lstStyle/>
          <a:p>
            <a:pPr algn="l"/>
            <a:r>
              <a:rPr sz="1100" b="1" i="0">
                <a:solidFill>
                  <a:srgbClr val="0070C0"/>
                </a:solidFill>
              </a:rPr>
              <a:t>01</a:t>
            </a:r>
          </a:p>
        </p:txBody>
      </p:sp>
      <p:sp>
        <p:nvSpPr>
          <p:cNvPr id="10" name="TextBox 9"/>
          <p:cNvSpPr txBox="1"/>
          <p:nvPr/>
        </p:nvSpPr>
        <p:spPr>
          <a:xfrm>
            <a:off x="1188720" y="1188720"/>
            <a:ext cx="10241280" cy="384048"/>
          </a:xfrm>
          <a:prstGeom prst="rect">
            <a:avLst/>
          </a:prstGeom>
          <a:noFill/>
        </p:spPr>
        <p:txBody>
          <a:bodyPr wrap="square">
            <a:spAutoFit/>
          </a:bodyPr>
          <a:lstStyle/>
          <a:p>
            <a:pPr algn="l"/>
            <a:r>
              <a:rPr sz="1250" b="1" i="0">
                <a:solidFill>
                  <a:srgbClr val="1A1A1A"/>
                </a:solidFill>
              </a:rPr>
              <a:t>Champions &amp; Loyal represent 15% of customers but deliver 40% of total portfolio CLV</a:t>
            </a:r>
          </a:p>
        </p:txBody>
      </p:sp>
      <p:sp>
        <p:nvSpPr>
          <p:cNvPr id="11" name="TextBox 10"/>
          <p:cNvSpPr txBox="1"/>
          <p:nvPr/>
        </p:nvSpPr>
        <p:spPr>
          <a:xfrm>
            <a:off x="1188720" y="1572768"/>
            <a:ext cx="10241280" cy="822960"/>
          </a:xfrm>
          <a:prstGeom prst="rect">
            <a:avLst/>
          </a:prstGeom>
          <a:noFill/>
        </p:spPr>
        <p:txBody>
          <a:bodyPr wrap="square">
            <a:spAutoFit/>
          </a:bodyPr>
          <a:lstStyle/>
          <a:p>
            <a:pPr algn="l"/>
            <a:r>
              <a:rPr sz="1000" b="0" i="0">
                <a:solidFill>
                  <a:srgbClr val="595959"/>
                </a:solidFill>
              </a:rPr>
              <a:t>15 customers — avg CLV $1,412 (Champions) and $832 (Loyal). Protecting and deepening these relationships is the highest-return priority.</a:t>
            </a:r>
          </a:p>
        </p:txBody>
      </p:sp>
      <p:sp>
        <p:nvSpPr>
          <p:cNvPr id="12" name="Rectangle 11"/>
          <p:cNvSpPr/>
          <p:nvPr/>
        </p:nvSpPr>
        <p:spPr>
          <a:xfrm>
            <a:off x="365760" y="2880360"/>
            <a:ext cx="54864" cy="12801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80360"/>
            <a:ext cx="548640" cy="365760"/>
          </a:xfrm>
          <a:prstGeom prst="rect">
            <a:avLst/>
          </a:prstGeom>
          <a:noFill/>
        </p:spPr>
        <p:txBody>
          <a:bodyPr wrap="square">
            <a:spAutoFit/>
          </a:bodyPr>
          <a:lstStyle/>
          <a:p>
            <a:pPr algn="l"/>
            <a:r>
              <a:rPr sz="1100" b="1" i="0">
                <a:solidFill>
                  <a:srgbClr val="C00000"/>
                </a:solidFill>
              </a:rPr>
              <a:t>02</a:t>
            </a:r>
          </a:p>
        </p:txBody>
      </p:sp>
      <p:sp>
        <p:nvSpPr>
          <p:cNvPr id="14" name="TextBox 13"/>
          <p:cNvSpPr txBox="1"/>
          <p:nvPr/>
        </p:nvSpPr>
        <p:spPr>
          <a:xfrm>
            <a:off x="1188720" y="2880360"/>
            <a:ext cx="10241280" cy="384048"/>
          </a:xfrm>
          <a:prstGeom prst="rect">
            <a:avLst/>
          </a:prstGeom>
          <a:noFill/>
        </p:spPr>
        <p:txBody>
          <a:bodyPr wrap="square">
            <a:spAutoFit/>
          </a:bodyPr>
          <a:lstStyle/>
          <a:p>
            <a:pPr algn="l"/>
            <a:r>
              <a:rPr sz="1250" b="1" i="0">
                <a:solidFill>
                  <a:srgbClr val="1A1A1A"/>
                </a:solidFill>
              </a:rPr>
              <a:t>40% of the base shows lapsing signals — representing recoverable CLV at risk</a:t>
            </a:r>
          </a:p>
        </p:txBody>
      </p:sp>
      <p:sp>
        <p:nvSpPr>
          <p:cNvPr id="15" name="TextBox 14"/>
          <p:cNvSpPr txBox="1"/>
          <p:nvPr/>
        </p:nvSpPr>
        <p:spPr>
          <a:xfrm>
            <a:off x="1188720" y="3264408"/>
            <a:ext cx="10241280" cy="822960"/>
          </a:xfrm>
          <a:prstGeom prst="rect">
            <a:avLst/>
          </a:prstGeom>
          <a:noFill/>
        </p:spPr>
        <p:txBody>
          <a:bodyPr wrap="square">
            <a:spAutoFit/>
          </a:bodyPr>
          <a:lstStyle/>
          <a:p>
            <a:pPr algn="l"/>
            <a:r>
              <a:rPr sz="1000" b="0" i="0">
                <a:solidFill>
                  <a:srgbClr val="595959"/>
                </a:solidFill>
              </a:rPr>
              <a:t>40 customers across Hibernating, Lost, At Risk, and Can't Lose Them segments. Targeted win-back programmes could recapture a meaningful share of this value before permanent churn.</a:t>
            </a:r>
          </a:p>
        </p:txBody>
      </p:sp>
      <p:sp>
        <p:nvSpPr>
          <p:cNvPr id="16" name="Rectangle 15"/>
          <p:cNvSpPr/>
          <p:nvPr/>
        </p:nvSpPr>
        <p:spPr>
          <a:xfrm>
            <a:off x="365760" y="4572000"/>
            <a:ext cx="54864" cy="12801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572000"/>
            <a:ext cx="548640" cy="365760"/>
          </a:xfrm>
          <a:prstGeom prst="rect">
            <a:avLst/>
          </a:prstGeom>
          <a:noFill/>
        </p:spPr>
        <p:txBody>
          <a:bodyPr wrap="square">
            <a:spAutoFit/>
          </a:bodyPr>
          <a:lstStyle/>
          <a:p>
            <a:pPr algn="l"/>
            <a:r>
              <a:rPr sz="1100" b="1" i="0">
                <a:solidFill>
                  <a:srgbClr val="007050"/>
                </a:solidFill>
              </a:rPr>
              <a:t>03</a:t>
            </a:r>
          </a:p>
        </p:txBody>
      </p:sp>
      <p:sp>
        <p:nvSpPr>
          <p:cNvPr id="18" name="TextBox 17"/>
          <p:cNvSpPr txBox="1"/>
          <p:nvPr/>
        </p:nvSpPr>
        <p:spPr>
          <a:xfrm>
            <a:off x="1188720" y="4572000"/>
            <a:ext cx="10241280" cy="384048"/>
          </a:xfrm>
          <a:prstGeom prst="rect">
            <a:avLst/>
          </a:prstGeom>
          <a:noFill/>
        </p:spPr>
        <p:txBody>
          <a:bodyPr wrap="square">
            <a:spAutoFit/>
          </a:bodyPr>
          <a:lstStyle/>
          <a:p>
            <a:pPr algn="l"/>
            <a:r>
              <a:rPr sz="1250" b="1" i="0">
                <a:solidFill>
                  <a:srgbClr val="1A1A1A"/>
                </a:solidFill>
              </a:rPr>
              <a:t>40% of customers are in early-stage growth segments with conversion potential</a:t>
            </a:r>
          </a:p>
        </p:txBody>
      </p:sp>
      <p:sp>
        <p:nvSpPr>
          <p:cNvPr id="19" name="TextBox 18"/>
          <p:cNvSpPr txBox="1"/>
          <p:nvPr/>
        </p:nvSpPr>
        <p:spPr>
          <a:xfrm>
            <a:off x="1188720" y="4956048"/>
            <a:ext cx="10241280" cy="822960"/>
          </a:xfrm>
          <a:prstGeom prst="rect">
            <a:avLst/>
          </a:prstGeom>
          <a:noFill/>
        </p:spPr>
        <p:txBody>
          <a:bodyPr wrap="square">
            <a:spAutoFit/>
          </a:bodyPr>
          <a:lstStyle/>
          <a:p>
            <a:pPr algn="l"/>
            <a:r>
              <a:rPr sz="1000" b="0" i="0">
                <a:solidFill>
                  <a:srgbClr val="595959"/>
                </a:solidFill>
              </a:rPr>
              <a:t>40 customers across New Customer, Promising, and Potential Loyalist. Structured onboarding and loyalty nudges can migrate these cohorts toward higher-value segments.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Methodology</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RFM scoring translates transactional data into actionable behavioural profiles</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3</a:t>
            </a:r>
          </a:p>
        </p:txBody>
      </p:sp>
      <p:sp>
        <p:nvSpPr>
          <p:cNvPr id="8" name="Rectangle 7"/>
          <p:cNvSpPr/>
          <p:nvPr/>
        </p:nvSpPr>
        <p:spPr>
          <a:xfrm>
            <a:off x="365760" y="1143000"/>
            <a:ext cx="2148840" cy="5486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25880"/>
            <a:ext cx="365760" cy="347472"/>
          </a:xfrm>
          <a:prstGeom prst="rect">
            <a:avLst/>
          </a:prstGeom>
          <a:noFill/>
        </p:spPr>
        <p:txBody>
          <a:bodyPr wrap="square">
            <a:spAutoFit/>
          </a:bodyPr>
          <a:lstStyle/>
          <a:p>
            <a:pPr algn="l"/>
            <a:r>
              <a:rPr sz="1800" b="1" i="0">
                <a:solidFill>
                  <a:srgbClr val="0070C0"/>
                </a:solidFill>
              </a:rPr>
              <a:t>1</a:t>
            </a:r>
          </a:p>
        </p:txBody>
      </p:sp>
      <p:sp>
        <p:nvSpPr>
          <p:cNvPr id="10" name="TextBox 9"/>
          <p:cNvSpPr txBox="1"/>
          <p:nvPr/>
        </p:nvSpPr>
        <p:spPr>
          <a:xfrm>
            <a:off x="365760" y="1737360"/>
            <a:ext cx="2011680" cy="320040"/>
          </a:xfrm>
          <a:prstGeom prst="rect">
            <a:avLst/>
          </a:prstGeom>
          <a:noFill/>
        </p:spPr>
        <p:txBody>
          <a:bodyPr wrap="square">
            <a:spAutoFit/>
          </a:bodyPr>
          <a:lstStyle/>
          <a:p>
            <a:pPr algn="l"/>
            <a:r>
              <a:rPr sz="1100" b="1" i="0">
                <a:solidFill>
                  <a:srgbClr val="1A1A1A"/>
                </a:solidFill>
              </a:rPr>
              <a:t>R — Recency</a:t>
            </a:r>
          </a:p>
        </p:txBody>
      </p:sp>
      <p:sp>
        <p:nvSpPr>
          <p:cNvPr id="11" name="TextBox 10"/>
          <p:cNvSpPr txBox="1"/>
          <p:nvPr/>
        </p:nvSpPr>
        <p:spPr>
          <a:xfrm>
            <a:off x="365760" y="2121408"/>
            <a:ext cx="2011680" cy="914400"/>
          </a:xfrm>
          <a:prstGeom prst="rect">
            <a:avLst/>
          </a:prstGeom>
          <a:noFill/>
        </p:spPr>
        <p:txBody>
          <a:bodyPr wrap="square">
            <a:spAutoFit/>
          </a:bodyPr>
          <a:lstStyle/>
          <a:p>
            <a:pPr algn="l"/>
            <a:r>
              <a:rPr sz="950" b="0" i="0">
                <a:solidFill>
                  <a:srgbClr val="595959"/>
                </a:solidFill>
              </a:rPr>
              <a:t>Days since last purchase.
Lower recency = higher score (1–5).
Customers scored via percentile rank.</a:t>
            </a:r>
          </a:p>
        </p:txBody>
      </p:sp>
      <p:sp>
        <p:nvSpPr>
          <p:cNvPr id="12" name="Rectangle 11"/>
          <p:cNvSpPr/>
          <p:nvPr/>
        </p:nvSpPr>
        <p:spPr>
          <a:xfrm>
            <a:off x="2697479" y="1143000"/>
            <a:ext cx="214884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79" y="1325880"/>
            <a:ext cx="365760" cy="347472"/>
          </a:xfrm>
          <a:prstGeom prst="rect">
            <a:avLst/>
          </a:prstGeom>
          <a:noFill/>
        </p:spPr>
        <p:txBody>
          <a:bodyPr wrap="square">
            <a:spAutoFit/>
          </a:bodyPr>
          <a:lstStyle/>
          <a:p>
            <a:pPr algn="l"/>
            <a:r>
              <a:rPr sz="1800" b="1" i="0">
                <a:solidFill>
                  <a:srgbClr val="003366"/>
                </a:solidFill>
              </a:rPr>
              <a:t>2</a:t>
            </a:r>
          </a:p>
        </p:txBody>
      </p:sp>
      <p:sp>
        <p:nvSpPr>
          <p:cNvPr id="14" name="TextBox 13"/>
          <p:cNvSpPr txBox="1"/>
          <p:nvPr/>
        </p:nvSpPr>
        <p:spPr>
          <a:xfrm>
            <a:off x="2697479" y="1737360"/>
            <a:ext cx="2011680" cy="320040"/>
          </a:xfrm>
          <a:prstGeom prst="rect">
            <a:avLst/>
          </a:prstGeom>
          <a:noFill/>
        </p:spPr>
        <p:txBody>
          <a:bodyPr wrap="square">
            <a:spAutoFit/>
          </a:bodyPr>
          <a:lstStyle/>
          <a:p>
            <a:pPr algn="l"/>
            <a:r>
              <a:rPr sz="1100" b="1" i="0">
                <a:solidFill>
                  <a:srgbClr val="1A1A1A"/>
                </a:solidFill>
              </a:rPr>
              <a:t>F — Frequency</a:t>
            </a:r>
          </a:p>
        </p:txBody>
      </p:sp>
      <p:sp>
        <p:nvSpPr>
          <p:cNvPr id="15" name="TextBox 14"/>
          <p:cNvSpPr txBox="1"/>
          <p:nvPr/>
        </p:nvSpPr>
        <p:spPr>
          <a:xfrm>
            <a:off x="2697479" y="2121408"/>
            <a:ext cx="2011680" cy="914400"/>
          </a:xfrm>
          <a:prstGeom prst="rect">
            <a:avLst/>
          </a:prstGeom>
          <a:noFill/>
        </p:spPr>
        <p:txBody>
          <a:bodyPr wrap="square">
            <a:spAutoFit/>
          </a:bodyPr>
          <a:lstStyle/>
          <a:p>
            <a:pPr algn="l"/>
            <a:r>
              <a:rPr sz="950" b="0" i="0">
                <a:solidFill>
                  <a:srgbClr val="595959"/>
                </a:solidFill>
              </a:rPr>
              <a:t>Number of distinct purchases.
Direct ladder: 1 tx → score 1,
5+ tx → score 5.</a:t>
            </a:r>
          </a:p>
        </p:txBody>
      </p:sp>
      <p:sp>
        <p:nvSpPr>
          <p:cNvPr id="16" name="Rectangle 15"/>
          <p:cNvSpPr/>
          <p:nvPr/>
        </p:nvSpPr>
        <p:spPr>
          <a:xfrm>
            <a:off x="5029200" y="1143000"/>
            <a:ext cx="2148840" cy="5486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1325880"/>
            <a:ext cx="365760" cy="347472"/>
          </a:xfrm>
          <a:prstGeom prst="rect">
            <a:avLst/>
          </a:prstGeom>
          <a:noFill/>
        </p:spPr>
        <p:txBody>
          <a:bodyPr wrap="square">
            <a:spAutoFit/>
          </a:bodyPr>
          <a:lstStyle/>
          <a:p>
            <a:pPr algn="l"/>
            <a:r>
              <a:rPr sz="1800" b="1" i="0">
                <a:solidFill>
                  <a:srgbClr val="0070C0"/>
                </a:solidFill>
              </a:rPr>
              <a:t>3</a:t>
            </a:r>
          </a:p>
        </p:txBody>
      </p:sp>
      <p:sp>
        <p:nvSpPr>
          <p:cNvPr id="18" name="TextBox 17"/>
          <p:cNvSpPr txBox="1"/>
          <p:nvPr/>
        </p:nvSpPr>
        <p:spPr>
          <a:xfrm>
            <a:off x="5029200" y="1737360"/>
            <a:ext cx="2011680" cy="320040"/>
          </a:xfrm>
          <a:prstGeom prst="rect">
            <a:avLst/>
          </a:prstGeom>
          <a:noFill/>
        </p:spPr>
        <p:txBody>
          <a:bodyPr wrap="square">
            <a:spAutoFit/>
          </a:bodyPr>
          <a:lstStyle/>
          <a:p>
            <a:pPr algn="l"/>
            <a:r>
              <a:rPr sz="1100" b="1" i="0">
                <a:solidFill>
                  <a:srgbClr val="1A1A1A"/>
                </a:solidFill>
              </a:rPr>
              <a:t>M — Monetary</a:t>
            </a:r>
          </a:p>
        </p:txBody>
      </p:sp>
      <p:sp>
        <p:nvSpPr>
          <p:cNvPr id="19" name="TextBox 18"/>
          <p:cNvSpPr txBox="1"/>
          <p:nvPr/>
        </p:nvSpPr>
        <p:spPr>
          <a:xfrm>
            <a:off x="5029200" y="2121408"/>
            <a:ext cx="2011680" cy="914400"/>
          </a:xfrm>
          <a:prstGeom prst="rect">
            <a:avLst/>
          </a:prstGeom>
          <a:noFill/>
        </p:spPr>
        <p:txBody>
          <a:bodyPr wrap="square">
            <a:spAutoFit/>
          </a:bodyPr>
          <a:lstStyle/>
          <a:p>
            <a:pPr algn="l"/>
            <a:r>
              <a:rPr sz="950" b="0" i="0">
                <a:solidFill>
                  <a:srgbClr val="595959"/>
                </a:solidFill>
              </a:rPr>
              <a:t>Total spend to date.
Higher spend = higher score (1–5).
Customers scored via percentile rank.</a:t>
            </a:r>
          </a:p>
        </p:txBody>
      </p:sp>
      <p:sp>
        <p:nvSpPr>
          <p:cNvPr id="20" name="Rectangle 19"/>
          <p:cNvSpPr/>
          <p:nvPr/>
        </p:nvSpPr>
        <p:spPr>
          <a:xfrm>
            <a:off x="7360919" y="1143000"/>
            <a:ext cx="214884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19" y="1325880"/>
            <a:ext cx="365760" cy="347472"/>
          </a:xfrm>
          <a:prstGeom prst="rect">
            <a:avLst/>
          </a:prstGeom>
          <a:noFill/>
        </p:spPr>
        <p:txBody>
          <a:bodyPr wrap="square">
            <a:spAutoFit/>
          </a:bodyPr>
          <a:lstStyle/>
          <a:p>
            <a:pPr algn="l"/>
            <a:r>
              <a:rPr sz="1800" b="1" i="0">
                <a:solidFill>
                  <a:srgbClr val="003366"/>
                </a:solidFill>
              </a:rPr>
              <a:t>4</a:t>
            </a:r>
          </a:p>
        </p:txBody>
      </p:sp>
      <p:sp>
        <p:nvSpPr>
          <p:cNvPr id="22" name="TextBox 21"/>
          <p:cNvSpPr txBox="1"/>
          <p:nvPr/>
        </p:nvSpPr>
        <p:spPr>
          <a:xfrm>
            <a:off x="7360919" y="1737360"/>
            <a:ext cx="2011680" cy="320040"/>
          </a:xfrm>
          <a:prstGeom prst="rect">
            <a:avLst/>
          </a:prstGeom>
          <a:noFill/>
        </p:spPr>
        <p:txBody>
          <a:bodyPr wrap="square">
            <a:spAutoFit/>
          </a:bodyPr>
          <a:lstStyle/>
          <a:p>
            <a:pPr algn="l"/>
            <a:r>
              <a:rPr sz="1100" b="1" i="0">
                <a:solidFill>
                  <a:srgbClr val="1A1A1A"/>
                </a:solidFill>
              </a:rPr>
              <a:t>Segmentation</a:t>
            </a:r>
          </a:p>
        </p:txBody>
      </p:sp>
      <p:sp>
        <p:nvSpPr>
          <p:cNvPr id="23" name="TextBox 22"/>
          <p:cNvSpPr txBox="1"/>
          <p:nvPr/>
        </p:nvSpPr>
        <p:spPr>
          <a:xfrm>
            <a:off x="7360919" y="2121408"/>
            <a:ext cx="2011680" cy="914400"/>
          </a:xfrm>
          <a:prstGeom prst="rect">
            <a:avLst/>
          </a:prstGeom>
          <a:noFill/>
        </p:spPr>
        <p:txBody>
          <a:bodyPr wrap="square">
            <a:spAutoFit/>
          </a:bodyPr>
          <a:lstStyle/>
          <a:p>
            <a:pPr algn="l"/>
            <a:r>
              <a:rPr sz="950" b="0" i="0">
                <a:solidFill>
                  <a:srgbClr val="595959"/>
                </a:solidFill>
              </a:rPr>
              <a:t>11 segments assigned via
R×F score matrix — from
Champions to Lost.</a:t>
            </a:r>
          </a:p>
        </p:txBody>
      </p:sp>
      <p:sp>
        <p:nvSpPr>
          <p:cNvPr id="24" name="Rectangle 23"/>
          <p:cNvSpPr/>
          <p:nvPr/>
        </p:nvSpPr>
        <p:spPr>
          <a:xfrm>
            <a:off x="9692640" y="1143000"/>
            <a:ext cx="2148840" cy="5486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0" y="1325880"/>
            <a:ext cx="365760" cy="347472"/>
          </a:xfrm>
          <a:prstGeom prst="rect">
            <a:avLst/>
          </a:prstGeom>
          <a:noFill/>
        </p:spPr>
        <p:txBody>
          <a:bodyPr wrap="square">
            <a:spAutoFit/>
          </a:bodyPr>
          <a:lstStyle/>
          <a:p>
            <a:pPr algn="l"/>
            <a:r>
              <a:rPr sz="1800" b="1" i="0">
                <a:solidFill>
                  <a:srgbClr val="0070C0"/>
                </a:solidFill>
              </a:rPr>
              <a:t>5</a:t>
            </a:r>
          </a:p>
        </p:txBody>
      </p:sp>
      <p:sp>
        <p:nvSpPr>
          <p:cNvPr id="26" name="TextBox 25"/>
          <p:cNvSpPr txBox="1"/>
          <p:nvPr/>
        </p:nvSpPr>
        <p:spPr>
          <a:xfrm>
            <a:off x="9692640" y="1737360"/>
            <a:ext cx="2011680" cy="320040"/>
          </a:xfrm>
          <a:prstGeom prst="rect">
            <a:avLst/>
          </a:prstGeom>
          <a:noFill/>
        </p:spPr>
        <p:txBody>
          <a:bodyPr wrap="square">
            <a:spAutoFit/>
          </a:bodyPr>
          <a:lstStyle/>
          <a:p>
            <a:pPr algn="l"/>
            <a:r>
              <a:rPr sz="1100" b="1" i="0">
                <a:solidFill>
                  <a:srgbClr val="1A1A1A"/>
                </a:solidFill>
              </a:rPr>
              <a:t>CLV Estimate</a:t>
            </a:r>
          </a:p>
        </p:txBody>
      </p:sp>
      <p:sp>
        <p:nvSpPr>
          <p:cNvPr id="27" name="TextBox 26"/>
          <p:cNvSpPr txBox="1"/>
          <p:nvPr/>
        </p:nvSpPr>
        <p:spPr>
          <a:xfrm>
            <a:off x="9692640" y="2121408"/>
            <a:ext cx="2011680" cy="914400"/>
          </a:xfrm>
          <a:prstGeom prst="rect">
            <a:avLst/>
          </a:prstGeom>
          <a:noFill/>
        </p:spPr>
        <p:txBody>
          <a:bodyPr wrap="square">
            <a:spAutoFit/>
          </a:bodyPr>
          <a:lstStyle/>
          <a:p>
            <a:pPr algn="l"/>
            <a:r>
              <a:rPr sz="950" b="0" i="0">
                <a:solidFill>
                  <a:srgbClr val="595959"/>
                </a:solidFill>
              </a:rPr>
              <a:t>avg_order × freq × 3 yrs × 20%
margin. Consistent 3-year
horizon for comparability.</a:t>
            </a:r>
          </a:p>
        </p:txBody>
      </p:sp>
      <p:sp>
        <p:nvSpPr>
          <p:cNvPr id="28" name="Rectangle 27"/>
          <p:cNvSpPr/>
          <p:nvPr/>
        </p:nvSpPr>
        <p:spPr>
          <a:xfrm>
            <a:off x="365760" y="3246120"/>
            <a:ext cx="11430000" cy="36576"/>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429000"/>
            <a:ext cx="2743200" cy="274320"/>
          </a:xfrm>
          <a:prstGeom prst="rect">
            <a:avLst/>
          </a:prstGeom>
          <a:noFill/>
        </p:spPr>
        <p:txBody>
          <a:bodyPr wrap="square">
            <a:spAutoFit/>
          </a:bodyPr>
          <a:lstStyle/>
          <a:p>
            <a:pPr algn="l"/>
            <a:r>
              <a:rPr sz="900" b="1" i="0">
                <a:solidFill>
                  <a:srgbClr val="003366"/>
                </a:solidFill>
              </a:rPr>
              <a:t>Configuration</a:t>
            </a:r>
          </a:p>
        </p:txBody>
      </p:sp>
      <p:sp>
        <p:nvSpPr>
          <p:cNvPr id="30" name="TextBox 29"/>
          <p:cNvSpPr txBox="1"/>
          <p:nvPr/>
        </p:nvSpPr>
        <p:spPr>
          <a:xfrm>
            <a:off x="365760" y="3703320"/>
            <a:ext cx="1645920" cy="320040"/>
          </a:xfrm>
          <a:prstGeom prst="rect">
            <a:avLst/>
          </a:prstGeom>
          <a:noFill/>
        </p:spPr>
        <p:txBody>
          <a:bodyPr wrap="square">
            <a:spAutoFit/>
          </a:bodyPr>
          <a:lstStyle/>
          <a:p>
            <a:pPr algn="l"/>
            <a:r>
              <a:rPr sz="950" b="0" i="0">
                <a:solidFill>
                  <a:srgbClr val="595959"/>
                </a:solidFill>
              </a:rPr>
              <a:t>Input file:  </a:t>
            </a:r>
          </a:p>
        </p:txBody>
      </p:sp>
      <p:sp>
        <p:nvSpPr>
          <p:cNvPr id="31" name="TextBox 30"/>
          <p:cNvSpPr txBox="1"/>
          <p:nvPr/>
        </p:nvSpPr>
        <p:spPr>
          <a:xfrm>
            <a:off x="1783080" y="3703320"/>
            <a:ext cx="2103120" cy="320040"/>
          </a:xfrm>
          <a:prstGeom prst="rect">
            <a:avLst/>
          </a:prstGeom>
          <a:noFill/>
        </p:spPr>
        <p:txBody>
          <a:bodyPr wrap="square">
            <a:spAutoFit/>
          </a:bodyPr>
          <a:lstStyle/>
          <a:p>
            <a:pPr algn="l"/>
            <a:r>
              <a:rPr sz="950" b="1" i="0">
                <a:solidFill>
                  <a:srgbClr val="1A1A1A"/>
                </a:solidFill>
              </a:rPr>
              <a:t>rfm_mockup.csv</a:t>
            </a:r>
          </a:p>
        </p:txBody>
      </p:sp>
      <p:sp>
        <p:nvSpPr>
          <p:cNvPr id="32" name="TextBox 31"/>
          <p:cNvSpPr txBox="1"/>
          <p:nvPr/>
        </p:nvSpPr>
        <p:spPr>
          <a:xfrm>
            <a:off x="4114800" y="3703320"/>
            <a:ext cx="1645920" cy="320040"/>
          </a:xfrm>
          <a:prstGeom prst="rect">
            <a:avLst/>
          </a:prstGeom>
          <a:noFill/>
        </p:spPr>
        <p:txBody>
          <a:bodyPr wrap="square">
            <a:spAutoFit/>
          </a:bodyPr>
          <a:lstStyle/>
          <a:p>
            <a:pPr algn="l"/>
            <a:r>
              <a:rPr sz="950" b="0" i="0">
                <a:solidFill>
                  <a:srgbClr val="595959"/>
                </a:solidFill>
              </a:rPr>
              <a:t>Customers analysed:  </a:t>
            </a:r>
          </a:p>
        </p:txBody>
      </p:sp>
      <p:sp>
        <p:nvSpPr>
          <p:cNvPr id="33" name="TextBox 32"/>
          <p:cNvSpPr txBox="1"/>
          <p:nvPr/>
        </p:nvSpPr>
        <p:spPr>
          <a:xfrm>
            <a:off x="5532120" y="3703320"/>
            <a:ext cx="2103120" cy="320040"/>
          </a:xfrm>
          <a:prstGeom prst="rect">
            <a:avLst/>
          </a:prstGeom>
          <a:noFill/>
        </p:spPr>
        <p:txBody>
          <a:bodyPr wrap="square">
            <a:spAutoFit/>
          </a:bodyPr>
          <a:lstStyle/>
          <a:p>
            <a:pPr algn="l"/>
            <a:r>
              <a:rPr sz="950" b="1" i="0">
                <a:solidFill>
                  <a:srgbClr val="1A1A1A"/>
                </a:solidFill>
              </a:rPr>
              <a:t>100</a:t>
            </a:r>
          </a:p>
        </p:txBody>
      </p:sp>
      <p:sp>
        <p:nvSpPr>
          <p:cNvPr id="34" name="TextBox 33"/>
          <p:cNvSpPr txBox="1"/>
          <p:nvPr/>
        </p:nvSpPr>
        <p:spPr>
          <a:xfrm>
            <a:off x="7863840" y="3703320"/>
            <a:ext cx="1645920" cy="320040"/>
          </a:xfrm>
          <a:prstGeom prst="rect">
            <a:avLst/>
          </a:prstGeom>
          <a:noFill/>
        </p:spPr>
        <p:txBody>
          <a:bodyPr wrap="square">
            <a:spAutoFit/>
          </a:bodyPr>
          <a:lstStyle/>
          <a:p>
            <a:pPr algn="l"/>
            <a:r>
              <a:rPr sz="950" b="0" i="0">
                <a:solidFill>
                  <a:srgbClr val="595959"/>
                </a:solidFill>
              </a:rPr>
              <a:t>CLV lifespan:  </a:t>
            </a:r>
          </a:p>
        </p:txBody>
      </p:sp>
      <p:sp>
        <p:nvSpPr>
          <p:cNvPr id="35" name="TextBox 34"/>
          <p:cNvSpPr txBox="1"/>
          <p:nvPr/>
        </p:nvSpPr>
        <p:spPr>
          <a:xfrm>
            <a:off x="9281160" y="3703320"/>
            <a:ext cx="2103120" cy="320040"/>
          </a:xfrm>
          <a:prstGeom prst="rect">
            <a:avLst/>
          </a:prstGeom>
          <a:noFill/>
        </p:spPr>
        <p:txBody>
          <a:bodyPr wrap="square">
            <a:spAutoFit/>
          </a:bodyPr>
          <a:lstStyle/>
          <a:p>
            <a:pPr algn="l"/>
            <a:r>
              <a:rPr sz="950" b="1" i="0">
                <a:solidFill>
                  <a:srgbClr val="1A1A1A"/>
                </a:solidFill>
              </a:rPr>
              <a:t>3 years</a:t>
            </a:r>
          </a:p>
        </p:txBody>
      </p:sp>
      <p:sp>
        <p:nvSpPr>
          <p:cNvPr id="36" name="TextBox 35"/>
          <p:cNvSpPr txBox="1"/>
          <p:nvPr/>
        </p:nvSpPr>
        <p:spPr>
          <a:xfrm>
            <a:off x="365760" y="4114800"/>
            <a:ext cx="1645920" cy="320040"/>
          </a:xfrm>
          <a:prstGeom prst="rect">
            <a:avLst/>
          </a:prstGeom>
          <a:noFill/>
        </p:spPr>
        <p:txBody>
          <a:bodyPr wrap="square">
            <a:spAutoFit/>
          </a:bodyPr>
          <a:lstStyle/>
          <a:p>
            <a:pPr algn="l"/>
            <a:r>
              <a:rPr sz="950" b="0" i="0">
                <a:solidFill>
                  <a:srgbClr val="595959"/>
                </a:solidFill>
              </a:rPr>
              <a:t>Margin assumption:  </a:t>
            </a:r>
          </a:p>
        </p:txBody>
      </p:sp>
      <p:sp>
        <p:nvSpPr>
          <p:cNvPr id="37" name="TextBox 36"/>
          <p:cNvSpPr txBox="1"/>
          <p:nvPr/>
        </p:nvSpPr>
        <p:spPr>
          <a:xfrm>
            <a:off x="1783080" y="4114800"/>
            <a:ext cx="2103120" cy="320040"/>
          </a:xfrm>
          <a:prstGeom prst="rect">
            <a:avLst/>
          </a:prstGeom>
          <a:noFill/>
        </p:spPr>
        <p:txBody>
          <a:bodyPr wrap="square">
            <a:spAutoFit/>
          </a:bodyPr>
          <a:lstStyle/>
          <a:p>
            <a:pPr algn="l"/>
            <a:r>
              <a:rPr sz="950" b="1" i="0">
                <a:solidFill>
                  <a:srgbClr val="1A1A1A"/>
                </a:solidFill>
              </a:rPr>
              <a:t>20%</a:t>
            </a:r>
          </a:p>
        </p:txBody>
      </p:sp>
      <p:sp>
        <p:nvSpPr>
          <p:cNvPr id="38" name="TextBox 37"/>
          <p:cNvSpPr txBox="1"/>
          <p:nvPr/>
        </p:nvSpPr>
        <p:spPr>
          <a:xfrm>
            <a:off x="4114800" y="4114800"/>
            <a:ext cx="1645920" cy="320040"/>
          </a:xfrm>
          <a:prstGeom prst="rect">
            <a:avLst/>
          </a:prstGeom>
          <a:noFill/>
        </p:spPr>
        <p:txBody>
          <a:bodyPr wrap="square">
            <a:spAutoFit/>
          </a:bodyPr>
          <a:lstStyle/>
          <a:p>
            <a:pPr algn="l"/>
            <a:r>
              <a:rPr sz="950" b="0" i="0">
                <a:solidFill>
                  <a:srgbClr val="595959"/>
                </a:solidFill>
              </a:rPr>
              <a:t>Segments:  </a:t>
            </a:r>
          </a:p>
        </p:txBody>
      </p:sp>
      <p:sp>
        <p:nvSpPr>
          <p:cNvPr id="39" name="TextBox 38"/>
          <p:cNvSpPr txBox="1"/>
          <p:nvPr/>
        </p:nvSpPr>
        <p:spPr>
          <a:xfrm>
            <a:off x="5532120" y="4114800"/>
            <a:ext cx="2103120" cy="320040"/>
          </a:xfrm>
          <a:prstGeom prst="rect">
            <a:avLst/>
          </a:prstGeom>
          <a:noFill/>
        </p:spPr>
        <p:txBody>
          <a:bodyPr wrap="square">
            <a:spAutoFit/>
          </a:bodyPr>
          <a:lstStyle/>
          <a:p>
            <a:pPr algn="l"/>
            <a:r>
              <a:rPr sz="950" b="1" i="0">
                <a:solidFill>
                  <a:srgbClr val="1A1A1A"/>
                </a:solidFill>
              </a:rPr>
              <a:t>11</a:t>
            </a:r>
          </a:p>
        </p:txBody>
      </p:sp>
      <p:sp>
        <p:nvSpPr>
          <p:cNvPr id="40" name="TextBox 39"/>
          <p:cNvSpPr txBox="1"/>
          <p:nvPr/>
        </p:nvSpPr>
        <p:spPr>
          <a:xfrm>
            <a:off x="7863840" y="4114800"/>
            <a:ext cx="1645920" cy="320040"/>
          </a:xfrm>
          <a:prstGeom prst="rect">
            <a:avLst/>
          </a:prstGeom>
          <a:noFill/>
        </p:spPr>
        <p:txBody>
          <a:bodyPr wrap="square">
            <a:spAutoFit/>
          </a:bodyPr>
          <a:lstStyle/>
          <a:p>
            <a:pPr algn="l"/>
            <a:r>
              <a:rPr sz="950" b="0" i="0">
                <a:solidFill>
                  <a:srgbClr val="595959"/>
                </a:solidFill>
              </a:rPr>
              <a:t>Output file:  </a:t>
            </a:r>
          </a:p>
        </p:txBody>
      </p:sp>
      <p:sp>
        <p:nvSpPr>
          <p:cNvPr id="41" name="TextBox 40"/>
          <p:cNvSpPr txBox="1"/>
          <p:nvPr/>
        </p:nvSpPr>
        <p:spPr>
          <a:xfrm>
            <a:off x="9281160" y="4114800"/>
            <a:ext cx="2103120" cy="320040"/>
          </a:xfrm>
          <a:prstGeom prst="rect">
            <a:avLst/>
          </a:prstGeom>
          <a:noFill/>
        </p:spPr>
        <p:txBody>
          <a:bodyPr wrap="square">
            <a:spAutoFit/>
          </a:bodyPr>
          <a:lstStyle/>
          <a:p>
            <a:pPr algn="l"/>
            <a:r>
              <a:rPr sz="950" b="1" i="0">
                <a:solidFill>
                  <a:srgbClr val="1A1A1A"/>
                </a:solidFill>
              </a:rPr>
              <a:t>rfm_analysis.csv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Segment Landscape</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The 100-customer base spans 11 segments with a total estimated portfolio CLV of $41,135</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4</a:t>
            </a:r>
          </a:p>
        </p:txBody>
      </p:sp>
      <p:sp>
        <p:nvSpPr>
          <p:cNvPr id="8" name="Rectangle 7"/>
          <p:cNvSpPr/>
          <p:nvPr/>
        </p:nvSpPr>
        <p:spPr>
          <a:xfrm>
            <a:off x="320040" y="1097280"/>
            <a:ext cx="11521440" cy="34747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1133856"/>
            <a:ext cx="2240280" cy="274320"/>
          </a:xfrm>
          <a:prstGeom prst="rect">
            <a:avLst/>
          </a:prstGeom>
          <a:noFill/>
        </p:spPr>
        <p:txBody>
          <a:bodyPr wrap="square">
            <a:spAutoFit/>
          </a:bodyPr>
          <a:lstStyle/>
          <a:p>
            <a:pPr algn="l"/>
            <a:r>
              <a:rPr sz="850" b="1" i="0">
                <a:solidFill>
                  <a:srgbClr val="FFFFFF"/>
                </a:solidFill>
              </a:rPr>
              <a:t>Segment</a:t>
            </a:r>
          </a:p>
        </p:txBody>
      </p:sp>
      <p:sp>
        <p:nvSpPr>
          <p:cNvPr id="10" name="TextBox 9"/>
          <p:cNvSpPr txBox="1"/>
          <p:nvPr/>
        </p:nvSpPr>
        <p:spPr>
          <a:xfrm>
            <a:off x="2651760" y="1133856"/>
            <a:ext cx="777240" cy="274320"/>
          </a:xfrm>
          <a:prstGeom prst="rect">
            <a:avLst/>
          </a:prstGeom>
          <a:noFill/>
        </p:spPr>
        <p:txBody>
          <a:bodyPr wrap="square">
            <a:spAutoFit/>
          </a:bodyPr>
          <a:lstStyle/>
          <a:p>
            <a:pPr algn="l"/>
            <a:r>
              <a:rPr sz="850" b="1" i="0">
                <a:solidFill>
                  <a:srgbClr val="FFFFFF"/>
                </a:solidFill>
              </a:rPr>
              <a:t>Customers</a:t>
            </a:r>
          </a:p>
        </p:txBody>
      </p:sp>
      <p:sp>
        <p:nvSpPr>
          <p:cNvPr id="11" name="TextBox 10"/>
          <p:cNvSpPr txBox="1"/>
          <p:nvPr/>
        </p:nvSpPr>
        <p:spPr>
          <a:xfrm>
            <a:off x="3474720" y="1133856"/>
            <a:ext cx="868680" cy="274320"/>
          </a:xfrm>
          <a:prstGeom prst="rect">
            <a:avLst/>
          </a:prstGeom>
          <a:noFill/>
        </p:spPr>
        <p:txBody>
          <a:bodyPr wrap="square">
            <a:spAutoFit/>
          </a:bodyPr>
          <a:lstStyle/>
          <a:p>
            <a:pPr algn="l"/>
            <a:r>
              <a:rPr sz="850" b="1" i="0">
                <a:solidFill>
                  <a:srgbClr val="FFFFFF"/>
                </a:solidFill>
              </a:rPr>
              <a:t>Share</a:t>
            </a:r>
          </a:p>
        </p:txBody>
      </p:sp>
      <p:sp>
        <p:nvSpPr>
          <p:cNvPr id="12" name="TextBox 11"/>
          <p:cNvSpPr txBox="1"/>
          <p:nvPr/>
        </p:nvSpPr>
        <p:spPr>
          <a:xfrm>
            <a:off x="4389120" y="1133856"/>
            <a:ext cx="1051560" cy="274320"/>
          </a:xfrm>
          <a:prstGeom prst="rect">
            <a:avLst/>
          </a:prstGeom>
          <a:noFill/>
        </p:spPr>
        <p:txBody>
          <a:bodyPr wrap="square">
            <a:spAutoFit/>
          </a:bodyPr>
          <a:lstStyle/>
          <a:p>
            <a:pPr algn="l"/>
            <a:r>
              <a:rPr sz="850" b="1" i="0">
                <a:solidFill>
                  <a:srgbClr val="FFFFFF"/>
                </a:solidFill>
              </a:rPr>
              <a:t>Avg CLV</a:t>
            </a:r>
          </a:p>
        </p:txBody>
      </p:sp>
      <p:sp>
        <p:nvSpPr>
          <p:cNvPr id="13" name="TextBox 12"/>
          <p:cNvSpPr txBox="1"/>
          <p:nvPr/>
        </p:nvSpPr>
        <p:spPr>
          <a:xfrm>
            <a:off x="5486400" y="1133856"/>
            <a:ext cx="1234440" cy="274320"/>
          </a:xfrm>
          <a:prstGeom prst="rect">
            <a:avLst/>
          </a:prstGeom>
          <a:noFill/>
        </p:spPr>
        <p:txBody>
          <a:bodyPr wrap="square">
            <a:spAutoFit/>
          </a:bodyPr>
          <a:lstStyle/>
          <a:p>
            <a:pPr algn="l"/>
            <a:r>
              <a:rPr sz="850" b="1" i="0">
                <a:solidFill>
                  <a:srgbClr val="FFFFFF"/>
                </a:solidFill>
              </a:rPr>
              <a:t>Total CLV</a:t>
            </a:r>
          </a:p>
        </p:txBody>
      </p:sp>
      <p:sp>
        <p:nvSpPr>
          <p:cNvPr id="14" name="TextBox 13"/>
          <p:cNvSpPr txBox="1"/>
          <p:nvPr/>
        </p:nvSpPr>
        <p:spPr>
          <a:xfrm>
            <a:off x="6766559" y="1133856"/>
            <a:ext cx="1051560" cy="274320"/>
          </a:xfrm>
          <a:prstGeom prst="rect">
            <a:avLst/>
          </a:prstGeom>
          <a:noFill/>
        </p:spPr>
        <p:txBody>
          <a:bodyPr wrap="square">
            <a:spAutoFit/>
          </a:bodyPr>
          <a:lstStyle/>
          <a:p>
            <a:pPr algn="l"/>
            <a:r>
              <a:rPr sz="850" b="1" i="0">
                <a:solidFill>
                  <a:srgbClr val="FFFFFF"/>
                </a:solidFill>
              </a:rPr>
              <a:t>Avg Recency</a:t>
            </a:r>
          </a:p>
        </p:txBody>
      </p:sp>
      <p:sp>
        <p:nvSpPr>
          <p:cNvPr id="15" name="TextBox 14"/>
          <p:cNvSpPr txBox="1"/>
          <p:nvPr/>
        </p:nvSpPr>
        <p:spPr>
          <a:xfrm>
            <a:off x="7863840" y="1133856"/>
            <a:ext cx="3931920" cy="274320"/>
          </a:xfrm>
          <a:prstGeom prst="rect">
            <a:avLst/>
          </a:prstGeom>
          <a:noFill/>
        </p:spPr>
        <p:txBody>
          <a:bodyPr wrap="square">
            <a:spAutoFit/>
          </a:bodyPr>
          <a:lstStyle/>
          <a:p>
            <a:pPr algn="l"/>
            <a:r>
              <a:rPr sz="850" b="1" i="0">
                <a:solidFill>
                  <a:srgbClr val="FFFFFF"/>
                </a:solidFill>
              </a:rPr>
              <a:t>Strategic Priority</a:t>
            </a:r>
          </a:p>
        </p:txBody>
      </p:sp>
      <p:sp>
        <p:nvSpPr>
          <p:cNvPr id="16" name="Rectangle 15"/>
          <p:cNvSpPr/>
          <p:nvPr/>
        </p:nvSpPr>
        <p:spPr>
          <a:xfrm>
            <a:off x="320040" y="1481328"/>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59" y="1572768"/>
            <a:ext cx="2148840" cy="274320"/>
          </a:xfrm>
          <a:prstGeom prst="rect">
            <a:avLst/>
          </a:prstGeom>
          <a:noFill/>
        </p:spPr>
        <p:txBody>
          <a:bodyPr wrap="square">
            <a:spAutoFit/>
          </a:bodyPr>
          <a:lstStyle/>
          <a:p>
            <a:pPr algn="l"/>
            <a:r>
              <a:rPr sz="900" b="1" i="0">
                <a:solidFill>
                  <a:srgbClr val="1A1A1A"/>
                </a:solidFill>
              </a:rPr>
              <a:t>Champions</a:t>
            </a:r>
          </a:p>
        </p:txBody>
      </p:sp>
      <p:sp>
        <p:nvSpPr>
          <p:cNvPr id="18" name="TextBox 17"/>
          <p:cNvSpPr txBox="1"/>
          <p:nvPr/>
        </p:nvSpPr>
        <p:spPr>
          <a:xfrm>
            <a:off x="2651760" y="1572768"/>
            <a:ext cx="685800" cy="274320"/>
          </a:xfrm>
          <a:prstGeom prst="rect">
            <a:avLst/>
          </a:prstGeom>
          <a:noFill/>
        </p:spPr>
        <p:txBody>
          <a:bodyPr wrap="square">
            <a:spAutoFit/>
          </a:bodyPr>
          <a:lstStyle/>
          <a:p>
            <a:pPr algn="l"/>
            <a:r>
              <a:rPr sz="900" b="0" i="0">
                <a:solidFill>
                  <a:srgbClr val="1A1A1A"/>
                </a:solidFill>
              </a:rPr>
              <a:t>7</a:t>
            </a:r>
          </a:p>
        </p:txBody>
      </p:sp>
      <p:sp>
        <p:nvSpPr>
          <p:cNvPr id="19" name="TextBox 18"/>
          <p:cNvSpPr txBox="1"/>
          <p:nvPr/>
        </p:nvSpPr>
        <p:spPr>
          <a:xfrm>
            <a:off x="3474720" y="1572768"/>
            <a:ext cx="777240" cy="274320"/>
          </a:xfrm>
          <a:prstGeom prst="rect">
            <a:avLst/>
          </a:prstGeom>
          <a:noFill/>
        </p:spPr>
        <p:txBody>
          <a:bodyPr wrap="square">
            <a:spAutoFit/>
          </a:bodyPr>
          <a:lstStyle/>
          <a:p>
            <a:pPr algn="l"/>
            <a:r>
              <a:rPr sz="900" b="0" i="0">
                <a:solidFill>
                  <a:srgbClr val="595959"/>
                </a:solidFill>
              </a:rPr>
              <a:t>7%</a:t>
            </a:r>
          </a:p>
        </p:txBody>
      </p:sp>
      <p:sp>
        <p:nvSpPr>
          <p:cNvPr id="20" name="TextBox 19"/>
          <p:cNvSpPr txBox="1"/>
          <p:nvPr/>
        </p:nvSpPr>
        <p:spPr>
          <a:xfrm>
            <a:off x="4389120" y="1572768"/>
            <a:ext cx="960119" cy="274320"/>
          </a:xfrm>
          <a:prstGeom prst="rect">
            <a:avLst/>
          </a:prstGeom>
          <a:noFill/>
        </p:spPr>
        <p:txBody>
          <a:bodyPr wrap="square">
            <a:spAutoFit/>
          </a:bodyPr>
          <a:lstStyle/>
          <a:p>
            <a:pPr algn="l"/>
            <a:r>
              <a:rPr sz="900" b="1" i="0">
                <a:solidFill>
                  <a:srgbClr val="003366"/>
                </a:solidFill>
              </a:rPr>
              <a:t>$1,412</a:t>
            </a:r>
          </a:p>
        </p:txBody>
      </p:sp>
      <p:sp>
        <p:nvSpPr>
          <p:cNvPr id="21" name="TextBox 20"/>
          <p:cNvSpPr txBox="1"/>
          <p:nvPr/>
        </p:nvSpPr>
        <p:spPr>
          <a:xfrm>
            <a:off x="5486400" y="1572768"/>
            <a:ext cx="1143000" cy="274320"/>
          </a:xfrm>
          <a:prstGeom prst="rect">
            <a:avLst/>
          </a:prstGeom>
          <a:noFill/>
        </p:spPr>
        <p:txBody>
          <a:bodyPr wrap="square">
            <a:spAutoFit/>
          </a:bodyPr>
          <a:lstStyle/>
          <a:p>
            <a:pPr algn="l"/>
            <a:r>
              <a:rPr sz="900" b="0" i="0">
                <a:solidFill>
                  <a:srgbClr val="003366"/>
                </a:solidFill>
              </a:rPr>
              <a:t>$9,882</a:t>
            </a:r>
          </a:p>
        </p:txBody>
      </p:sp>
      <p:sp>
        <p:nvSpPr>
          <p:cNvPr id="22" name="TextBox 21"/>
          <p:cNvSpPr txBox="1"/>
          <p:nvPr/>
        </p:nvSpPr>
        <p:spPr>
          <a:xfrm>
            <a:off x="6766559" y="1572768"/>
            <a:ext cx="960119" cy="274320"/>
          </a:xfrm>
          <a:prstGeom prst="rect">
            <a:avLst/>
          </a:prstGeom>
          <a:noFill/>
        </p:spPr>
        <p:txBody>
          <a:bodyPr wrap="square">
            <a:spAutoFit/>
          </a:bodyPr>
          <a:lstStyle/>
          <a:p>
            <a:pPr algn="l"/>
            <a:r>
              <a:rPr sz="900" b="0" i="0">
                <a:solidFill>
                  <a:srgbClr val="595959"/>
                </a:solidFill>
              </a:rPr>
              <a:t>30.0 days</a:t>
            </a:r>
          </a:p>
        </p:txBody>
      </p:sp>
      <p:sp>
        <p:nvSpPr>
          <p:cNvPr id="23" name="TextBox 22"/>
          <p:cNvSpPr txBox="1"/>
          <p:nvPr/>
        </p:nvSpPr>
        <p:spPr>
          <a:xfrm>
            <a:off x="7863840" y="1572768"/>
            <a:ext cx="3840480" cy="274320"/>
          </a:xfrm>
          <a:prstGeom prst="rect">
            <a:avLst/>
          </a:prstGeom>
          <a:noFill/>
        </p:spPr>
        <p:txBody>
          <a:bodyPr wrap="square">
            <a:spAutoFit/>
          </a:bodyPr>
          <a:lstStyle/>
          <a:p>
            <a:pPr algn="l"/>
            <a:r>
              <a:rPr sz="900" b="0" i="0">
                <a:solidFill>
                  <a:srgbClr val="007050"/>
                </a:solidFill>
              </a:rPr>
              <a:t>Protect &amp; deepen — highest CLV, highest loyalty</a:t>
            </a:r>
          </a:p>
        </p:txBody>
      </p:sp>
      <p:sp>
        <p:nvSpPr>
          <p:cNvPr id="24" name="Rectangle 23"/>
          <p:cNvSpPr/>
          <p:nvPr/>
        </p:nvSpPr>
        <p:spPr>
          <a:xfrm>
            <a:off x="320040" y="1956816"/>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59" y="2048256"/>
            <a:ext cx="2148840" cy="274320"/>
          </a:xfrm>
          <a:prstGeom prst="rect">
            <a:avLst/>
          </a:prstGeom>
          <a:noFill/>
        </p:spPr>
        <p:txBody>
          <a:bodyPr wrap="square">
            <a:spAutoFit/>
          </a:bodyPr>
          <a:lstStyle/>
          <a:p>
            <a:pPr algn="l"/>
            <a:r>
              <a:rPr sz="900" b="1" i="0">
                <a:solidFill>
                  <a:srgbClr val="1A1A1A"/>
                </a:solidFill>
              </a:rPr>
              <a:t>Loyal</a:t>
            </a:r>
          </a:p>
        </p:txBody>
      </p:sp>
      <p:sp>
        <p:nvSpPr>
          <p:cNvPr id="26" name="TextBox 25"/>
          <p:cNvSpPr txBox="1"/>
          <p:nvPr/>
        </p:nvSpPr>
        <p:spPr>
          <a:xfrm>
            <a:off x="2651760" y="2048256"/>
            <a:ext cx="685800" cy="274320"/>
          </a:xfrm>
          <a:prstGeom prst="rect">
            <a:avLst/>
          </a:prstGeom>
          <a:noFill/>
        </p:spPr>
        <p:txBody>
          <a:bodyPr wrap="square">
            <a:spAutoFit/>
          </a:bodyPr>
          <a:lstStyle/>
          <a:p>
            <a:pPr algn="l"/>
            <a:r>
              <a:rPr sz="900" b="0" i="0">
                <a:solidFill>
                  <a:srgbClr val="1A1A1A"/>
                </a:solidFill>
              </a:rPr>
              <a:t>8</a:t>
            </a:r>
          </a:p>
        </p:txBody>
      </p:sp>
      <p:sp>
        <p:nvSpPr>
          <p:cNvPr id="27" name="TextBox 26"/>
          <p:cNvSpPr txBox="1"/>
          <p:nvPr/>
        </p:nvSpPr>
        <p:spPr>
          <a:xfrm>
            <a:off x="3474720" y="2048256"/>
            <a:ext cx="777240" cy="274320"/>
          </a:xfrm>
          <a:prstGeom prst="rect">
            <a:avLst/>
          </a:prstGeom>
          <a:noFill/>
        </p:spPr>
        <p:txBody>
          <a:bodyPr wrap="square">
            <a:spAutoFit/>
          </a:bodyPr>
          <a:lstStyle/>
          <a:p>
            <a:pPr algn="l"/>
            <a:r>
              <a:rPr sz="900" b="0" i="0">
                <a:solidFill>
                  <a:srgbClr val="595959"/>
                </a:solidFill>
              </a:rPr>
              <a:t>8%</a:t>
            </a:r>
          </a:p>
        </p:txBody>
      </p:sp>
      <p:sp>
        <p:nvSpPr>
          <p:cNvPr id="28" name="TextBox 27"/>
          <p:cNvSpPr txBox="1"/>
          <p:nvPr/>
        </p:nvSpPr>
        <p:spPr>
          <a:xfrm>
            <a:off x="4389120" y="2048256"/>
            <a:ext cx="960119" cy="274320"/>
          </a:xfrm>
          <a:prstGeom prst="rect">
            <a:avLst/>
          </a:prstGeom>
          <a:noFill/>
        </p:spPr>
        <p:txBody>
          <a:bodyPr wrap="square">
            <a:spAutoFit/>
          </a:bodyPr>
          <a:lstStyle/>
          <a:p>
            <a:pPr algn="l"/>
            <a:r>
              <a:rPr sz="900" b="1" i="0">
                <a:solidFill>
                  <a:srgbClr val="003366"/>
                </a:solidFill>
              </a:rPr>
              <a:t>$832</a:t>
            </a:r>
          </a:p>
        </p:txBody>
      </p:sp>
      <p:sp>
        <p:nvSpPr>
          <p:cNvPr id="29" name="TextBox 28"/>
          <p:cNvSpPr txBox="1"/>
          <p:nvPr/>
        </p:nvSpPr>
        <p:spPr>
          <a:xfrm>
            <a:off x="5486400" y="2048256"/>
            <a:ext cx="1143000" cy="274320"/>
          </a:xfrm>
          <a:prstGeom prst="rect">
            <a:avLst/>
          </a:prstGeom>
          <a:noFill/>
        </p:spPr>
        <p:txBody>
          <a:bodyPr wrap="square">
            <a:spAutoFit/>
          </a:bodyPr>
          <a:lstStyle/>
          <a:p>
            <a:pPr algn="l"/>
            <a:r>
              <a:rPr sz="900" b="0" i="0">
                <a:solidFill>
                  <a:srgbClr val="003366"/>
                </a:solidFill>
              </a:rPr>
              <a:t>$6,655</a:t>
            </a:r>
          </a:p>
        </p:txBody>
      </p:sp>
      <p:sp>
        <p:nvSpPr>
          <p:cNvPr id="30" name="TextBox 29"/>
          <p:cNvSpPr txBox="1"/>
          <p:nvPr/>
        </p:nvSpPr>
        <p:spPr>
          <a:xfrm>
            <a:off x="6766559" y="2048256"/>
            <a:ext cx="960119" cy="274320"/>
          </a:xfrm>
          <a:prstGeom prst="rect">
            <a:avLst/>
          </a:prstGeom>
          <a:noFill/>
        </p:spPr>
        <p:txBody>
          <a:bodyPr wrap="square">
            <a:spAutoFit/>
          </a:bodyPr>
          <a:lstStyle/>
          <a:p>
            <a:pPr algn="l"/>
            <a:r>
              <a:rPr sz="900" b="0" i="0">
                <a:solidFill>
                  <a:srgbClr val="595959"/>
                </a:solidFill>
              </a:rPr>
              <a:t>62.0 days</a:t>
            </a:r>
          </a:p>
        </p:txBody>
      </p:sp>
      <p:sp>
        <p:nvSpPr>
          <p:cNvPr id="31" name="TextBox 30"/>
          <p:cNvSpPr txBox="1"/>
          <p:nvPr/>
        </p:nvSpPr>
        <p:spPr>
          <a:xfrm>
            <a:off x="7863840" y="2048256"/>
            <a:ext cx="3840480" cy="274320"/>
          </a:xfrm>
          <a:prstGeom prst="rect">
            <a:avLst/>
          </a:prstGeom>
          <a:noFill/>
        </p:spPr>
        <p:txBody>
          <a:bodyPr wrap="square">
            <a:spAutoFit/>
          </a:bodyPr>
          <a:lstStyle/>
          <a:p>
            <a:pPr algn="l"/>
            <a:r>
              <a:rPr sz="900" b="0" i="0">
                <a:solidFill>
                  <a:srgbClr val="007050"/>
                </a:solidFill>
              </a:rPr>
              <a:t>Reward &amp; upsell — consistent, high-value base</a:t>
            </a:r>
          </a:p>
        </p:txBody>
      </p:sp>
      <p:sp>
        <p:nvSpPr>
          <p:cNvPr id="32" name="Rectangle 31"/>
          <p:cNvSpPr/>
          <p:nvPr/>
        </p:nvSpPr>
        <p:spPr>
          <a:xfrm>
            <a:off x="320040" y="2432304"/>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59" y="2523744"/>
            <a:ext cx="2148840" cy="274320"/>
          </a:xfrm>
          <a:prstGeom prst="rect">
            <a:avLst/>
          </a:prstGeom>
          <a:noFill/>
        </p:spPr>
        <p:txBody>
          <a:bodyPr wrap="square">
            <a:spAutoFit/>
          </a:bodyPr>
          <a:lstStyle/>
          <a:p>
            <a:pPr algn="l"/>
            <a:r>
              <a:rPr sz="900" b="1" i="0">
                <a:solidFill>
                  <a:srgbClr val="1A1A1A"/>
                </a:solidFill>
              </a:rPr>
              <a:t>Potential Loyalist</a:t>
            </a:r>
          </a:p>
        </p:txBody>
      </p:sp>
      <p:sp>
        <p:nvSpPr>
          <p:cNvPr id="34" name="TextBox 33"/>
          <p:cNvSpPr txBox="1"/>
          <p:nvPr/>
        </p:nvSpPr>
        <p:spPr>
          <a:xfrm>
            <a:off x="2651760" y="2523744"/>
            <a:ext cx="685800" cy="274320"/>
          </a:xfrm>
          <a:prstGeom prst="rect">
            <a:avLst/>
          </a:prstGeom>
          <a:noFill/>
        </p:spPr>
        <p:txBody>
          <a:bodyPr wrap="square">
            <a:spAutoFit/>
          </a:bodyPr>
          <a:lstStyle/>
          <a:p>
            <a:pPr algn="l"/>
            <a:r>
              <a:rPr sz="900" b="0" i="0">
                <a:solidFill>
                  <a:srgbClr val="1A1A1A"/>
                </a:solidFill>
              </a:rPr>
              <a:t>15</a:t>
            </a:r>
          </a:p>
        </p:txBody>
      </p:sp>
      <p:sp>
        <p:nvSpPr>
          <p:cNvPr id="35" name="TextBox 34"/>
          <p:cNvSpPr txBox="1"/>
          <p:nvPr/>
        </p:nvSpPr>
        <p:spPr>
          <a:xfrm>
            <a:off x="3474720" y="2523744"/>
            <a:ext cx="777240" cy="274320"/>
          </a:xfrm>
          <a:prstGeom prst="rect">
            <a:avLst/>
          </a:prstGeom>
          <a:noFill/>
        </p:spPr>
        <p:txBody>
          <a:bodyPr wrap="square">
            <a:spAutoFit/>
          </a:bodyPr>
          <a:lstStyle/>
          <a:p>
            <a:pPr algn="l"/>
            <a:r>
              <a:rPr sz="900" b="0" i="0">
                <a:solidFill>
                  <a:srgbClr val="595959"/>
                </a:solidFill>
              </a:rPr>
              <a:t>15%</a:t>
            </a:r>
          </a:p>
        </p:txBody>
      </p:sp>
      <p:sp>
        <p:nvSpPr>
          <p:cNvPr id="36" name="TextBox 35"/>
          <p:cNvSpPr txBox="1"/>
          <p:nvPr/>
        </p:nvSpPr>
        <p:spPr>
          <a:xfrm>
            <a:off x="4389120" y="2523744"/>
            <a:ext cx="960119" cy="274320"/>
          </a:xfrm>
          <a:prstGeom prst="rect">
            <a:avLst/>
          </a:prstGeom>
          <a:noFill/>
        </p:spPr>
        <p:txBody>
          <a:bodyPr wrap="square">
            <a:spAutoFit/>
          </a:bodyPr>
          <a:lstStyle/>
          <a:p>
            <a:pPr algn="l"/>
            <a:r>
              <a:rPr sz="900" b="1" i="0">
                <a:solidFill>
                  <a:srgbClr val="003366"/>
                </a:solidFill>
              </a:rPr>
              <a:t>$599</a:t>
            </a:r>
          </a:p>
        </p:txBody>
      </p:sp>
      <p:sp>
        <p:nvSpPr>
          <p:cNvPr id="37" name="TextBox 36"/>
          <p:cNvSpPr txBox="1"/>
          <p:nvPr/>
        </p:nvSpPr>
        <p:spPr>
          <a:xfrm>
            <a:off x="5486400" y="2523744"/>
            <a:ext cx="1143000" cy="274320"/>
          </a:xfrm>
          <a:prstGeom prst="rect">
            <a:avLst/>
          </a:prstGeom>
          <a:noFill/>
        </p:spPr>
        <p:txBody>
          <a:bodyPr wrap="square">
            <a:spAutoFit/>
          </a:bodyPr>
          <a:lstStyle/>
          <a:p>
            <a:pPr algn="l"/>
            <a:r>
              <a:rPr sz="900" b="0" i="0">
                <a:solidFill>
                  <a:srgbClr val="003366"/>
                </a:solidFill>
              </a:rPr>
              <a:t>$8,992</a:t>
            </a:r>
          </a:p>
        </p:txBody>
      </p:sp>
      <p:sp>
        <p:nvSpPr>
          <p:cNvPr id="38" name="TextBox 37"/>
          <p:cNvSpPr txBox="1"/>
          <p:nvPr/>
        </p:nvSpPr>
        <p:spPr>
          <a:xfrm>
            <a:off x="6766559" y="2523744"/>
            <a:ext cx="960119" cy="274320"/>
          </a:xfrm>
          <a:prstGeom prst="rect">
            <a:avLst/>
          </a:prstGeom>
          <a:noFill/>
        </p:spPr>
        <p:txBody>
          <a:bodyPr wrap="square">
            <a:spAutoFit/>
          </a:bodyPr>
          <a:lstStyle/>
          <a:p>
            <a:pPr algn="l"/>
            <a:r>
              <a:rPr sz="900" b="0" i="0">
                <a:solidFill>
                  <a:srgbClr val="595959"/>
                </a:solidFill>
              </a:rPr>
              <a:t>67.0 days</a:t>
            </a:r>
          </a:p>
        </p:txBody>
      </p:sp>
      <p:sp>
        <p:nvSpPr>
          <p:cNvPr id="39" name="TextBox 38"/>
          <p:cNvSpPr txBox="1"/>
          <p:nvPr/>
        </p:nvSpPr>
        <p:spPr>
          <a:xfrm>
            <a:off x="7863840" y="2523744"/>
            <a:ext cx="3840480" cy="274320"/>
          </a:xfrm>
          <a:prstGeom prst="rect">
            <a:avLst/>
          </a:prstGeom>
          <a:noFill/>
        </p:spPr>
        <p:txBody>
          <a:bodyPr wrap="square">
            <a:spAutoFit/>
          </a:bodyPr>
          <a:lstStyle/>
          <a:p>
            <a:pPr algn="l"/>
            <a:r>
              <a:rPr sz="900" b="0" i="0">
                <a:solidFill>
                  <a:srgbClr val="0070C0"/>
                </a:solidFill>
              </a:rPr>
              <a:t>Nudge to loyalty — targeted incentives</a:t>
            </a:r>
          </a:p>
        </p:txBody>
      </p:sp>
      <p:sp>
        <p:nvSpPr>
          <p:cNvPr id="40" name="Rectangle 39"/>
          <p:cNvSpPr/>
          <p:nvPr/>
        </p:nvSpPr>
        <p:spPr>
          <a:xfrm>
            <a:off x="320040" y="2907792"/>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59" y="2999232"/>
            <a:ext cx="2148840" cy="274320"/>
          </a:xfrm>
          <a:prstGeom prst="rect">
            <a:avLst/>
          </a:prstGeom>
          <a:noFill/>
        </p:spPr>
        <p:txBody>
          <a:bodyPr wrap="square">
            <a:spAutoFit/>
          </a:bodyPr>
          <a:lstStyle/>
          <a:p>
            <a:pPr algn="l"/>
            <a:r>
              <a:rPr sz="900" b="1" i="0">
                <a:solidFill>
                  <a:srgbClr val="1A1A1A"/>
                </a:solidFill>
              </a:rPr>
              <a:t>Need Attention</a:t>
            </a:r>
          </a:p>
        </p:txBody>
      </p:sp>
      <p:sp>
        <p:nvSpPr>
          <p:cNvPr id="42" name="TextBox 41"/>
          <p:cNvSpPr txBox="1"/>
          <p:nvPr/>
        </p:nvSpPr>
        <p:spPr>
          <a:xfrm>
            <a:off x="2651760" y="2999232"/>
            <a:ext cx="685800" cy="274320"/>
          </a:xfrm>
          <a:prstGeom prst="rect">
            <a:avLst/>
          </a:prstGeom>
          <a:noFill/>
        </p:spPr>
        <p:txBody>
          <a:bodyPr wrap="square">
            <a:spAutoFit/>
          </a:bodyPr>
          <a:lstStyle/>
          <a:p>
            <a:pPr algn="l"/>
            <a:r>
              <a:rPr sz="900" b="0" i="0">
                <a:solidFill>
                  <a:srgbClr val="1A1A1A"/>
                </a:solidFill>
              </a:rPr>
              <a:t>5</a:t>
            </a:r>
          </a:p>
        </p:txBody>
      </p:sp>
      <p:sp>
        <p:nvSpPr>
          <p:cNvPr id="43" name="TextBox 42"/>
          <p:cNvSpPr txBox="1"/>
          <p:nvPr/>
        </p:nvSpPr>
        <p:spPr>
          <a:xfrm>
            <a:off x="3474720" y="2999232"/>
            <a:ext cx="777240" cy="274320"/>
          </a:xfrm>
          <a:prstGeom prst="rect">
            <a:avLst/>
          </a:prstGeom>
          <a:noFill/>
        </p:spPr>
        <p:txBody>
          <a:bodyPr wrap="square">
            <a:spAutoFit/>
          </a:bodyPr>
          <a:lstStyle/>
          <a:p>
            <a:pPr algn="l"/>
            <a:r>
              <a:rPr sz="900" b="0" i="0">
                <a:solidFill>
                  <a:srgbClr val="595959"/>
                </a:solidFill>
              </a:rPr>
              <a:t>5%</a:t>
            </a:r>
          </a:p>
        </p:txBody>
      </p:sp>
      <p:sp>
        <p:nvSpPr>
          <p:cNvPr id="44" name="TextBox 43"/>
          <p:cNvSpPr txBox="1"/>
          <p:nvPr/>
        </p:nvSpPr>
        <p:spPr>
          <a:xfrm>
            <a:off x="4389120" y="2999232"/>
            <a:ext cx="960119" cy="274320"/>
          </a:xfrm>
          <a:prstGeom prst="rect">
            <a:avLst/>
          </a:prstGeom>
          <a:noFill/>
        </p:spPr>
        <p:txBody>
          <a:bodyPr wrap="square">
            <a:spAutoFit/>
          </a:bodyPr>
          <a:lstStyle/>
          <a:p>
            <a:pPr algn="l"/>
            <a:r>
              <a:rPr sz="900" b="1" i="0">
                <a:solidFill>
                  <a:srgbClr val="003366"/>
                </a:solidFill>
              </a:rPr>
              <a:t>$512</a:t>
            </a:r>
          </a:p>
        </p:txBody>
      </p:sp>
      <p:sp>
        <p:nvSpPr>
          <p:cNvPr id="45" name="TextBox 44"/>
          <p:cNvSpPr txBox="1"/>
          <p:nvPr/>
        </p:nvSpPr>
        <p:spPr>
          <a:xfrm>
            <a:off x="5486400" y="2999232"/>
            <a:ext cx="1143000" cy="274320"/>
          </a:xfrm>
          <a:prstGeom prst="rect">
            <a:avLst/>
          </a:prstGeom>
          <a:noFill/>
        </p:spPr>
        <p:txBody>
          <a:bodyPr wrap="square">
            <a:spAutoFit/>
          </a:bodyPr>
          <a:lstStyle/>
          <a:p>
            <a:pPr algn="l"/>
            <a:r>
              <a:rPr sz="900" b="0" i="0">
                <a:solidFill>
                  <a:srgbClr val="003366"/>
                </a:solidFill>
              </a:rPr>
              <a:t>$2,562</a:t>
            </a:r>
          </a:p>
        </p:txBody>
      </p:sp>
      <p:sp>
        <p:nvSpPr>
          <p:cNvPr id="46" name="TextBox 45"/>
          <p:cNvSpPr txBox="1"/>
          <p:nvPr/>
        </p:nvSpPr>
        <p:spPr>
          <a:xfrm>
            <a:off x="6766559" y="2999232"/>
            <a:ext cx="960119" cy="274320"/>
          </a:xfrm>
          <a:prstGeom prst="rect">
            <a:avLst/>
          </a:prstGeom>
          <a:noFill/>
        </p:spPr>
        <p:txBody>
          <a:bodyPr wrap="square">
            <a:spAutoFit/>
          </a:bodyPr>
          <a:lstStyle/>
          <a:p>
            <a:pPr algn="l"/>
            <a:r>
              <a:rPr sz="900" b="0" i="0">
                <a:solidFill>
                  <a:srgbClr val="595959"/>
                </a:solidFill>
              </a:rPr>
              <a:t>134.0 days</a:t>
            </a:r>
          </a:p>
        </p:txBody>
      </p:sp>
      <p:sp>
        <p:nvSpPr>
          <p:cNvPr id="47" name="TextBox 46"/>
          <p:cNvSpPr txBox="1"/>
          <p:nvPr/>
        </p:nvSpPr>
        <p:spPr>
          <a:xfrm>
            <a:off x="7863840" y="2999232"/>
            <a:ext cx="3840480" cy="274320"/>
          </a:xfrm>
          <a:prstGeom prst="rect">
            <a:avLst/>
          </a:prstGeom>
          <a:noFill/>
        </p:spPr>
        <p:txBody>
          <a:bodyPr wrap="square">
            <a:spAutoFit/>
          </a:bodyPr>
          <a:lstStyle/>
          <a:p>
            <a:pPr algn="l"/>
            <a:r>
              <a:rPr sz="900" b="0" i="0">
                <a:solidFill>
                  <a:srgbClr val="595959"/>
                </a:solidFill>
              </a:rPr>
              <a:t>Monitor</a:t>
            </a:r>
          </a:p>
        </p:txBody>
      </p:sp>
      <p:sp>
        <p:nvSpPr>
          <p:cNvPr id="48" name="Rectangle 47"/>
          <p:cNvSpPr/>
          <p:nvPr/>
        </p:nvSpPr>
        <p:spPr>
          <a:xfrm>
            <a:off x="320040" y="3383280"/>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59" y="3474720"/>
            <a:ext cx="2148840" cy="274320"/>
          </a:xfrm>
          <a:prstGeom prst="rect">
            <a:avLst/>
          </a:prstGeom>
          <a:noFill/>
        </p:spPr>
        <p:txBody>
          <a:bodyPr wrap="square">
            <a:spAutoFit/>
          </a:bodyPr>
          <a:lstStyle/>
          <a:p>
            <a:pPr algn="l"/>
            <a:r>
              <a:rPr sz="900" b="1" i="0">
                <a:solidFill>
                  <a:srgbClr val="1A1A1A"/>
                </a:solidFill>
              </a:rPr>
              <a:t>New Customer</a:t>
            </a:r>
          </a:p>
        </p:txBody>
      </p:sp>
      <p:sp>
        <p:nvSpPr>
          <p:cNvPr id="50" name="TextBox 49"/>
          <p:cNvSpPr txBox="1"/>
          <p:nvPr/>
        </p:nvSpPr>
        <p:spPr>
          <a:xfrm>
            <a:off x="2651760" y="3474720"/>
            <a:ext cx="685800" cy="274320"/>
          </a:xfrm>
          <a:prstGeom prst="rect">
            <a:avLst/>
          </a:prstGeom>
          <a:noFill/>
        </p:spPr>
        <p:txBody>
          <a:bodyPr wrap="square">
            <a:spAutoFit/>
          </a:bodyPr>
          <a:lstStyle/>
          <a:p>
            <a:pPr algn="l"/>
            <a:r>
              <a:rPr sz="900" b="0" i="0">
                <a:solidFill>
                  <a:srgbClr val="1A1A1A"/>
                </a:solidFill>
              </a:rPr>
              <a:t>10</a:t>
            </a:r>
          </a:p>
        </p:txBody>
      </p:sp>
      <p:sp>
        <p:nvSpPr>
          <p:cNvPr id="51" name="TextBox 50"/>
          <p:cNvSpPr txBox="1"/>
          <p:nvPr/>
        </p:nvSpPr>
        <p:spPr>
          <a:xfrm>
            <a:off x="3474720" y="3474720"/>
            <a:ext cx="777240" cy="274320"/>
          </a:xfrm>
          <a:prstGeom prst="rect">
            <a:avLst/>
          </a:prstGeom>
          <a:noFill/>
        </p:spPr>
        <p:txBody>
          <a:bodyPr wrap="square">
            <a:spAutoFit/>
          </a:bodyPr>
          <a:lstStyle/>
          <a:p>
            <a:pPr algn="l"/>
            <a:r>
              <a:rPr sz="900" b="0" i="0">
                <a:solidFill>
                  <a:srgbClr val="595959"/>
                </a:solidFill>
              </a:rPr>
              <a:t>10%</a:t>
            </a:r>
          </a:p>
        </p:txBody>
      </p:sp>
      <p:sp>
        <p:nvSpPr>
          <p:cNvPr id="52" name="TextBox 51"/>
          <p:cNvSpPr txBox="1"/>
          <p:nvPr/>
        </p:nvSpPr>
        <p:spPr>
          <a:xfrm>
            <a:off x="4389120" y="3474720"/>
            <a:ext cx="960119" cy="274320"/>
          </a:xfrm>
          <a:prstGeom prst="rect">
            <a:avLst/>
          </a:prstGeom>
          <a:noFill/>
        </p:spPr>
        <p:txBody>
          <a:bodyPr wrap="square">
            <a:spAutoFit/>
          </a:bodyPr>
          <a:lstStyle/>
          <a:p>
            <a:pPr algn="l"/>
            <a:r>
              <a:rPr sz="900" b="1" i="0">
                <a:solidFill>
                  <a:srgbClr val="003366"/>
                </a:solidFill>
              </a:rPr>
              <a:t>$271</a:t>
            </a:r>
          </a:p>
        </p:txBody>
      </p:sp>
      <p:sp>
        <p:nvSpPr>
          <p:cNvPr id="53" name="TextBox 52"/>
          <p:cNvSpPr txBox="1"/>
          <p:nvPr/>
        </p:nvSpPr>
        <p:spPr>
          <a:xfrm>
            <a:off x="5486400" y="3474720"/>
            <a:ext cx="1143000" cy="274320"/>
          </a:xfrm>
          <a:prstGeom prst="rect">
            <a:avLst/>
          </a:prstGeom>
          <a:noFill/>
        </p:spPr>
        <p:txBody>
          <a:bodyPr wrap="square">
            <a:spAutoFit/>
          </a:bodyPr>
          <a:lstStyle/>
          <a:p>
            <a:pPr algn="l"/>
            <a:r>
              <a:rPr sz="900" b="0" i="0">
                <a:solidFill>
                  <a:srgbClr val="003366"/>
                </a:solidFill>
              </a:rPr>
              <a:t>$2,706</a:t>
            </a:r>
          </a:p>
        </p:txBody>
      </p:sp>
      <p:sp>
        <p:nvSpPr>
          <p:cNvPr id="54" name="TextBox 53"/>
          <p:cNvSpPr txBox="1"/>
          <p:nvPr/>
        </p:nvSpPr>
        <p:spPr>
          <a:xfrm>
            <a:off x="6766559" y="3474720"/>
            <a:ext cx="960119" cy="274320"/>
          </a:xfrm>
          <a:prstGeom prst="rect">
            <a:avLst/>
          </a:prstGeom>
          <a:noFill/>
        </p:spPr>
        <p:txBody>
          <a:bodyPr wrap="square">
            <a:spAutoFit/>
          </a:bodyPr>
          <a:lstStyle/>
          <a:p>
            <a:pPr algn="l"/>
            <a:r>
              <a:rPr sz="900" b="0" i="0">
                <a:solidFill>
                  <a:srgbClr val="595959"/>
                </a:solidFill>
              </a:rPr>
              <a:t>88.0 days</a:t>
            </a:r>
          </a:p>
        </p:txBody>
      </p:sp>
      <p:sp>
        <p:nvSpPr>
          <p:cNvPr id="55" name="TextBox 54"/>
          <p:cNvSpPr txBox="1"/>
          <p:nvPr/>
        </p:nvSpPr>
        <p:spPr>
          <a:xfrm>
            <a:off x="7863840" y="3474720"/>
            <a:ext cx="3840480" cy="274320"/>
          </a:xfrm>
          <a:prstGeom prst="rect">
            <a:avLst/>
          </a:prstGeom>
          <a:noFill/>
        </p:spPr>
        <p:txBody>
          <a:bodyPr wrap="square">
            <a:spAutoFit/>
          </a:bodyPr>
          <a:lstStyle/>
          <a:p>
            <a:pPr algn="l"/>
            <a:r>
              <a:rPr sz="900" b="0" i="0">
                <a:solidFill>
                  <a:srgbClr val="0070C0"/>
                </a:solidFill>
              </a:rPr>
              <a:t>Welcome &amp; educate — first impression drives LTV</a:t>
            </a:r>
          </a:p>
        </p:txBody>
      </p:sp>
      <p:sp>
        <p:nvSpPr>
          <p:cNvPr id="56" name="Rectangle 55"/>
          <p:cNvSpPr/>
          <p:nvPr/>
        </p:nvSpPr>
        <p:spPr>
          <a:xfrm>
            <a:off x="320040" y="3858768"/>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59" y="3950208"/>
            <a:ext cx="2148840" cy="274320"/>
          </a:xfrm>
          <a:prstGeom prst="rect">
            <a:avLst/>
          </a:prstGeom>
          <a:noFill/>
        </p:spPr>
        <p:txBody>
          <a:bodyPr wrap="square">
            <a:spAutoFit/>
          </a:bodyPr>
          <a:lstStyle/>
          <a:p>
            <a:pPr algn="l"/>
            <a:r>
              <a:rPr sz="900" b="1" i="0">
                <a:solidFill>
                  <a:srgbClr val="1A1A1A"/>
                </a:solidFill>
              </a:rPr>
              <a:t>Promising</a:t>
            </a:r>
          </a:p>
        </p:txBody>
      </p:sp>
      <p:sp>
        <p:nvSpPr>
          <p:cNvPr id="58" name="TextBox 57"/>
          <p:cNvSpPr txBox="1"/>
          <p:nvPr/>
        </p:nvSpPr>
        <p:spPr>
          <a:xfrm>
            <a:off x="2651760" y="3950208"/>
            <a:ext cx="685800" cy="274320"/>
          </a:xfrm>
          <a:prstGeom prst="rect">
            <a:avLst/>
          </a:prstGeom>
          <a:noFill/>
        </p:spPr>
        <p:txBody>
          <a:bodyPr wrap="square">
            <a:spAutoFit/>
          </a:bodyPr>
          <a:lstStyle/>
          <a:p>
            <a:pPr algn="l"/>
            <a:r>
              <a:rPr sz="900" b="0" i="0">
                <a:solidFill>
                  <a:srgbClr val="1A1A1A"/>
                </a:solidFill>
              </a:rPr>
              <a:t>15</a:t>
            </a:r>
          </a:p>
        </p:txBody>
      </p:sp>
      <p:sp>
        <p:nvSpPr>
          <p:cNvPr id="59" name="TextBox 58"/>
          <p:cNvSpPr txBox="1"/>
          <p:nvPr/>
        </p:nvSpPr>
        <p:spPr>
          <a:xfrm>
            <a:off x="3474720" y="3950208"/>
            <a:ext cx="777240" cy="274320"/>
          </a:xfrm>
          <a:prstGeom prst="rect">
            <a:avLst/>
          </a:prstGeom>
          <a:noFill/>
        </p:spPr>
        <p:txBody>
          <a:bodyPr wrap="square">
            <a:spAutoFit/>
          </a:bodyPr>
          <a:lstStyle/>
          <a:p>
            <a:pPr algn="l"/>
            <a:r>
              <a:rPr sz="900" b="0" i="0">
                <a:solidFill>
                  <a:srgbClr val="595959"/>
                </a:solidFill>
              </a:rPr>
              <a:t>15%</a:t>
            </a:r>
          </a:p>
        </p:txBody>
      </p:sp>
      <p:sp>
        <p:nvSpPr>
          <p:cNvPr id="60" name="TextBox 59"/>
          <p:cNvSpPr txBox="1"/>
          <p:nvPr/>
        </p:nvSpPr>
        <p:spPr>
          <a:xfrm>
            <a:off x="4389120" y="3950208"/>
            <a:ext cx="960119" cy="274320"/>
          </a:xfrm>
          <a:prstGeom prst="rect">
            <a:avLst/>
          </a:prstGeom>
          <a:noFill/>
        </p:spPr>
        <p:txBody>
          <a:bodyPr wrap="square">
            <a:spAutoFit/>
          </a:bodyPr>
          <a:lstStyle/>
          <a:p>
            <a:pPr algn="l"/>
            <a:r>
              <a:rPr sz="900" b="1" i="0">
                <a:solidFill>
                  <a:srgbClr val="003366"/>
                </a:solidFill>
              </a:rPr>
              <a:t>$244</a:t>
            </a:r>
          </a:p>
        </p:txBody>
      </p:sp>
      <p:sp>
        <p:nvSpPr>
          <p:cNvPr id="61" name="TextBox 60"/>
          <p:cNvSpPr txBox="1"/>
          <p:nvPr/>
        </p:nvSpPr>
        <p:spPr>
          <a:xfrm>
            <a:off x="5486400" y="3950208"/>
            <a:ext cx="1143000" cy="274320"/>
          </a:xfrm>
          <a:prstGeom prst="rect">
            <a:avLst/>
          </a:prstGeom>
          <a:noFill/>
        </p:spPr>
        <p:txBody>
          <a:bodyPr wrap="square">
            <a:spAutoFit/>
          </a:bodyPr>
          <a:lstStyle/>
          <a:p>
            <a:pPr algn="l"/>
            <a:r>
              <a:rPr sz="900" b="0" i="0">
                <a:solidFill>
                  <a:srgbClr val="003366"/>
                </a:solidFill>
              </a:rPr>
              <a:t>$3,654</a:t>
            </a:r>
          </a:p>
        </p:txBody>
      </p:sp>
      <p:sp>
        <p:nvSpPr>
          <p:cNvPr id="62" name="TextBox 61"/>
          <p:cNvSpPr txBox="1"/>
          <p:nvPr/>
        </p:nvSpPr>
        <p:spPr>
          <a:xfrm>
            <a:off x="6766559" y="3950208"/>
            <a:ext cx="960119" cy="274320"/>
          </a:xfrm>
          <a:prstGeom prst="rect">
            <a:avLst/>
          </a:prstGeom>
          <a:noFill/>
        </p:spPr>
        <p:txBody>
          <a:bodyPr wrap="square">
            <a:spAutoFit/>
          </a:bodyPr>
          <a:lstStyle/>
          <a:p>
            <a:pPr algn="l"/>
            <a:r>
              <a:rPr sz="900" b="0" i="0">
                <a:solidFill>
                  <a:srgbClr val="595959"/>
                </a:solidFill>
              </a:rPr>
              <a:t>147.0 days</a:t>
            </a:r>
          </a:p>
        </p:txBody>
      </p:sp>
      <p:sp>
        <p:nvSpPr>
          <p:cNvPr id="63" name="TextBox 62"/>
          <p:cNvSpPr txBox="1"/>
          <p:nvPr/>
        </p:nvSpPr>
        <p:spPr>
          <a:xfrm>
            <a:off x="7863840" y="3950208"/>
            <a:ext cx="3840480" cy="274320"/>
          </a:xfrm>
          <a:prstGeom prst="rect">
            <a:avLst/>
          </a:prstGeom>
          <a:noFill/>
        </p:spPr>
        <p:txBody>
          <a:bodyPr wrap="square">
            <a:spAutoFit/>
          </a:bodyPr>
          <a:lstStyle/>
          <a:p>
            <a:pPr algn="l"/>
            <a:r>
              <a:rPr sz="900" b="0" i="0">
                <a:solidFill>
                  <a:srgbClr val="0070C0"/>
                </a:solidFill>
              </a:rPr>
              <a:t>Onboard &amp; engage — early-stage, high conversion upside</a:t>
            </a:r>
          </a:p>
        </p:txBody>
      </p:sp>
      <p:sp>
        <p:nvSpPr>
          <p:cNvPr id="64" name="Rectangle 63"/>
          <p:cNvSpPr/>
          <p:nvPr/>
        </p:nvSpPr>
        <p:spPr>
          <a:xfrm>
            <a:off x="320040" y="4334256"/>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59" y="4425696"/>
            <a:ext cx="2148840" cy="274320"/>
          </a:xfrm>
          <a:prstGeom prst="rect">
            <a:avLst/>
          </a:prstGeom>
          <a:noFill/>
        </p:spPr>
        <p:txBody>
          <a:bodyPr wrap="square">
            <a:spAutoFit/>
          </a:bodyPr>
          <a:lstStyle/>
          <a:p>
            <a:pPr algn="l"/>
            <a:r>
              <a:rPr sz="900" b="1" i="0">
                <a:solidFill>
                  <a:srgbClr val="1A1A1A"/>
                </a:solidFill>
              </a:rPr>
              <a:t>Hibernating</a:t>
            </a:r>
          </a:p>
        </p:txBody>
      </p:sp>
      <p:sp>
        <p:nvSpPr>
          <p:cNvPr id="66" name="TextBox 65"/>
          <p:cNvSpPr txBox="1"/>
          <p:nvPr/>
        </p:nvSpPr>
        <p:spPr>
          <a:xfrm>
            <a:off x="2651760" y="4425696"/>
            <a:ext cx="685800" cy="274320"/>
          </a:xfrm>
          <a:prstGeom prst="rect">
            <a:avLst/>
          </a:prstGeom>
          <a:noFill/>
        </p:spPr>
        <p:txBody>
          <a:bodyPr wrap="square">
            <a:spAutoFit/>
          </a:bodyPr>
          <a:lstStyle/>
          <a:p>
            <a:pPr algn="l"/>
            <a:r>
              <a:rPr sz="900" b="0" i="0">
                <a:solidFill>
                  <a:srgbClr val="1A1A1A"/>
                </a:solidFill>
              </a:rPr>
              <a:t>20</a:t>
            </a:r>
          </a:p>
        </p:txBody>
      </p:sp>
      <p:sp>
        <p:nvSpPr>
          <p:cNvPr id="67" name="TextBox 66"/>
          <p:cNvSpPr txBox="1"/>
          <p:nvPr/>
        </p:nvSpPr>
        <p:spPr>
          <a:xfrm>
            <a:off x="3474720" y="4425696"/>
            <a:ext cx="777240" cy="274320"/>
          </a:xfrm>
          <a:prstGeom prst="rect">
            <a:avLst/>
          </a:prstGeom>
          <a:noFill/>
        </p:spPr>
        <p:txBody>
          <a:bodyPr wrap="square">
            <a:spAutoFit/>
          </a:bodyPr>
          <a:lstStyle/>
          <a:p>
            <a:pPr algn="l"/>
            <a:r>
              <a:rPr sz="900" b="0" i="0">
                <a:solidFill>
                  <a:srgbClr val="595959"/>
                </a:solidFill>
              </a:rPr>
              <a:t>20%</a:t>
            </a:r>
          </a:p>
        </p:txBody>
      </p:sp>
      <p:sp>
        <p:nvSpPr>
          <p:cNvPr id="68" name="TextBox 67"/>
          <p:cNvSpPr txBox="1"/>
          <p:nvPr/>
        </p:nvSpPr>
        <p:spPr>
          <a:xfrm>
            <a:off x="4389120" y="4425696"/>
            <a:ext cx="960119" cy="274320"/>
          </a:xfrm>
          <a:prstGeom prst="rect">
            <a:avLst/>
          </a:prstGeom>
          <a:noFill/>
        </p:spPr>
        <p:txBody>
          <a:bodyPr wrap="square">
            <a:spAutoFit/>
          </a:bodyPr>
          <a:lstStyle/>
          <a:p>
            <a:pPr algn="l"/>
            <a:r>
              <a:rPr sz="900" b="1" i="0">
                <a:solidFill>
                  <a:srgbClr val="003366"/>
                </a:solidFill>
              </a:rPr>
              <a:t>$192</a:t>
            </a:r>
          </a:p>
        </p:txBody>
      </p:sp>
      <p:sp>
        <p:nvSpPr>
          <p:cNvPr id="69" name="TextBox 68"/>
          <p:cNvSpPr txBox="1"/>
          <p:nvPr/>
        </p:nvSpPr>
        <p:spPr>
          <a:xfrm>
            <a:off x="5486400" y="4425696"/>
            <a:ext cx="1143000" cy="274320"/>
          </a:xfrm>
          <a:prstGeom prst="rect">
            <a:avLst/>
          </a:prstGeom>
          <a:noFill/>
        </p:spPr>
        <p:txBody>
          <a:bodyPr wrap="square">
            <a:spAutoFit/>
          </a:bodyPr>
          <a:lstStyle/>
          <a:p>
            <a:pPr algn="l"/>
            <a:r>
              <a:rPr sz="900" b="0" i="0">
                <a:solidFill>
                  <a:srgbClr val="003366"/>
                </a:solidFill>
              </a:rPr>
              <a:t>$3,842</a:t>
            </a:r>
          </a:p>
        </p:txBody>
      </p:sp>
      <p:sp>
        <p:nvSpPr>
          <p:cNvPr id="70" name="TextBox 69"/>
          <p:cNvSpPr txBox="1"/>
          <p:nvPr/>
        </p:nvSpPr>
        <p:spPr>
          <a:xfrm>
            <a:off x="6766559" y="4425696"/>
            <a:ext cx="960119" cy="274320"/>
          </a:xfrm>
          <a:prstGeom prst="rect">
            <a:avLst/>
          </a:prstGeom>
          <a:noFill/>
        </p:spPr>
        <p:txBody>
          <a:bodyPr wrap="square">
            <a:spAutoFit/>
          </a:bodyPr>
          <a:lstStyle/>
          <a:p>
            <a:pPr algn="l"/>
            <a:r>
              <a:rPr sz="900" b="0" i="0">
                <a:solidFill>
                  <a:srgbClr val="595959"/>
                </a:solidFill>
              </a:rPr>
              <a:t>230.0 days</a:t>
            </a:r>
          </a:p>
        </p:txBody>
      </p:sp>
      <p:sp>
        <p:nvSpPr>
          <p:cNvPr id="71" name="TextBox 70"/>
          <p:cNvSpPr txBox="1"/>
          <p:nvPr/>
        </p:nvSpPr>
        <p:spPr>
          <a:xfrm>
            <a:off x="7863840" y="4425696"/>
            <a:ext cx="3840480" cy="274320"/>
          </a:xfrm>
          <a:prstGeom prst="rect">
            <a:avLst/>
          </a:prstGeom>
          <a:noFill/>
        </p:spPr>
        <p:txBody>
          <a:bodyPr wrap="square">
            <a:spAutoFit/>
          </a:bodyPr>
          <a:lstStyle/>
          <a:p>
            <a:pPr algn="l"/>
            <a:r>
              <a:rPr sz="900" b="0" i="0">
                <a:solidFill>
                  <a:srgbClr val="C00000"/>
                </a:solidFill>
              </a:rPr>
              <a:t>Re-engage — time-sensitive before permanent churn</a:t>
            </a:r>
          </a:p>
        </p:txBody>
      </p:sp>
      <p:sp>
        <p:nvSpPr>
          <p:cNvPr id="72" name="Rectangle 71"/>
          <p:cNvSpPr/>
          <p:nvPr/>
        </p:nvSpPr>
        <p:spPr>
          <a:xfrm>
            <a:off x="320040" y="4809744"/>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5759" y="4901183"/>
            <a:ext cx="2148840" cy="274320"/>
          </a:xfrm>
          <a:prstGeom prst="rect">
            <a:avLst/>
          </a:prstGeom>
          <a:noFill/>
        </p:spPr>
        <p:txBody>
          <a:bodyPr wrap="square">
            <a:spAutoFit/>
          </a:bodyPr>
          <a:lstStyle/>
          <a:p>
            <a:pPr algn="l"/>
            <a:r>
              <a:rPr sz="900" b="1" i="0">
                <a:solidFill>
                  <a:srgbClr val="1A1A1A"/>
                </a:solidFill>
              </a:rPr>
              <a:t>Lost</a:t>
            </a:r>
          </a:p>
        </p:txBody>
      </p:sp>
      <p:sp>
        <p:nvSpPr>
          <p:cNvPr id="74" name="TextBox 73"/>
          <p:cNvSpPr txBox="1"/>
          <p:nvPr/>
        </p:nvSpPr>
        <p:spPr>
          <a:xfrm>
            <a:off x="2651760" y="4901183"/>
            <a:ext cx="685800" cy="274320"/>
          </a:xfrm>
          <a:prstGeom prst="rect">
            <a:avLst/>
          </a:prstGeom>
          <a:noFill/>
        </p:spPr>
        <p:txBody>
          <a:bodyPr wrap="square">
            <a:spAutoFit/>
          </a:bodyPr>
          <a:lstStyle/>
          <a:p>
            <a:pPr algn="l"/>
            <a:r>
              <a:rPr sz="900" b="0" i="0">
                <a:solidFill>
                  <a:srgbClr val="1A1A1A"/>
                </a:solidFill>
              </a:rPr>
              <a:t>20</a:t>
            </a:r>
          </a:p>
        </p:txBody>
      </p:sp>
      <p:sp>
        <p:nvSpPr>
          <p:cNvPr id="75" name="TextBox 74"/>
          <p:cNvSpPr txBox="1"/>
          <p:nvPr/>
        </p:nvSpPr>
        <p:spPr>
          <a:xfrm>
            <a:off x="3474720" y="4901183"/>
            <a:ext cx="777240" cy="274320"/>
          </a:xfrm>
          <a:prstGeom prst="rect">
            <a:avLst/>
          </a:prstGeom>
          <a:noFill/>
        </p:spPr>
        <p:txBody>
          <a:bodyPr wrap="square">
            <a:spAutoFit/>
          </a:bodyPr>
          <a:lstStyle/>
          <a:p>
            <a:pPr algn="l"/>
            <a:r>
              <a:rPr sz="900" b="0" i="0">
                <a:solidFill>
                  <a:srgbClr val="595959"/>
                </a:solidFill>
              </a:rPr>
              <a:t>20%</a:t>
            </a:r>
          </a:p>
        </p:txBody>
      </p:sp>
      <p:sp>
        <p:nvSpPr>
          <p:cNvPr id="76" name="TextBox 75"/>
          <p:cNvSpPr txBox="1"/>
          <p:nvPr/>
        </p:nvSpPr>
        <p:spPr>
          <a:xfrm>
            <a:off x="4389120" y="4901183"/>
            <a:ext cx="960119" cy="274320"/>
          </a:xfrm>
          <a:prstGeom prst="rect">
            <a:avLst/>
          </a:prstGeom>
          <a:noFill/>
        </p:spPr>
        <p:txBody>
          <a:bodyPr wrap="square">
            <a:spAutoFit/>
          </a:bodyPr>
          <a:lstStyle/>
          <a:p>
            <a:pPr algn="l"/>
            <a:r>
              <a:rPr sz="900" b="1" i="0">
                <a:solidFill>
                  <a:srgbClr val="003366"/>
                </a:solidFill>
              </a:rPr>
              <a:t>$142</a:t>
            </a:r>
          </a:p>
        </p:txBody>
      </p:sp>
      <p:sp>
        <p:nvSpPr>
          <p:cNvPr id="77" name="TextBox 76"/>
          <p:cNvSpPr txBox="1"/>
          <p:nvPr/>
        </p:nvSpPr>
        <p:spPr>
          <a:xfrm>
            <a:off x="5486400" y="4901183"/>
            <a:ext cx="1143000" cy="274320"/>
          </a:xfrm>
          <a:prstGeom prst="rect">
            <a:avLst/>
          </a:prstGeom>
          <a:noFill/>
        </p:spPr>
        <p:txBody>
          <a:bodyPr wrap="square">
            <a:spAutoFit/>
          </a:bodyPr>
          <a:lstStyle/>
          <a:p>
            <a:pPr algn="l"/>
            <a:r>
              <a:rPr sz="900" b="0" i="0">
                <a:solidFill>
                  <a:srgbClr val="003366"/>
                </a:solidFill>
              </a:rPr>
              <a:t>$2,843</a:t>
            </a:r>
          </a:p>
        </p:txBody>
      </p:sp>
      <p:sp>
        <p:nvSpPr>
          <p:cNvPr id="78" name="TextBox 77"/>
          <p:cNvSpPr txBox="1"/>
          <p:nvPr/>
        </p:nvSpPr>
        <p:spPr>
          <a:xfrm>
            <a:off x="6766559" y="4901183"/>
            <a:ext cx="960119" cy="274320"/>
          </a:xfrm>
          <a:prstGeom prst="rect">
            <a:avLst/>
          </a:prstGeom>
          <a:noFill/>
        </p:spPr>
        <p:txBody>
          <a:bodyPr wrap="square">
            <a:spAutoFit/>
          </a:bodyPr>
          <a:lstStyle/>
          <a:p>
            <a:pPr algn="l"/>
            <a:r>
              <a:rPr sz="900" b="0" i="0">
                <a:solidFill>
                  <a:srgbClr val="595959"/>
                </a:solidFill>
              </a:rPr>
              <a:t>333.0 days</a:t>
            </a:r>
          </a:p>
        </p:txBody>
      </p:sp>
      <p:sp>
        <p:nvSpPr>
          <p:cNvPr id="79" name="TextBox 78"/>
          <p:cNvSpPr txBox="1"/>
          <p:nvPr/>
        </p:nvSpPr>
        <p:spPr>
          <a:xfrm>
            <a:off x="7863840" y="4901183"/>
            <a:ext cx="3840480" cy="274320"/>
          </a:xfrm>
          <a:prstGeom prst="rect">
            <a:avLst/>
          </a:prstGeom>
          <a:noFill/>
        </p:spPr>
        <p:txBody>
          <a:bodyPr wrap="square">
            <a:spAutoFit/>
          </a:bodyPr>
          <a:lstStyle/>
          <a:p>
            <a:pPr algn="l"/>
            <a:r>
              <a:rPr sz="900" b="0" i="0">
                <a:solidFill>
                  <a:srgbClr val="C00000"/>
                </a:solidFill>
              </a:rPr>
              <a:t>Win-back — selective recovery, low probability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Champions and Loyal customers (15% of base) generate 40% of total portfolio CLV</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The classic 80/20 dynamic is present — concentration at the top is both an asset and a risk</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5</a:t>
            </a:r>
          </a:p>
        </p:txBody>
      </p:sp>
      <p:sp>
        <p:nvSpPr>
          <p:cNvPr id="8" name="Rectangle 7"/>
          <p:cNvSpPr/>
          <p:nvPr/>
        </p:nvSpPr>
        <p:spPr>
          <a:xfrm>
            <a:off x="365760"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34440"/>
            <a:ext cx="2468880" cy="274320"/>
          </a:xfrm>
          <a:prstGeom prst="rect">
            <a:avLst/>
          </a:prstGeom>
          <a:noFill/>
        </p:spPr>
        <p:txBody>
          <a:bodyPr wrap="square">
            <a:spAutoFit/>
          </a:bodyPr>
          <a:lstStyle/>
          <a:p>
            <a:pPr algn="l"/>
            <a:r>
              <a:rPr sz="900" b="0" i="0">
                <a:solidFill>
                  <a:srgbClr val="595959"/>
                </a:solidFill>
              </a:rPr>
              <a:t>Champions — Avg CLV</a:t>
            </a:r>
          </a:p>
        </p:txBody>
      </p:sp>
      <p:sp>
        <p:nvSpPr>
          <p:cNvPr id="10" name="TextBox 9"/>
          <p:cNvSpPr txBox="1"/>
          <p:nvPr/>
        </p:nvSpPr>
        <p:spPr>
          <a:xfrm>
            <a:off x="502920" y="1490472"/>
            <a:ext cx="2468880" cy="502920"/>
          </a:xfrm>
          <a:prstGeom prst="rect">
            <a:avLst/>
          </a:prstGeom>
          <a:noFill/>
        </p:spPr>
        <p:txBody>
          <a:bodyPr wrap="square">
            <a:spAutoFit/>
          </a:bodyPr>
          <a:lstStyle/>
          <a:p>
            <a:pPr algn="l"/>
            <a:r>
              <a:rPr sz="2200" b="1" i="0">
                <a:solidFill>
                  <a:srgbClr val="003366"/>
                </a:solidFill>
              </a:rPr>
              <a:t>$1,412</a:t>
            </a:r>
          </a:p>
        </p:txBody>
      </p:sp>
      <p:sp>
        <p:nvSpPr>
          <p:cNvPr id="11" name="TextBox 10"/>
          <p:cNvSpPr txBox="1"/>
          <p:nvPr/>
        </p:nvSpPr>
        <p:spPr>
          <a:xfrm>
            <a:off x="502920" y="1965960"/>
            <a:ext cx="2468880" cy="228600"/>
          </a:xfrm>
          <a:prstGeom prst="rect">
            <a:avLst/>
          </a:prstGeom>
          <a:noFill/>
        </p:spPr>
        <p:txBody>
          <a:bodyPr wrap="square">
            <a:spAutoFit/>
          </a:bodyPr>
          <a:lstStyle/>
          <a:p>
            <a:pPr algn="l"/>
            <a:r>
              <a:rPr sz="800" b="0" i="0">
                <a:solidFill>
                  <a:srgbClr val="595959"/>
                </a:solidFill>
              </a:rPr>
              <a:t>7 customers  |  avg recency 30.0 days</a:t>
            </a:r>
          </a:p>
        </p:txBody>
      </p:sp>
      <p:sp>
        <p:nvSpPr>
          <p:cNvPr id="12" name="Rectangle 11"/>
          <p:cNvSpPr/>
          <p:nvPr/>
        </p:nvSpPr>
        <p:spPr>
          <a:xfrm>
            <a:off x="3246120"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79" y="1234440"/>
            <a:ext cx="2468880" cy="274320"/>
          </a:xfrm>
          <a:prstGeom prst="rect">
            <a:avLst/>
          </a:prstGeom>
          <a:noFill/>
        </p:spPr>
        <p:txBody>
          <a:bodyPr wrap="square">
            <a:spAutoFit/>
          </a:bodyPr>
          <a:lstStyle/>
          <a:p>
            <a:pPr algn="l"/>
            <a:r>
              <a:rPr sz="900" b="0" i="0">
                <a:solidFill>
                  <a:srgbClr val="595959"/>
                </a:solidFill>
              </a:rPr>
              <a:t>Loyal — Avg CLV</a:t>
            </a:r>
          </a:p>
        </p:txBody>
      </p:sp>
      <p:sp>
        <p:nvSpPr>
          <p:cNvPr id="14" name="TextBox 13"/>
          <p:cNvSpPr txBox="1"/>
          <p:nvPr/>
        </p:nvSpPr>
        <p:spPr>
          <a:xfrm>
            <a:off x="3383279" y="1490472"/>
            <a:ext cx="2468880" cy="502920"/>
          </a:xfrm>
          <a:prstGeom prst="rect">
            <a:avLst/>
          </a:prstGeom>
          <a:noFill/>
        </p:spPr>
        <p:txBody>
          <a:bodyPr wrap="square">
            <a:spAutoFit/>
          </a:bodyPr>
          <a:lstStyle/>
          <a:p>
            <a:pPr algn="l"/>
            <a:r>
              <a:rPr sz="2200" b="1" i="0">
                <a:solidFill>
                  <a:srgbClr val="003366"/>
                </a:solidFill>
              </a:rPr>
              <a:t>$832</a:t>
            </a:r>
          </a:p>
        </p:txBody>
      </p:sp>
      <p:sp>
        <p:nvSpPr>
          <p:cNvPr id="15" name="TextBox 14"/>
          <p:cNvSpPr txBox="1"/>
          <p:nvPr/>
        </p:nvSpPr>
        <p:spPr>
          <a:xfrm>
            <a:off x="3383279" y="1965960"/>
            <a:ext cx="2468880" cy="228600"/>
          </a:xfrm>
          <a:prstGeom prst="rect">
            <a:avLst/>
          </a:prstGeom>
          <a:noFill/>
        </p:spPr>
        <p:txBody>
          <a:bodyPr wrap="square">
            <a:spAutoFit/>
          </a:bodyPr>
          <a:lstStyle/>
          <a:p>
            <a:pPr algn="l"/>
            <a:r>
              <a:rPr sz="800" b="0" i="0">
                <a:solidFill>
                  <a:srgbClr val="595959"/>
                </a:solidFill>
              </a:rPr>
              <a:t>8 customers  |  avg recency 62.0 days</a:t>
            </a:r>
          </a:p>
        </p:txBody>
      </p:sp>
      <p:sp>
        <p:nvSpPr>
          <p:cNvPr id="16" name="Rectangle 15"/>
          <p:cNvSpPr/>
          <p:nvPr/>
        </p:nvSpPr>
        <p:spPr>
          <a:xfrm>
            <a:off x="6126480"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234440"/>
            <a:ext cx="2468880" cy="274320"/>
          </a:xfrm>
          <a:prstGeom prst="rect">
            <a:avLst/>
          </a:prstGeom>
          <a:noFill/>
        </p:spPr>
        <p:txBody>
          <a:bodyPr wrap="square">
            <a:spAutoFit/>
          </a:bodyPr>
          <a:lstStyle/>
          <a:p>
            <a:pPr algn="l"/>
            <a:r>
              <a:rPr sz="900" b="0" i="0">
                <a:solidFill>
                  <a:srgbClr val="595959"/>
                </a:solidFill>
              </a:rPr>
              <a:t>Portfolio Total CLV</a:t>
            </a:r>
          </a:p>
        </p:txBody>
      </p:sp>
      <p:sp>
        <p:nvSpPr>
          <p:cNvPr id="18" name="TextBox 17"/>
          <p:cNvSpPr txBox="1"/>
          <p:nvPr/>
        </p:nvSpPr>
        <p:spPr>
          <a:xfrm>
            <a:off x="6263640" y="1490472"/>
            <a:ext cx="2468880" cy="502920"/>
          </a:xfrm>
          <a:prstGeom prst="rect">
            <a:avLst/>
          </a:prstGeom>
          <a:noFill/>
        </p:spPr>
        <p:txBody>
          <a:bodyPr wrap="square">
            <a:spAutoFit/>
          </a:bodyPr>
          <a:lstStyle/>
          <a:p>
            <a:pPr algn="l"/>
            <a:r>
              <a:rPr sz="2200" b="1" i="0">
                <a:solidFill>
                  <a:srgbClr val="003366"/>
                </a:solidFill>
              </a:rPr>
              <a:t>$41,135</a:t>
            </a:r>
          </a:p>
        </p:txBody>
      </p:sp>
      <p:sp>
        <p:nvSpPr>
          <p:cNvPr id="19" name="TextBox 18"/>
          <p:cNvSpPr txBox="1"/>
          <p:nvPr/>
        </p:nvSpPr>
        <p:spPr>
          <a:xfrm>
            <a:off x="6263640" y="1965960"/>
            <a:ext cx="2468880" cy="228600"/>
          </a:xfrm>
          <a:prstGeom prst="rect">
            <a:avLst/>
          </a:prstGeom>
          <a:noFill/>
        </p:spPr>
        <p:txBody>
          <a:bodyPr wrap="square">
            <a:spAutoFit/>
          </a:bodyPr>
          <a:lstStyle/>
          <a:p>
            <a:pPr algn="l"/>
            <a:r>
              <a:rPr sz="800" b="0" i="0">
                <a:solidFill>
                  <a:srgbClr val="595959"/>
                </a:solidFill>
              </a:rPr>
              <a:t>Across all 100 customers</a:t>
            </a:r>
          </a:p>
        </p:txBody>
      </p:sp>
      <p:sp>
        <p:nvSpPr>
          <p:cNvPr id="20" name="Rectangle 19"/>
          <p:cNvSpPr/>
          <p:nvPr/>
        </p:nvSpPr>
        <p:spPr>
          <a:xfrm>
            <a:off x="9006840"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234440"/>
            <a:ext cx="2468880" cy="274320"/>
          </a:xfrm>
          <a:prstGeom prst="rect">
            <a:avLst/>
          </a:prstGeom>
          <a:noFill/>
        </p:spPr>
        <p:txBody>
          <a:bodyPr wrap="square">
            <a:spAutoFit/>
          </a:bodyPr>
          <a:lstStyle/>
          <a:p>
            <a:pPr algn="l"/>
            <a:r>
              <a:rPr sz="900" b="0" i="0">
                <a:solidFill>
                  <a:srgbClr val="595959"/>
                </a:solidFill>
              </a:rPr>
              <a:t>Value Seg. CLV Share</a:t>
            </a:r>
          </a:p>
        </p:txBody>
      </p:sp>
      <p:sp>
        <p:nvSpPr>
          <p:cNvPr id="22" name="TextBox 21"/>
          <p:cNvSpPr txBox="1"/>
          <p:nvPr/>
        </p:nvSpPr>
        <p:spPr>
          <a:xfrm>
            <a:off x="9144000" y="1490472"/>
            <a:ext cx="2468880" cy="502920"/>
          </a:xfrm>
          <a:prstGeom prst="rect">
            <a:avLst/>
          </a:prstGeom>
          <a:noFill/>
        </p:spPr>
        <p:txBody>
          <a:bodyPr wrap="square">
            <a:spAutoFit/>
          </a:bodyPr>
          <a:lstStyle/>
          <a:p>
            <a:pPr algn="l"/>
            <a:r>
              <a:rPr sz="2200" b="1" i="0">
                <a:solidFill>
                  <a:srgbClr val="003366"/>
                </a:solidFill>
              </a:rPr>
              <a:t>40%</a:t>
            </a:r>
          </a:p>
        </p:txBody>
      </p:sp>
      <p:sp>
        <p:nvSpPr>
          <p:cNvPr id="23" name="TextBox 22"/>
          <p:cNvSpPr txBox="1"/>
          <p:nvPr/>
        </p:nvSpPr>
        <p:spPr>
          <a:xfrm>
            <a:off x="9144000" y="1965960"/>
            <a:ext cx="2468880" cy="228600"/>
          </a:xfrm>
          <a:prstGeom prst="rect">
            <a:avLst/>
          </a:prstGeom>
          <a:noFill/>
        </p:spPr>
        <p:txBody>
          <a:bodyPr wrap="square">
            <a:spAutoFit/>
          </a:bodyPr>
          <a:lstStyle/>
          <a:p>
            <a:pPr algn="l"/>
            <a:r>
              <a:rPr sz="800" b="0" i="0">
                <a:solidFill>
                  <a:srgbClr val="595959"/>
                </a:solidFill>
              </a:rPr>
              <a:t>Delivered by 15% of customers</a:t>
            </a:r>
          </a:p>
        </p:txBody>
      </p:sp>
      <p:sp>
        <p:nvSpPr>
          <p:cNvPr id="24" name="Rectangle 23"/>
          <p:cNvSpPr/>
          <p:nvPr/>
        </p:nvSpPr>
        <p:spPr>
          <a:xfrm>
            <a:off x="365760" y="2468880"/>
            <a:ext cx="11430000" cy="36576"/>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606040"/>
            <a:ext cx="5486400" cy="274320"/>
          </a:xfrm>
          <a:prstGeom prst="rect">
            <a:avLst/>
          </a:prstGeom>
          <a:noFill/>
        </p:spPr>
        <p:txBody>
          <a:bodyPr wrap="square">
            <a:spAutoFit/>
          </a:bodyPr>
          <a:lstStyle/>
          <a:p>
            <a:pPr algn="l"/>
            <a:r>
              <a:rPr sz="1000" b="1" i="0">
                <a:solidFill>
                  <a:srgbClr val="003366"/>
                </a:solidFill>
              </a:rPr>
              <a:t>Total CLV by Segment</a:t>
            </a:r>
          </a:p>
        </p:txBody>
      </p:sp>
      <p:sp>
        <p:nvSpPr>
          <p:cNvPr id="26" name="TextBox 25"/>
          <p:cNvSpPr txBox="1"/>
          <p:nvPr/>
        </p:nvSpPr>
        <p:spPr>
          <a:xfrm>
            <a:off x="365760" y="2971800"/>
            <a:ext cx="2194560" cy="329184"/>
          </a:xfrm>
          <a:prstGeom prst="rect">
            <a:avLst/>
          </a:prstGeom>
          <a:noFill/>
        </p:spPr>
        <p:txBody>
          <a:bodyPr wrap="square">
            <a:spAutoFit/>
          </a:bodyPr>
          <a:lstStyle/>
          <a:p>
            <a:pPr algn="l"/>
            <a:r>
              <a:rPr sz="900" b="0" i="0">
                <a:solidFill>
                  <a:srgbClr val="1A1A1A"/>
                </a:solidFill>
              </a:rPr>
              <a:t>Champions</a:t>
            </a:r>
          </a:p>
        </p:txBody>
      </p:sp>
      <p:sp>
        <p:nvSpPr>
          <p:cNvPr id="27" name="Rectangle 26"/>
          <p:cNvSpPr/>
          <p:nvPr/>
        </p:nvSpPr>
        <p:spPr>
          <a:xfrm>
            <a:off x="2606040" y="3017520"/>
            <a:ext cx="6858000" cy="2926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2971800"/>
            <a:ext cx="1645920" cy="329184"/>
          </a:xfrm>
          <a:prstGeom prst="rect">
            <a:avLst/>
          </a:prstGeom>
          <a:noFill/>
        </p:spPr>
        <p:txBody>
          <a:bodyPr wrap="square">
            <a:spAutoFit/>
          </a:bodyPr>
          <a:lstStyle/>
          <a:p>
            <a:pPr algn="l"/>
            <a:r>
              <a:rPr sz="900" b="0" i="0">
                <a:solidFill>
                  <a:srgbClr val="1A1A1A"/>
                </a:solidFill>
              </a:rPr>
              <a:t>$9,882</a:t>
            </a:r>
          </a:p>
        </p:txBody>
      </p:sp>
      <p:sp>
        <p:nvSpPr>
          <p:cNvPr id="29" name="TextBox 28"/>
          <p:cNvSpPr txBox="1"/>
          <p:nvPr/>
        </p:nvSpPr>
        <p:spPr>
          <a:xfrm>
            <a:off x="365760" y="3410712"/>
            <a:ext cx="2194560" cy="329184"/>
          </a:xfrm>
          <a:prstGeom prst="rect">
            <a:avLst/>
          </a:prstGeom>
          <a:noFill/>
        </p:spPr>
        <p:txBody>
          <a:bodyPr wrap="square">
            <a:spAutoFit/>
          </a:bodyPr>
          <a:lstStyle/>
          <a:p>
            <a:pPr algn="l"/>
            <a:r>
              <a:rPr sz="900" b="0" i="0">
                <a:solidFill>
                  <a:srgbClr val="1A1A1A"/>
                </a:solidFill>
              </a:rPr>
              <a:t>Loyal</a:t>
            </a:r>
          </a:p>
        </p:txBody>
      </p:sp>
      <p:sp>
        <p:nvSpPr>
          <p:cNvPr id="30" name="Rectangle 29"/>
          <p:cNvSpPr/>
          <p:nvPr/>
        </p:nvSpPr>
        <p:spPr>
          <a:xfrm>
            <a:off x="2606040" y="3456432"/>
            <a:ext cx="4618497" cy="29260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977" y="3410712"/>
            <a:ext cx="1645920" cy="329184"/>
          </a:xfrm>
          <a:prstGeom prst="rect">
            <a:avLst/>
          </a:prstGeom>
          <a:noFill/>
        </p:spPr>
        <p:txBody>
          <a:bodyPr wrap="square">
            <a:spAutoFit/>
          </a:bodyPr>
          <a:lstStyle/>
          <a:p>
            <a:pPr algn="l"/>
            <a:r>
              <a:rPr sz="900" b="0" i="0">
                <a:solidFill>
                  <a:srgbClr val="1A1A1A"/>
                </a:solidFill>
              </a:rPr>
              <a:t>$6,655</a:t>
            </a:r>
          </a:p>
        </p:txBody>
      </p:sp>
      <p:sp>
        <p:nvSpPr>
          <p:cNvPr id="32" name="TextBox 31"/>
          <p:cNvSpPr txBox="1"/>
          <p:nvPr/>
        </p:nvSpPr>
        <p:spPr>
          <a:xfrm>
            <a:off x="365760" y="3849624"/>
            <a:ext cx="2194560" cy="329184"/>
          </a:xfrm>
          <a:prstGeom prst="rect">
            <a:avLst/>
          </a:prstGeom>
          <a:noFill/>
        </p:spPr>
        <p:txBody>
          <a:bodyPr wrap="square">
            <a:spAutoFit/>
          </a:bodyPr>
          <a:lstStyle/>
          <a:p>
            <a:pPr algn="l"/>
            <a:r>
              <a:rPr sz="900" b="0" i="0">
                <a:solidFill>
                  <a:srgbClr val="1A1A1A"/>
                </a:solidFill>
              </a:rPr>
              <a:t>Potential Loyalist</a:t>
            </a:r>
          </a:p>
        </p:txBody>
      </p:sp>
      <p:sp>
        <p:nvSpPr>
          <p:cNvPr id="33" name="Rectangle 32"/>
          <p:cNvSpPr/>
          <p:nvPr/>
        </p:nvSpPr>
        <p:spPr>
          <a:xfrm>
            <a:off x="2606040" y="3895344"/>
            <a:ext cx="6240349" cy="2926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37829" y="3849624"/>
            <a:ext cx="1645920" cy="329184"/>
          </a:xfrm>
          <a:prstGeom prst="rect">
            <a:avLst/>
          </a:prstGeom>
          <a:noFill/>
        </p:spPr>
        <p:txBody>
          <a:bodyPr wrap="square">
            <a:spAutoFit/>
          </a:bodyPr>
          <a:lstStyle/>
          <a:p>
            <a:pPr algn="l"/>
            <a:r>
              <a:rPr sz="900" b="0" i="0">
                <a:solidFill>
                  <a:srgbClr val="1A1A1A"/>
                </a:solidFill>
              </a:rPr>
              <a:t>$8,992</a:t>
            </a:r>
          </a:p>
        </p:txBody>
      </p:sp>
      <p:sp>
        <p:nvSpPr>
          <p:cNvPr id="35" name="TextBox 34"/>
          <p:cNvSpPr txBox="1"/>
          <p:nvPr/>
        </p:nvSpPr>
        <p:spPr>
          <a:xfrm>
            <a:off x="365760" y="4288536"/>
            <a:ext cx="2194560" cy="329184"/>
          </a:xfrm>
          <a:prstGeom prst="rect">
            <a:avLst/>
          </a:prstGeom>
          <a:noFill/>
        </p:spPr>
        <p:txBody>
          <a:bodyPr wrap="square">
            <a:spAutoFit/>
          </a:bodyPr>
          <a:lstStyle/>
          <a:p>
            <a:pPr algn="l"/>
            <a:r>
              <a:rPr sz="900" b="0" i="0">
                <a:solidFill>
                  <a:srgbClr val="1A1A1A"/>
                </a:solidFill>
              </a:rPr>
              <a:t>Need Attention</a:t>
            </a:r>
          </a:p>
        </p:txBody>
      </p:sp>
      <p:sp>
        <p:nvSpPr>
          <p:cNvPr id="36" name="Rectangle 35"/>
          <p:cNvSpPr/>
          <p:nvPr/>
        </p:nvSpPr>
        <p:spPr>
          <a:xfrm>
            <a:off x="2606040" y="4334255"/>
            <a:ext cx="1778000" cy="29260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5479" y="4288536"/>
            <a:ext cx="1645920" cy="329184"/>
          </a:xfrm>
          <a:prstGeom prst="rect">
            <a:avLst/>
          </a:prstGeom>
          <a:noFill/>
        </p:spPr>
        <p:txBody>
          <a:bodyPr wrap="square">
            <a:spAutoFit/>
          </a:bodyPr>
          <a:lstStyle/>
          <a:p>
            <a:pPr algn="l"/>
            <a:r>
              <a:rPr sz="900" b="0" i="0">
                <a:solidFill>
                  <a:srgbClr val="1A1A1A"/>
                </a:solidFill>
              </a:rPr>
              <a:t>$2,562</a:t>
            </a:r>
          </a:p>
        </p:txBody>
      </p:sp>
      <p:sp>
        <p:nvSpPr>
          <p:cNvPr id="38" name="TextBox 37"/>
          <p:cNvSpPr txBox="1"/>
          <p:nvPr/>
        </p:nvSpPr>
        <p:spPr>
          <a:xfrm>
            <a:off x="365760" y="4727448"/>
            <a:ext cx="2194560" cy="329184"/>
          </a:xfrm>
          <a:prstGeom prst="rect">
            <a:avLst/>
          </a:prstGeom>
          <a:noFill/>
        </p:spPr>
        <p:txBody>
          <a:bodyPr wrap="square">
            <a:spAutoFit/>
          </a:bodyPr>
          <a:lstStyle/>
          <a:p>
            <a:pPr algn="l"/>
            <a:r>
              <a:rPr sz="900" b="0" i="0">
                <a:solidFill>
                  <a:srgbClr val="1A1A1A"/>
                </a:solidFill>
              </a:rPr>
              <a:t>New Customer</a:t>
            </a:r>
          </a:p>
        </p:txBody>
      </p:sp>
      <p:sp>
        <p:nvSpPr>
          <p:cNvPr id="39" name="Rectangle 38"/>
          <p:cNvSpPr/>
          <p:nvPr/>
        </p:nvSpPr>
        <p:spPr>
          <a:xfrm>
            <a:off x="2606040" y="4773168"/>
            <a:ext cx="1877934" cy="292608"/>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5414" y="4727448"/>
            <a:ext cx="1645920" cy="329184"/>
          </a:xfrm>
          <a:prstGeom prst="rect">
            <a:avLst/>
          </a:prstGeom>
          <a:noFill/>
        </p:spPr>
        <p:txBody>
          <a:bodyPr wrap="square">
            <a:spAutoFit/>
          </a:bodyPr>
          <a:lstStyle/>
          <a:p>
            <a:pPr algn="l"/>
            <a:r>
              <a:rPr sz="900" b="0" i="0">
                <a:solidFill>
                  <a:srgbClr val="1A1A1A"/>
                </a:solidFill>
              </a:rPr>
              <a:t>$2,706</a:t>
            </a:r>
          </a:p>
        </p:txBody>
      </p:sp>
      <p:sp>
        <p:nvSpPr>
          <p:cNvPr id="41" name="TextBox 40"/>
          <p:cNvSpPr txBox="1"/>
          <p:nvPr/>
        </p:nvSpPr>
        <p:spPr>
          <a:xfrm>
            <a:off x="365760" y="5166360"/>
            <a:ext cx="2194560" cy="329184"/>
          </a:xfrm>
          <a:prstGeom prst="rect">
            <a:avLst/>
          </a:prstGeom>
          <a:noFill/>
        </p:spPr>
        <p:txBody>
          <a:bodyPr wrap="square">
            <a:spAutoFit/>
          </a:bodyPr>
          <a:lstStyle/>
          <a:p>
            <a:pPr algn="l"/>
            <a:r>
              <a:rPr sz="900" b="0" i="0">
                <a:solidFill>
                  <a:srgbClr val="1A1A1A"/>
                </a:solidFill>
              </a:rPr>
              <a:t>Promising</a:t>
            </a:r>
          </a:p>
        </p:txBody>
      </p:sp>
      <p:sp>
        <p:nvSpPr>
          <p:cNvPr id="42" name="Rectangle 41"/>
          <p:cNvSpPr/>
          <p:nvPr/>
        </p:nvSpPr>
        <p:spPr>
          <a:xfrm>
            <a:off x="2606040" y="5212080"/>
            <a:ext cx="2535836"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33316" y="5166360"/>
            <a:ext cx="1645920" cy="329184"/>
          </a:xfrm>
          <a:prstGeom prst="rect">
            <a:avLst/>
          </a:prstGeom>
          <a:noFill/>
        </p:spPr>
        <p:txBody>
          <a:bodyPr wrap="square">
            <a:spAutoFit/>
          </a:bodyPr>
          <a:lstStyle/>
          <a:p>
            <a:pPr algn="l"/>
            <a:r>
              <a:rPr sz="900" b="0" i="0">
                <a:solidFill>
                  <a:srgbClr val="1A1A1A"/>
                </a:solidFill>
              </a:rPr>
              <a:t>$3,654</a:t>
            </a:r>
          </a:p>
        </p:txBody>
      </p:sp>
      <p:sp>
        <p:nvSpPr>
          <p:cNvPr id="44" name="TextBox 43"/>
          <p:cNvSpPr txBox="1"/>
          <p:nvPr/>
        </p:nvSpPr>
        <p:spPr>
          <a:xfrm>
            <a:off x="365760" y="5605272"/>
            <a:ext cx="2194560" cy="329184"/>
          </a:xfrm>
          <a:prstGeom prst="rect">
            <a:avLst/>
          </a:prstGeom>
          <a:noFill/>
        </p:spPr>
        <p:txBody>
          <a:bodyPr wrap="square">
            <a:spAutoFit/>
          </a:bodyPr>
          <a:lstStyle/>
          <a:p>
            <a:pPr algn="l"/>
            <a:r>
              <a:rPr sz="900" b="0" i="0">
                <a:solidFill>
                  <a:srgbClr val="1A1A1A"/>
                </a:solidFill>
              </a:rPr>
              <a:t>Hibernating</a:t>
            </a:r>
          </a:p>
        </p:txBody>
      </p:sp>
      <p:sp>
        <p:nvSpPr>
          <p:cNvPr id="45" name="Rectangle 44"/>
          <p:cNvSpPr/>
          <p:nvPr/>
        </p:nvSpPr>
        <p:spPr>
          <a:xfrm>
            <a:off x="2606040" y="5650992"/>
            <a:ext cx="2666306" cy="292608"/>
          </a:xfrm>
          <a:prstGeom prst="rect">
            <a:avLst/>
          </a:prstGeom>
          <a:solidFill>
            <a:srgbClr val="CC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63786" y="5605272"/>
            <a:ext cx="1645920" cy="329184"/>
          </a:xfrm>
          <a:prstGeom prst="rect">
            <a:avLst/>
          </a:prstGeom>
          <a:noFill/>
        </p:spPr>
        <p:txBody>
          <a:bodyPr wrap="square">
            <a:spAutoFit/>
          </a:bodyPr>
          <a:lstStyle/>
          <a:p>
            <a:pPr algn="l"/>
            <a:r>
              <a:rPr sz="900" b="0" i="0">
                <a:solidFill>
                  <a:srgbClr val="1A1A1A"/>
                </a:solidFill>
              </a:rPr>
              <a:t>$3,842</a:t>
            </a:r>
          </a:p>
        </p:txBody>
      </p:sp>
      <p:sp>
        <p:nvSpPr>
          <p:cNvPr id="47" name="TextBox 46"/>
          <p:cNvSpPr txBox="1"/>
          <p:nvPr/>
        </p:nvSpPr>
        <p:spPr>
          <a:xfrm>
            <a:off x="365760" y="6044183"/>
            <a:ext cx="2194560" cy="329184"/>
          </a:xfrm>
          <a:prstGeom prst="rect">
            <a:avLst/>
          </a:prstGeom>
          <a:noFill/>
        </p:spPr>
        <p:txBody>
          <a:bodyPr wrap="square">
            <a:spAutoFit/>
          </a:bodyPr>
          <a:lstStyle/>
          <a:p>
            <a:pPr algn="l"/>
            <a:r>
              <a:rPr sz="900" b="0" i="0">
                <a:solidFill>
                  <a:srgbClr val="1A1A1A"/>
                </a:solidFill>
              </a:rPr>
              <a:t>Lost</a:t>
            </a:r>
          </a:p>
        </p:txBody>
      </p:sp>
      <p:sp>
        <p:nvSpPr>
          <p:cNvPr id="48" name="Rectangle 47"/>
          <p:cNvSpPr/>
          <p:nvPr/>
        </p:nvSpPr>
        <p:spPr>
          <a:xfrm>
            <a:off x="2606040" y="6089903"/>
            <a:ext cx="1973010" cy="29260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70490" y="6044183"/>
            <a:ext cx="1645920" cy="329184"/>
          </a:xfrm>
          <a:prstGeom prst="rect">
            <a:avLst/>
          </a:prstGeom>
          <a:noFill/>
        </p:spPr>
        <p:txBody>
          <a:bodyPr wrap="square">
            <a:spAutoFit/>
          </a:bodyPr>
          <a:lstStyle/>
          <a:p>
            <a:pPr algn="l"/>
            <a:r>
              <a:rPr sz="900" b="0" i="0">
                <a:solidFill>
                  <a:srgbClr val="1A1A1A"/>
                </a:solidFill>
              </a:rPr>
              <a:t>$2,843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40% of customers show lapsing behaviour — $6,685 in CLV is at risk of permanent loss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Hibernating and Lost segments require time-sensitive intervention to prevent irreversible churn</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6</a:t>
            </a:r>
          </a:p>
        </p:txBody>
      </p:sp>
      <p:sp>
        <p:nvSpPr>
          <p:cNvPr id="8" name="Rectangle 7"/>
          <p:cNvSpPr/>
          <p:nvPr/>
        </p:nvSpPr>
        <p:spPr>
          <a:xfrm>
            <a:off x="365760" y="1143000"/>
            <a:ext cx="548640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43000"/>
            <a:ext cx="73152" cy="4114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34440"/>
            <a:ext cx="5029200" cy="347472"/>
          </a:xfrm>
          <a:prstGeom prst="rect">
            <a:avLst/>
          </a:prstGeom>
          <a:noFill/>
        </p:spPr>
        <p:txBody>
          <a:bodyPr wrap="square">
            <a:spAutoFit/>
          </a:bodyPr>
          <a:lstStyle/>
          <a:p>
            <a:pPr algn="l"/>
            <a:r>
              <a:rPr sz="1400" b="1" i="0">
                <a:solidFill>
                  <a:srgbClr val="1A1A1A"/>
                </a:solidFill>
              </a:rPr>
              <a:t>Hibernating</a:t>
            </a:r>
          </a:p>
        </p:txBody>
      </p:sp>
      <p:sp>
        <p:nvSpPr>
          <p:cNvPr id="11" name="TextBox 10"/>
          <p:cNvSpPr txBox="1"/>
          <p:nvPr/>
        </p:nvSpPr>
        <p:spPr>
          <a:xfrm>
            <a:off x="594360" y="1627632"/>
            <a:ext cx="5029200" cy="274320"/>
          </a:xfrm>
          <a:prstGeom prst="rect">
            <a:avLst/>
          </a:prstGeom>
          <a:noFill/>
        </p:spPr>
        <p:txBody>
          <a:bodyPr wrap="square">
            <a:spAutoFit/>
          </a:bodyPr>
          <a:lstStyle/>
          <a:p>
            <a:pPr algn="l"/>
            <a:r>
              <a:rPr sz="1000" b="0" i="0">
                <a:solidFill>
                  <a:srgbClr val="595959"/>
                </a:solidFill>
              </a:rPr>
              <a:t>20 customers</a:t>
            </a:r>
          </a:p>
        </p:txBody>
      </p:sp>
      <p:sp>
        <p:nvSpPr>
          <p:cNvPr id="12" name="TextBox 11"/>
          <p:cNvSpPr txBox="1"/>
          <p:nvPr/>
        </p:nvSpPr>
        <p:spPr>
          <a:xfrm>
            <a:off x="594360" y="1901952"/>
            <a:ext cx="2286000" cy="320040"/>
          </a:xfrm>
          <a:prstGeom prst="rect">
            <a:avLst/>
          </a:prstGeom>
          <a:noFill/>
        </p:spPr>
        <p:txBody>
          <a:bodyPr wrap="square">
            <a:spAutoFit/>
          </a:bodyPr>
          <a:lstStyle/>
          <a:p>
            <a:pPr algn="l"/>
            <a:r>
              <a:rPr sz="1300" b="1" i="0">
                <a:solidFill>
                  <a:srgbClr val="C00000"/>
                </a:solidFill>
              </a:rPr>
              <a:t>Avg CLV: $192</a:t>
            </a:r>
          </a:p>
        </p:txBody>
      </p:sp>
      <p:sp>
        <p:nvSpPr>
          <p:cNvPr id="13" name="TextBox 12"/>
          <p:cNvSpPr txBox="1"/>
          <p:nvPr/>
        </p:nvSpPr>
        <p:spPr>
          <a:xfrm>
            <a:off x="594360" y="2267712"/>
            <a:ext cx="5029200" cy="274320"/>
          </a:xfrm>
          <a:prstGeom prst="rect">
            <a:avLst/>
          </a:prstGeom>
          <a:noFill/>
        </p:spPr>
        <p:txBody>
          <a:bodyPr wrap="square">
            <a:spAutoFit/>
          </a:bodyPr>
          <a:lstStyle/>
          <a:p>
            <a:pPr algn="l"/>
            <a:r>
              <a:rPr sz="950" b="0" i="0">
                <a:solidFill>
                  <a:srgbClr val="1A1A1A"/>
                </a:solidFill>
              </a:rPr>
              <a:t>Total CLV at risk: $3,842</a:t>
            </a:r>
          </a:p>
        </p:txBody>
      </p:sp>
      <p:sp>
        <p:nvSpPr>
          <p:cNvPr id="14" name="TextBox 13"/>
          <p:cNvSpPr txBox="1"/>
          <p:nvPr/>
        </p:nvSpPr>
        <p:spPr>
          <a:xfrm>
            <a:off x="594360" y="2578608"/>
            <a:ext cx="5029200" cy="274320"/>
          </a:xfrm>
          <a:prstGeom prst="rect">
            <a:avLst/>
          </a:prstGeom>
          <a:noFill/>
        </p:spPr>
        <p:txBody>
          <a:bodyPr wrap="square">
            <a:spAutoFit/>
          </a:bodyPr>
          <a:lstStyle/>
          <a:p>
            <a:pPr algn="l"/>
            <a:r>
              <a:rPr sz="950" b="0" i="0">
                <a:solidFill>
                  <a:srgbClr val="1A1A1A"/>
                </a:solidFill>
              </a:rPr>
              <a:t>Avg recency: 230.0 days</a:t>
            </a:r>
          </a:p>
        </p:txBody>
      </p:sp>
      <p:sp>
        <p:nvSpPr>
          <p:cNvPr id="15" name="TextBox 14"/>
          <p:cNvSpPr txBox="1"/>
          <p:nvPr/>
        </p:nvSpPr>
        <p:spPr>
          <a:xfrm>
            <a:off x="594360" y="2971800"/>
            <a:ext cx="5029200" cy="822960"/>
          </a:xfrm>
          <a:prstGeom prst="rect">
            <a:avLst/>
          </a:prstGeom>
          <a:noFill/>
        </p:spPr>
        <p:txBody>
          <a:bodyPr wrap="square">
            <a:spAutoFit/>
          </a:bodyPr>
          <a:lstStyle/>
          <a:p>
            <a:pPr algn="l"/>
            <a:r>
              <a:rPr sz="950" b="0" i="0">
                <a:solidFill>
                  <a:srgbClr val="595959"/>
                </a:solidFill>
              </a:rPr>
              <a:t>Last purchase 193–280 days ago. Single-purchase customers.
High reactivation potential with targeted offer.</a:t>
            </a:r>
          </a:p>
        </p:txBody>
      </p:sp>
      <p:sp>
        <p:nvSpPr>
          <p:cNvPr id="16" name="Rectangle 15"/>
          <p:cNvSpPr/>
          <p:nvPr/>
        </p:nvSpPr>
        <p:spPr>
          <a:xfrm>
            <a:off x="6126480" y="1143000"/>
            <a:ext cx="548640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143000"/>
            <a:ext cx="73152" cy="41148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234440"/>
            <a:ext cx="5029200" cy="347472"/>
          </a:xfrm>
          <a:prstGeom prst="rect">
            <a:avLst/>
          </a:prstGeom>
          <a:noFill/>
        </p:spPr>
        <p:txBody>
          <a:bodyPr wrap="square">
            <a:spAutoFit/>
          </a:bodyPr>
          <a:lstStyle/>
          <a:p>
            <a:pPr algn="l"/>
            <a:r>
              <a:rPr sz="1400" b="1" i="0">
                <a:solidFill>
                  <a:srgbClr val="1A1A1A"/>
                </a:solidFill>
              </a:rPr>
              <a:t>Lost</a:t>
            </a:r>
          </a:p>
        </p:txBody>
      </p:sp>
      <p:sp>
        <p:nvSpPr>
          <p:cNvPr id="19" name="TextBox 18"/>
          <p:cNvSpPr txBox="1"/>
          <p:nvPr/>
        </p:nvSpPr>
        <p:spPr>
          <a:xfrm>
            <a:off x="6355080" y="1627632"/>
            <a:ext cx="5029200" cy="274320"/>
          </a:xfrm>
          <a:prstGeom prst="rect">
            <a:avLst/>
          </a:prstGeom>
          <a:noFill/>
        </p:spPr>
        <p:txBody>
          <a:bodyPr wrap="square">
            <a:spAutoFit/>
          </a:bodyPr>
          <a:lstStyle/>
          <a:p>
            <a:pPr algn="l"/>
            <a:r>
              <a:rPr sz="1000" b="0" i="0">
                <a:solidFill>
                  <a:srgbClr val="595959"/>
                </a:solidFill>
              </a:rPr>
              <a:t>20 customers</a:t>
            </a:r>
          </a:p>
        </p:txBody>
      </p:sp>
      <p:sp>
        <p:nvSpPr>
          <p:cNvPr id="20" name="TextBox 19"/>
          <p:cNvSpPr txBox="1"/>
          <p:nvPr/>
        </p:nvSpPr>
        <p:spPr>
          <a:xfrm>
            <a:off x="6355080" y="1901952"/>
            <a:ext cx="2286000" cy="320040"/>
          </a:xfrm>
          <a:prstGeom prst="rect">
            <a:avLst/>
          </a:prstGeom>
          <a:noFill/>
        </p:spPr>
        <p:txBody>
          <a:bodyPr wrap="square">
            <a:spAutoFit/>
          </a:bodyPr>
          <a:lstStyle/>
          <a:p>
            <a:pPr algn="l"/>
            <a:r>
              <a:rPr sz="1300" b="1" i="0">
                <a:solidFill>
                  <a:srgbClr val="595959"/>
                </a:solidFill>
              </a:rPr>
              <a:t>Avg CLV: $142</a:t>
            </a:r>
          </a:p>
        </p:txBody>
      </p:sp>
      <p:sp>
        <p:nvSpPr>
          <p:cNvPr id="21" name="TextBox 20"/>
          <p:cNvSpPr txBox="1"/>
          <p:nvPr/>
        </p:nvSpPr>
        <p:spPr>
          <a:xfrm>
            <a:off x="6355080" y="2267712"/>
            <a:ext cx="5029200" cy="274320"/>
          </a:xfrm>
          <a:prstGeom prst="rect">
            <a:avLst/>
          </a:prstGeom>
          <a:noFill/>
        </p:spPr>
        <p:txBody>
          <a:bodyPr wrap="square">
            <a:spAutoFit/>
          </a:bodyPr>
          <a:lstStyle/>
          <a:p>
            <a:pPr algn="l"/>
            <a:r>
              <a:rPr sz="950" b="0" i="0">
                <a:solidFill>
                  <a:srgbClr val="1A1A1A"/>
                </a:solidFill>
              </a:rPr>
              <a:t>Total CLV at risk: $2,843</a:t>
            </a:r>
          </a:p>
        </p:txBody>
      </p:sp>
      <p:sp>
        <p:nvSpPr>
          <p:cNvPr id="22" name="TextBox 21"/>
          <p:cNvSpPr txBox="1"/>
          <p:nvPr/>
        </p:nvSpPr>
        <p:spPr>
          <a:xfrm>
            <a:off x="6355080" y="2578608"/>
            <a:ext cx="5029200" cy="274320"/>
          </a:xfrm>
          <a:prstGeom prst="rect">
            <a:avLst/>
          </a:prstGeom>
          <a:noFill/>
        </p:spPr>
        <p:txBody>
          <a:bodyPr wrap="square">
            <a:spAutoFit/>
          </a:bodyPr>
          <a:lstStyle/>
          <a:p>
            <a:pPr algn="l"/>
            <a:r>
              <a:rPr sz="950" b="0" i="0">
                <a:solidFill>
                  <a:srgbClr val="1A1A1A"/>
                </a:solidFill>
              </a:rPr>
              <a:t>Avg recency: 333.0 days</a:t>
            </a:r>
          </a:p>
        </p:txBody>
      </p:sp>
      <p:sp>
        <p:nvSpPr>
          <p:cNvPr id="23" name="TextBox 22"/>
          <p:cNvSpPr txBox="1"/>
          <p:nvPr/>
        </p:nvSpPr>
        <p:spPr>
          <a:xfrm>
            <a:off x="6355080" y="2971800"/>
            <a:ext cx="5029200" cy="822960"/>
          </a:xfrm>
          <a:prstGeom prst="rect">
            <a:avLst/>
          </a:prstGeom>
          <a:noFill/>
        </p:spPr>
        <p:txBody>
          <a:bodyPr wrap="square">
            <a:spAutoFit/>
          </a:bodyPr>
          <a:lstStyle/>
          <a:p>
            <a:pPr algn="l"/>
            <a:r>
              <a:rPr sz="950" b="0" i="0">
                <a:solidFill>
                  <a:srgbClr val="595959"/>
                </a:solidFill>
              </a:rPr>
              <a:t>Last purchase 280–365 days ago. Lowest recency scores.
Selective win-back only — focus on higher CLV profiles.</a:t>
            </a:r>
          </a:p>
        </p:txBody>
      </p:sp>
      <p:sp>
        <p:nvSpPr>
          <p:cNvPr id="24" name="Rectangle 23"/>
          <p:cNvSpPr/>
          <p:nvPr/>
        </p:nvSpPr>
        <p:spPr>
          <a:xfrm>
            <a:off x="365760" y="5394960"/>
            <a:ext cx="11430000" cy="502920"/>
          </a:xfrm>
          <a:prstGeom prst="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58968"/>
            <a:ext cx="11064240" cy="365760"/>
          </a:xfrm>
          <a:prstGeom prst="rect">
            <a:avLst/>
          </a:prstGeom>
          <a:noFill/>
        </p:spPr>
        <p:txBody>
          <a:bodyPr wrap="square">
            <a:spAutoFit/>
          </a:bodyPr>
          <a:lstStyle/>
          <a:p>
            <a:pPr algn="l"/>
            <a:r>
              <a:rPr sz="950" b="0" i="0">
                <a:solidFill>
                  <a:srgbClr val="7F6000"/>
                </a:solidFill>
              </a:rPr>
              <a:t>⚠  Recommended action: Launch a re-engagement sequence within 30 days for Hibernating customers. Prioritise the top quartile by CLV (above $204). A/B test discount vs. content-led reactivation.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40% of the base are early-stage customers — structured nurture can convert them to high-value segments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New Customer, Promising, and Potential Loyalist cohorts represent the pipeline for future CLV growth</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7</a:t>
            </a:r>
          </a:p>
        </p:txBody>
      </p:sp>
      <p:sp>
        <p:nvSpPr>
          <p:cNvPr id="8" name="Rectangle 7"/>
          <p:cNvSpPr/>
          <p:nvPr/>
        </p:nvSpPr>
        <p:spPr>
          <a:xfrm>
            <a:off x="365760" y="1143000"/>
            <a:ext cx="361188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43000"/>
            <a:ext cx="3611880" cy="640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3200400" cy="347472"/>
          </a:xfrm>
          <a:prstGeom prst="rect">
            <a:avLst/>
          </a:prstGeom>
          <a:noFill/>
        </p:spPr>
        <p:txBody>
          <a:bodyPr wrap="square">
            <a:spAutoFit/>
          </a:bodyPr>
          <a:lstStyle/>
          <a:p>
            <a:pPr algn="l"/>
            <a:r>
              <a:rPr sz="1200" b="1" i="0">
                <a:solidFill>
                  <a:srgbClr val="1A1A1A"/>
                </a:solidFill>
              </a:rPr>
              <a:t>New Customer</a:t>
            </a:r>
          </a:p>
        </p:txBody>
      </p:sp>
      <p:sp>
        <p:nvSpPr>
          <p:cNvPr id="11" name="TextBox 10"/>
          <p:cNvSpPr txBox="1"/>
          <p:nvPr/>
        </p:nvSpPr>
        <p:spPr>
          <a:xfrm>
            <a:off x="548640" y="1673352"/>
            <a:ext cx="3200400" cy="256032"/>
          </a:xfrm>
          <a:prstGeom prst="rect">
            <a:avLst/>
          </a:prstGeom>
          <a:noFill/>
        </p:spPr>
        <p:txBody>
          <a:bodyPr wrap="square">
            <a:spAutoFit/>
          </a:bodyPr>
          <a:lstStyle/>
          <a:p>
            <a:pPr algn="l"/>
            <a:r>
              <a:rPr sz="900" b="0" i="0">
                <a:solidFill>
                  <a:srgbClr val="595959"/>
                </a:solidFill>
              </a:rPr>
              <a:t>10 customers</a:t>
            </a:r>
          </a:p>
        </p:txBody>
      </p:sp>
      <p:sp>
        <p:nvSpPr>
          <p:cNvPr id="12" name="TextBox 11"/>
          <p:cNvSpPr txBox="1"/>
          <p:nvPr/>
        </p:nvSpPr>
        <p:spPr>
          <a:xfrm>
            <a:off x="548640" y="1965960"/>
            <a:ext cx="3200400" cy="457200"/>
          </a:xfrm>
          <a:prstGeom prst="rect">
            <a:avLst/>
          </a:prstGeom>
          <a:noFill/>
        </p:spPr>
        <p:txBody>
          <a:bodyPr wrap="square">
            <a:spAutoFit/>
          </a:bodyPr>
          <a:lstStyle/>
          <a:p>
            <a:pPr algn="l"/>
            <a:r>
              <a:rPr sz="2200" b="1" i="0">
                <a:solidFill>
                  <a:srgbClr val="0070C0"/>
                </a:solidFill>
              </a:rPr>
              <a:t>$271</a:t>
            </a:r>
          </a:p>
        </p:txBody>
      </p:sp>
      <p:sp>
        <p:nvSpPr>
          <p:cNvPr id="13" name="TextBox 12"/>
          <p:cNvSpPr txBox="1"/>
          <p:nvPr/>
        </p:nvSpPr>
        <p:spPr>
          <a:xfrm>
            <a:off x="548640" y="2423160"/>
            <a:ext cx="3200400" cy="228600"/>
          </a:xfrm>
          <a:prstGeom prst="rect">
            <a:avLst/>
          </a:prstGeom>
          <a:noFill/>
        </p:spPr>
        <p:txBody>
          <a:bodyPr wrap="square">
            <a:spAutoFit/>
          </a:bodyPr>
          <a:lstStyle/>
          <a:p>
            <a:pPr algn="l"/>
            <a:r>
              <a:rPr sz="800" b="0" i="0">
                <a:solidFill>
                  <a:srgbClr val="595959"/>
                </a:solidFill>
              </a:rPr>
              <a:t>avg CLV</a:t>
            </a:r>
          </a:p>
        </p:txBody>
      </p:sp>
      <p:sp>
        <p:nvSpPr>
          <p:cNvPr id="14" name="TextBox 13"/>
          <p:cNvSpPr txBox="1"/>
          <p:nvPr/>
        </p:nvSpPr>
        <p:spPr>
          <a:xfrm>
            <a:off x="548640" y="2697480"/>
            <a:ext cx="3200400" cy="256032"/>
          </a:xfrm>
          <a:prstGeom prst="rect">
            <a:avLst/>
          </a:prstGeom>
          <a:noFill/>
        </p:spPr>
        <p:txBody>
          <a:bodyPr wrap="square">
            <a:spAutoFit/>
          </a:bodyPr>
          <a:lstStyle/>
          <a:p>
            <a:pPr algn="l"/>
            <a:r>
              <a:rPr sz="850" b="0" i="0">
                <a:solidFill>
                  <a:srgbClr val="1A1A1A"/>
                </a:solidFill>
              </a:rPr>
              <a:t>Avg recency: 88.0 days  |  Avg freq: 1x</a:t>
            </a:r>
          </a:p>
        </p:txBody>
      </p:sp>
      <p:sp>
        <p:nvSpPr>
          <p:cNvPr id="15" name="TextBox 14"/>
          <p:cNvSpPr txBox="1"/>
          <p:nvPr/>
        </p:nvSpPr>
        <p:spPr>
          <a:xfrm>
            <a:off x="548640" y="3063240"/>
            <a:ext cx="3200400" cy="868680"/>
          </a:xfrm>
          <a:prstGeom prst="rect">
            <a:avLst/>
          </a:prstGeom>
          <a:noFill/>
        </p:spPr>
        <p:txBody>
          <a:bodyPr wrap="square">
            <a:spAutoFit/>
          </a:bodyPr>
          <a:lstStyle/>
          <a:p>
            <a:pPr algn="l"/>
            <a:r>
              <a:rPr sz="900" b="0" i="0">
                <a:solidFill>
                  <a:srgbClr val="595959"/>
                </a:solidFill>
              </a:rPr>
              <a:t>Very recent, first purchase only.
Priority: onboarding experience, second purchase incentive.</a:t>
            </a:r>
          </a:p>
        </p:txBody>
      </p:sp>
      <p:sp>
        <p:nvSpPr>
          <p:cNvPr id="16" name="Rectangle 15"/>
          <p:cNvSpPr/>
          <p:nvPr/>
        </p:nvSpPr>
        <p:spPr>
          <a:xfrm>
            <a:off x="4206240" y="1143000"/>
            <a:ext cx="361188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143000"/>
            <a:ext cx="3611880" cy="64008"/>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1298448"/>
            <a:ext cx="3200400" cy="347472"/>
          </a:xfrm>
          <a:prstGeom prst="rect">
            <a:avLst/>
          </a:prstGeom>
          <a:noFill/>
        </p:spPr>
        <p:txBody>
          <a:bodyPr wrap="square">
            <a:spAutoFit/>
          </a:bodyPr>
          <a:lstStyle/>
          <a:p>
            <a:pPr algn="l"/>
            <a:r>
              <a:rPr sz="1200" b="1" i="0">
                <a:solidFill>
                  <a:srgbClr val="1A1A1A"/>
                </a:solidFill>
              </a:rPr>
              <a:t>Promising</a:t>
            </a:r>
          </a:p>
        </p:txBody>
      </p:sp>
      <p:sp>
        <p:nvSpPr>
          <p:cNvPr id="19" name="TextBox 18"/>
          <p:cNvSpPr txBox="1"/>
          <p:nvPr/>
        </p:nvSpPr>
        <p:spPr>
          <a:xfrm>
            <a:off x="4389120" y="1673352"/>
            <a:ext cx="3200400" cy="256032"/>
          </a:xfrm>
          <a:prstGeom prst="rect">
            <a:avLst/>
          </a:prstGeom>
          <a:noFill/>
        </p:spPr>
        <p:txBody>
          <a:bodyPr wrap="square">
            <a:spAutoFit/>
          </a:bodyPr>
          <a:lstStyle/>
          <a:p>
            <a:pPr algn="l"/>
            <a:r>
              <a:rPr sz="900" b="0" i="0">
                <a:solidFill>
                  <a:srgbClr val="595959"/>
                </a:solidFill>
              </a:rPr>
              <a:t>15 customers</a:t>
            </a:r>
          </a:p>
        </p:txBody>
      </p:sp>
      <p:sp>
        <p:nvSpPr>
          <p:cNvPr id="20" name="TextBox 19"/>
          <p:cNvSpPr txBox="1"/>
          <p:nvPr/>
        </p:nvSpPr>
        <p:spPr>
          <a:xfrm>
            <a:off x="4389120" y="1965960"/>
            <a:ext cx="3200400" cy="457200"/>
          </a:xfrm>
          <a:prstGeom prst="rect">
            <a:avLst/>
          </a:prstGeom>
          <a:noFill/>
        </p:spPr>
        <p:txBody>
          <a:bodyPr wrap="square">
            <a:spAutoFit/>
          </a:bodyPr>
          <a:lstStyle/>
          <a:p>
            <a:pPr algn="l"/>
            <a:r>
              <a:rPr sz="2200" b="1" i="0">
                <a:solidFill>
                  <a:srgbClr val="00B0F0"/>
                </a:solidFill>
              </a:rPr>
              <a:t>$244</a:t>
            </a:r>
          </a:p>
        </p:txBody>
      </p:sp>
      <p:sp>
        <p:nvSpPr>
          <p:cNvPr id="21" name="TextBox 20"/>
          <p:cNvSpPr txBox="1"/>
          <p:nvPr/>
        </p:nvSpPr>
        <p:spPr>
          <a:xfrm>
            <a:off x="4389120" y="2423160"/>
            <a:ext cx="3200400" cy="228600"/>
          </a:xfrm>
          <a:prstGeom prst="rect">
            <a:avLst/>
          </a:prstGeom>
          <a:noFill/>
        </p:spPr>
        <p:txBody>
          <a:bodyPr wrap="square">
            <a:spAutoFit/>
          </a:bodyPr>
          <a:lstStyle/>
          <a:p>
            <a:pPr algn="l"/>
            <a:r>
              <a:rPr sz="800" b="0" i="0">
                <a:solidFill>
                  <a:srgbClr val="595959"/>
                </a:solidFill>
              </a:rPr>
              <a:t>avg CLV</a:t>
            </a:r>
          </a:p>
        </p:txBody>
      </p:sp>
      <p:sp>
        <p:nvSpPr>
          <p:cNvPr id="22" name="TextBox 21"/>
          <p:cNvSpPr txBox="1"/>
          <p:nvPr/>
        </p:nvSpPr>
        <p:spPr>
          <a:xfrm>
            <a:off x="4389120" y="2697480"/>
            <a:ext cx="3200400" cy="256032"/>
          </a:xfrm>
          <a:prstGeom prst="rect">
            <a:avLst/>
          </a:prstGeom>
          <a:noFill/>
        </p:spPr>
        <p:txBody>
          <a:bodyPr wrap="square">
            <a:spAutoFit/>
          </a:bodyPr>
          <a:lstStyle/>
          <a:p>
            <a:pPr algn="l"/>
            <a:r>
              <a:rPr sz="850" b="0" i="0">
                <a:solidFill>
                  <a:srgbClr val="1A1A1A"/>
                </a:solidFill>
              </a:rPr>
              <a:t>Avg recency: 147.0 days  |  Avg freq: 1x</a:t>
            </a:r>
          </a:p>
        </p:txBody>
      </p:sp>
      <p:sp>
        <p:nvSpPr>
          <p:cNvPr id="23" name="TextBox 22"/>
          <p:cNvSpPr txBox="1"/>
          <p:nvPr/>
        </p:nvSpPr>
        <p:spPr>
          <a:xfrm>
            <a:off x="4389120" y="3063240"/>
            <a:ext cx="3200400" cy="868680"/>
          </a:xfrm>
          <a:prstGeom prst="rect">
            <a:avLst/>
          </a:prstGeom>
          <a:noFill/>
        </p:spPr>
        <p:txBody>
          <a:bodyPr wrap="square">
            <a:spAutoFit/>
          </a:bodyPr>
          <a:lstStyle/>
          <a:p>
            <a:pPr algn="l"/>
            <a:r>
              <a:rPr sz="900" b="0" i="0">
                <a:solidFill>
                  <a:srgbClr val="595959"/>
                </a:solidFill>
              </a:rPr>
              <a:t>Recent, 1–2 purchases. Positive engagement signal.
Priority: loyalty programme invitation, category expansion.</a:t>
            </a:r>
          </a:p>
        </p:txBody>
      </p:sp>
      <p:sp>
        <p:nvSpPr>
          <p:cNvPr id="24" name="Rectangle 23"/>
          <p:cNvSpPr/>
          <p:nvPr/>
        </p:nvSpPr>
        <p:spPr>
          <a:xfrm>
            <a:off x="8046720" y="1143000"/>
            <a:ext cx="361188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1143000"/>
            <a:ext cx="3611880" cy="640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298448"/>
            <a:ext cx="3200400" cy="347472"/>
          </a:xfrm>
          <a:prstGeom prst="rect">
            <a:avLst/>
          </a:prstGeom>
          <a:noFill/>
        </p:spPr>
        <p:txBody>
          <a:bodyPr wrap="square">
            <a:spAutoFit/>
          </a:bodyPr>
          <a:lstStyle/>
          <a:p>
            <a:pPr algn="l"/>
            <a:r>
              <a:rPr sz="1200" b="1" i="0">
                <a:solidFill>
                  <a:srgbClr val="1A1A1A"/>
                </a:solidFill>
              </a:rPr>
              <a:t>Potential Loyalist</a:t>
            </a:r>
          </a:p>
        </p:txBody>
      </p:sp>
      <p:sp>
        <p:nvSpPr>
          <p:cNvPr id="27" name="TextBox 26"/>
          <p:cNvSpPr txBox="1"/>
          <p:nvPr/>
        </p:nvSpPr>
        <p:spPr>
          <a:xfrm>
            <a:off x="8229600" y="1673352"/>
            <a:ext cx="3200400" cy="256032"/>
          </a:xfrm>
          <a:prstGeom prst="rect">
            <a:avLst/>
          </a:prstGeom>
          <a:noFill/>
        </p:spPr>
        <p:txBody>
          <a:bodyPr wrap="square">
            <a:spAutoFit/>
          </a:bodyPr>
          <a:lstStyle/>
          <a:p>
            <a:pPr algn="l"/>
            <a:r>
              <a:rPr sz="900" b="0" i="0">
                <a:solidFill>
                  <a:srgbClr val="595959"/>
                </a:solidFill>
              </a:rPr>
              <a:t>15 customers</a:t>
            </a:r>
          </a:p>
        </p:txBody>
      </p:sp>
      <p:sp>
        <p:nvSpPr>
          <p:cNvPr id="28" name="TextBox 27"/>
          <p:cNvSpPr txBox="1"/>
          <p:nvPr/>
        </p:nvSpPr>
        <p:spPr>
          <a:xfrm>
            <a:off x="8229600" y="1965960"/>
            <a:ext cx="3200400" cy="457200"/>
          </a:xfrm>
          <a:prstGeom prst="rect">
            <a:avLst/>
          </a:prstGeom>
          <a:noFill/>
        </p:spPr>
        <p:txBody>
          <a:bodyPr wrap="square">
            <a:spAutoFit/>
          </a:bodyPr>
          <a:lstStyle/>
          <a:p>
            <a:pPr algn="l"/>
            <a:r>
              <a:rPr sz="2200" b="1" i="0">
                <a:solidFill>
                  <a:srgbClr val="FFC000"/>
                </a:solidFill>
              </a:rPr>
              <a:t>$599</a:t>
            </a:r>
          </a:p>
        </p:txBody>
      </p:sp>
      <p:sp>
        <p:nvSpPr>
          <p:cNvPr id="29" name="TextBox 28"/>
          <p:cNvSpPr txBox="1"/>
          <p:nvPr/>
        </p:nvSpPr>
        <p:spPr>
          <a:xfrm>
            <a:off x="8229600" y="2423160"/>
            <a:ext cx="3200400" cy="228600"/>
          </a:xfrm>
          <a:prstGeom prst="rect">
            <a:avLst/>
          </a:prstGeom>
          <a:noFill/>
        </p:spPr>
        <p:txBody>
          <a:bodyPr wrap="square">
            <a:spAutoFit/>
          </a:bodyPr>
          <a:lstStyle/>
          <a:p>
            <a:pPr algn="l"/>
            <a:r>
              <a:rPr sz="800" b="0" i="0">
                <a:solidFill>
                  <a:srgbClr val="595959"/>
                </a:solidFill>
              </a:rPr>
              <a:t>avg CLV</a:t>
            </a:r>
          </a:p>
        </p:txBody>
      </p:sp>
      <p:sp>
        <p:nvSpPr>
          <p:cNvPr id="30" name="TextBox 29"/>
          <p:cNvSpPr txBox="1"/>
          <p:nvPr/>
        </p:nvSpPr>
        <p:spPr>
          <a:xfrm>
            <a:off x="8229600" y="2697480"/>
            <a:ext cx="3200400" cy="256032"/>
          </a:xfrm>
          <a:prstGeom prst="rect">
            <a:avLst/>
          </a:prstGeom>
          <a:noFill/>
        </p:spPr>
        <p:txBody>
          <a:bodyPr wrap="square">
            <a:spAutoFit/>
          </a:bodyPr>
          <a:lstStyle/>
          <a:p>
            <a:pPr algn="l"/>
            <a:r>
              <a:rPr sz="850" b="0" i="0">
                <a:solidFill>
                  <a:srgbClr val="1A1A1A"/>
                </a:solidFill>
              </a:rPr>
              <a:t>Avg recency: 67.0 days  |  Avg freq: 2x</a:t>
            </a:r>
          </a:p>
        </p:txBody>
      </p:sp>
      <p:sp>
        <p:nvSpPr>
          <p:cNvPr id="31" name="TextBox 30"/>
          <p:cNvSpPr txBox="1"/>
          <p:nvPr/>
        </p:nvSpPr>
        <p:spPr>
          <a:xfrm>
            <a:off x="8229600" y="3063240"/>
            <a:ext cx="3200400" cy="868680"/>
          </a:xfrm>
          <a:prstGeom prst="rect">
            <a:avLst/>
          </a:prstGeom>
          <a:noFill/>
        </p:spPr>
        <p:txBody>
          <a:bodyPr wrap="square">
            <a:spAutoFit/>
          </a:bodyPr>
          <a:lstStyle/>
          <a:p>
            <a:pPr algn="l"/>
            <a:r>
              <a:rPr sz="900" b="0" i="0">
                <a:solidFill>
                  <a:srgbClr val="595959"/>
                </a:solidFill>
              </a:rPr>
              <a:t>2 purchases, moderate recency.
Priority: reward next purchase, introduce referral mechanic.</a:t>
            </a:r>
          </a:p>
        </p:txBody>
      </p:sp>
      <p:sp>
        <p:nvSpPr>
          <p:cNvPr id="32" name="TextBox 31"/>
          <p:cNvSpPr txBox="1"/>
          <p:nvPr/>
        </p:nvSpPr>
        <p:spPr>
          <a:xfrm>
            <a:off x="365760" y="5760720"/>
            <a:ext cx="11430000" cy="320040"/>
          </a:xfrm>
          <a:prstGeom prst="rect">
            <a:avLst/>
          </a:prstGeom>
          <a:noFill/>
        </p:spPr>
        <p:txBody>
          <a:bodyPr wrap="square">
            <a:spAutoFit/>
          </a:bodyPr>
          <a:lstStyle/>
          <a:p>
            <a:pPr algn="l"/>
            <a:r>
              <a:rPr sz="1000" b="1" i="0">
                <a:solidFill>
                  <a:srgbClr val="003366"/>
                </a:solidFill>
              </a:rPr>
              <a:t>Migration target: move Promising and Potential Loyalist customers to Loyal status within 12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What the Numbers Could Not See</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Reading what customers wrote, alongside what they did</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8</a:t>
            </a:r>
          </a:p>
        </p:txBody>
      </p:sp>
      <p:sp>
        <p:nvSpPr>
          <p:cNvPr id="8" name="Rectangle 7"/>
          <p:cNvSpPr/>
          <p:nvPr/>
        </p:nvSpPr>
        <p:spPr>
          <a:xfrm>
            <a:off x="365760"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34440"/>
            <a:ext cx="2468880" cy="274320"/>
          </a:xfrm>
          <a:prstGeom prst="rect">
            <a:avLst/>
          </a:prstGeom>
          <a:noFill/>
        </p:spPr>
        <p:txBody>
          <a:bodyPr wrap="square">
            <a:spAutoFit/>
          </a:bodyPr>
          <a:lstStyle/>
          <a:p>
            <a:pPr algn="l"/>
            <a:r>
              <a:rPr sz="900" b="0" i="0">
                <a:solidFill>
                  <a:srgbClr val="595959"/>
                </a:solidFill>
              </a:rPr>
              <a:t>Customers flagged by language</a:t>
            </a:r>
          </a:p>
        </p:txBody>
      </p:sp>
      <p:sp>
        <p:nvSpPr>
          <p:cNvPr id="10" name="TextBox 9"/>
          <p:cNvSpPr txBox="1"/>
          <p:nvPr/>
        </p:nvSpPr>
        <p:spPr>
          <a:xfrm>
            <a:off x="502920" y="1490472"/>
            <a:ext cx="2468880" cy="502920"/>
          </a:xfrm>
          <a:prstGeom prst="rect">
            <a:avLst/>
          </a:prstGeom>
          <a:noFill/>
        </p:spPr>
        <p:txBody>
          <a:bodyPr wrap="square">
            <a:spAutoFit/>
          </a:bodyPr>
          <a:lstStyle/>
          <a:p>
            <a:pPr algn="l"/>
            <a:r>
              <a:rPr sz="2200" b="1" i="0">
                <a:solidFill>
                  <a:srgbClr val="0070C0"/>
                </a:solidFill>
              </a:rPr>
              <a:t>5</a:t>
            </a:r>
          </a:p>
        </p:txBody>
      </p:sp>
      <p:sp>
        <p:nvSpPr>
          <p:cNvPr id="11" name="TextBox 10"/>
          <p:cNvSpPr txBox="1"/>
          <p:nvPr/>
        </p:nvSpPr>
        <p:spPr>
          <a:xfrm>
            <a:off x="502920" y="1965960"/>
            <a:ext cx="2468880" cy="228600"/>
          </a:xfrm>
          <a:prstGeom prst="rect">
            <a:avLst/>
          </a:prstGeom>
          <a:noFill/>
        </p:spPr>
        <p:txBody>
          <a:bodyPr wrap="square">
            <a:spAutoFit/>
          </a:bodyPr>
          <a:lstStyle/>
          <a:p>
            <a:pPr algn="l"/>
            <a:r>
              <a:rPr sz="800" b="0" i="0">
                <a:solidFill>
                  <a:srgbClr val="595959"/>
                </a:solidFill>
              </a:rPr>
              <a:t>Healthy on every purchase measure</a:t>
            </a:r>
          </a:p>
        </p:txBody>
      </p:sp>
      <p:sp>
        <p:nvSpPr>
          <p:cNvPr id="12" name="Rectangle 11"/>
          <p:cNvSpPr/>
          <p:nvPr/>
        </p:nvSpPr>
        <p:spPr>
          <a:xfrm>
            <a:off x="3273552"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234440"/>
            <a:ext cx="2468880" cy="274320"/>
          </a:xfrm>
          <a:prstGeom prst="rect">
            <a:avLst/>
          </a:prstGeom>
          <a:noFill/>
        </p:spPr>
        <p:txBody>
          <a:bodyPr wrap="square">
            <a:spAutoFit/>
          </a:bodyPr>
          <a:lstStyle/>
          <a:p>
            <a:pPr algn="l"/>
            <a:r>
              <a:rPr sz="900" b="0" i="0">
                <a:solidFill>
                  <a:srgbClr val="595959"/>
                </a:solidFill>
              </a:rPr>
              <a:t>Lifetime value exposed</a:t>
            </a:r>
          </a:p>
        </p:txBody>
      </p:sp>
      <p:sp>
        <p:nvSpPr>
          <p:cNvPr id="14" name="TextBox 13"/>
          <p:cNvSpPr txBox="1"/>
          <p:nvPr/>
        </p:nvSpPr>
        <p:spPr>
          <a:xfrm>
            <a:off x="3410712" y="1490472"/>
            <a:ext cx="2468880" cy="502920"/>
          </a:xfrm>
          <a:prstGeom prst="rect">
            <a:avLst/>
          </a:prstGeom>
          <a:noFill/>
        </p:spPr>
        <p:txBody>
          <a:bodyPr wrap="square">
            <a:spAutoFit/>
          </a:bodyPr>
          <a:lstStyle/>
          <a:p>
            <a:pPr algn="l"/>
            <a:r>
              <a:rPr sz="2200" b="1" i="0">
                <a:solidFill>
                  <a:srgbClr val="C00000"/>
                </a:solidFill>
              </a:rPr>
              <a:t>$3,502</a:t>
            </a:r>
          </a:p>
        </p:txBody>
      </p:sp>
      <p:sp>
        <p:nvSpPr>
          <p:cNvPr id="15" name="TextBox 14"/>
          <p:cNvSpPr txBox="1"/>
          <p:nvPr/>
        </p:nvSpPr>
        <p:spPr>
          <a:xfrm>
            <a:off x="3410712" y="1965960"/>
            <a:ext cx="2468880" cy="228600"/>
          </a:xfrm>
          <a:prstGeom prst="rect">
            <a:avLst/>
          </a:prstGeom>
          <a:noFill/>
        </p:spPr>
        <p:txBody>
          <a:bodyPr wrap="square">
            <a:spAutoFit/>
          </a:bodyPr>
          <a:lstStyle/>
          <a:p>
            <a:pPr algn="l"/>
            <a:r>
              <a:rPr sz="800" b="0" i="0">
                <a:solidFill>
                  <a:srgbClr val="595959"/>
                </a:solidFill>
              </a:rPr>
              <a:t>8.5% of portfolio</a:t>
            </a:r>
          </a:p>
        </p:txBody>
      </p:sp>
      <p:sp>
        <p:nvSpPr>
          <p:cNvPr id="16" name="Rectangle 15"/>
          <p:cNvSpPr/>
          <p:nvPr/>
        </p:nvSpPr>
        <p:spPr>
          <a:xfrm>
            <a:off x="6181344"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234440"/>
            <a:ext cx="2468880" cy="274320"/>
          </a:xfrm>
          <a:prstGeom prst="rect">
            <a:avLst/>
          </a:prstGeom>
          <a:noFill/>
        </p:spPr>
        <p:txBody>
          <a:bodyPr wrap="square">
            <a:spAutoFit/>
          </a:bodyPr>
          <a:lstStyle/>
          <a:p>
            <a:pPr algn="l"/>
            <a:r>
              <a:rPr sz="900" b="0" i="0">
                <a:solidFill>
                  <a:srgbClr val="595959"/>
                </a:solidFill>
              </a:rPr>
              <a:t>Need a person, not a campaign</a:t>
            </a:r>
          </a:p>
        </p:txBody>
      </p:sp>
      <p:sp>
        <p:nvSpPr>
          <p:cNvPr id="18" name="TextBox 17"/>
          <p:cNvSpPr txBox="1"/>
          <p:nvPr/>
        </p:nvSpPr>
        <p:spPr>
          <a:xfrm>
            <a:off x="6318504" y="1490472"/>
            <a:ext cx="2468880" cy="502920"/>
          </a:xfrm>
          <a:prstGeom prst="rect">
            <a:avLst/>
          </a:prstGeom>
          <a:noFill/>
        </p:spPr>
        <p:txBody>
          <a:bodyPr wrap="square">
            <a:spAutoFit/>
          </a:bodyPr>
          <a:lstStyle/>
          <a:p>
            <a:pPr algn="l"/>
            <a:r>
              <a:rPr sz="2200" b="1" i="0">
                <a:solidFill>
                  <a:srgbClr val="003366"/>
                </a:solidFill>
              </a:rPr>
              <a:t>23</a:t>
            </a:r>
          </a:p>
        </p:txBody>
      </p:sp>
      <p:sp>
        <p:nvSpPr>
          <p:cNvPr id="19" name="TextBox 18"/>
          <p:cNvSpPr txBox="1"/>
          <p:nvPr/>
        </p:nvSpPr>
        <p:spPr>
          <a:xfrm>
            <a:off x="6318504" y="1965960"/>
            <a:ext cx="2468880" cy="228600"/>
          </a:xfrm>
          <a:prstGeom prst="rect">
            <a:avLst/>
          </a:prstGeom>
          <a:noFill/>
        </p:spPr>
        <p:txBody>
          <a:bodyPr wrap="square">
            <a:spAutoFit/>
          </a:bodyPr>
          <a:lstStyle/>
          <a:p>
            <a:pPr algn="l"/>
            <a:r>
              <a:rPr sz="800" b="0" i="0">
                <a:solidFill>
                  <a:srgbClr val="595959"/>
                </a:solidFill>
              </a:rPr>
              <a:t>of 100 customers reviewed</a:t>
            </a:r>
          </a:p>
        </p:txBody>
      </p:sp>
      <p:sp>
        <p:nvSpPr>
          <p:cNvPr id="20" name="Rectangle 19"/>
          <p:cNvSpPr/>
          <p:nvPr/>
        </p:nvSpPr>
        <p:spPr>
          <a:xfrm>
            <a:off x="9089136" y="1143000"/>
            <a:ext cx="2743200" cy="1143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6296" y="1234440"/>
            <a:ext cx="2468880" cy="274320"/>
          </a:xfrm>
          <a:prstGeom prst="rect">
            <a:avLst/>
          </a:prstGeom>
          <a:noFill/>
        </p:spPr>
        <p:txBody>
          <a:bodyPr wrap="square">
            <a:spAutoFit/>
          </a:bodyPr>
          <a:lstStyle/>
          <a:p>
            <a:pPr algn="l"/>
            <a:r>
              <a:rPr sz="900" b="0" i="0">
                <a:solidFill>
                  <a:srgbClr val="595959"/>
                </a:solidFill>
              </a:rPr>
              <a:t>Raised a serious problem</a:t>
            </a:r>
          </a:p>
        </p:txBody>
      </p:sp>
      <p:sp>
        <p:nvSpPr>
          <p:cNvPr id="22" name="TextBox 21"/>
          <p:cNvSpPr txBox="1"/>
          <p:nvPr/>
        </p:nvSpPr>
        <p:spPr>
          <a:xfrm>
            <a:off x="9226296" y="1490472"/>
            <a:ext cx="2468880" cy="502920"/>
          </a:xfrm>
          <a:prstGeom prst="rect">
            <a:avLst/>
          </a:prstGeom>
          <a:noFill/>
        </p:spPr>
        <p:txBody>
          <a:bodyPr wrap="square">
            <a:spAutoFit/>
          </a:bodyPr>
          <a:lstStyle/>
          <a:p>
            <a:pPr algn="l"/>
            <a:r>
              <a:rPr sz="2200" b="1" i="0">
                <a:solidFill>
                  <a:srgbClr val="B88600"/>
                </a:solidFill>
              </a:rPr>
              <a:t>21</a:t>
            </a:r>
          </a:p>
        </p:txBody>
      </p:sp>
      <p:sp>
        <p:nvSpPr>
          <p:cNvPr id="23" name="TextBox 22"/>
          <p:cNvSpPr txBox="1"/>
          <p:nvPr/>
        </p:nvSpPr>
        <p:spPr>
          <a:xfrm>
            <a:off x="9226296" y="1965960"/>
            <a:ext cx="2468880" cy="228600"/>
          </a:xfrm>
          <a:prstGeom prst="rect">
            <a:avLst/>
          </a:prstGeom>
          <a:noFill/>
        </p:spPr>
        <p:txBody>
          <a:bodyPr wrap="square">
            <a:spAutoFit/>
          </a:bodyPr>
          <a:lstStyle/>
          <a:p>
            <a:pPr algn="l"/>
            <a:r>
              <a:rPr sz="800" b="0" i="0">
                <a:solidFill>
                  <a:srgbClr val="595959"/>
                </a:solidFill>
              </a:rPr>
              <a:t>Something went wrong, unresolved</a:t>
            </a:r>
          </a:p>
        </p:txBody>
      </p:sp>
      <p:sp>
        <p:nvSpPr>
          <p:cNvPr id="24" name="TextBox 23"/>
          <p:cNvSpPr txBox="1"/>
          <p:nvPr/>
        </p:nvSpPr>
        <p:spPr>
          <a:xfrm>
            <a:off x="365760" y="2487168"/>
            <a:ext cx="2743200" cy="201168"/>
          </a:xfrm>
          <a:prstGeom prst="rect">
            <a:avLst/>
          </a:prstGeom>
          <a:noFill/>
        </p:spPr>
        <p:txBody>
          <a:bodyPr wrap="square">
            <a:spAutoFit/>
          </a:bodyPr>
          <a:lstStyle/>
          <a:p>
            <a:pPr algn="l"/>
            <a:r>
              <a:rPr sz="750" b="1" i="0">
                <a:solidFill>
                  <a:srgbClr val="0070C0"/>
                </a:solidFill>
              </a:rPr>
              <a:t>FLAGGED BY WHAT THEY SAID, NOT WHAT THEY BOUGHT</a:t>
            </a:r>
          </a:p>
        </p:txBody>
      </p:sp>
      <p:sp>
        <p:nvSpPr>
          <p:cNvPr id="25" name="TextBox 24"/>
          <p:cNvSpPr txBox="1"/>
          <p:nvPr/>
        </p:nvSpPr>
        <p:spPr>
          <a:xfrm>
            <a:off x="411480" y="2743200"/>
            <a:ext cx="1280160" cy="228600"/>
          </a:xfrm>
          <a:prstGeom prst="rect">
            <a:avLst/>
          </a:prstGeom>
          <a:noFill/>
        </p:spPr>
        <p:txBody>
          <a:bodyPr wrap="square">
            <a:spAutoFit/>
          </a:bodyPr>
          <a:lstStyle/>
          <a:p>
            <a:pPr algn="l"/>
            <a:r>
              <a:rPr sz="750" b="1" i="0">
                <a:solidFill>
                  <a:srgbClr val="595959"/>
                </a:solidFill>
              </a:rPr>
              <a:t>CUSTOMER</a:t>
            </a:r>
          </a:p>
        </p:txBody>
      </p:sp>
      <p:sp>
        <p:nvSpPr>
          <p:cNvPr id="26" name="TextBox 25"/>
          <p:cNvSpPr txBox="1"/>
          <p:nvPr/>
        </p:nvSpPr>
        <p:spPr>
          <a:xfrm>
            <a:off x="1783080" y="2743200"/>
            <a:ext cx="1737360" cy="228600"/>
          </a:xfrm>
          <a:prstGeom prst="rect">
            <a:avLst/>
          </a:prstGeom>
          <a:noFill/>
        </p:spPr>
        <p:txBody>
          <a:bodyPr wrap="square">
            <a:spAutoFit/>
          </a:bodyPr>
          <a:lstStyle/>
          <a:p>
            <a:pPr algn="l"/>
            <a:r>
              <a:rPr sz="750" b="1" i="0">
                <a:solidFill>
                  <a:srgbClr val="595959"/>
                </a:solidFill>
              </a:rPr>
              <a:t>SEGMENT</a:t>
            </a:r>
          </a:p>
        </p:txBody>
      </p:sp>
      <p:sp>
        <p:nvSpPr>
          <p:cNvPr id="27" name="TextBox 26"/>
          <p:cNvSpPr txBox="1"/>
          <p:nvPr/>
        </p:nvSpPr>
        <p:spPr>
          <a:xfrm>
            <a:off x="3611879" y="2743200"/>
            <a:ext cx="1371600" cy="228600"/>
          </a:xfrm>
          <a:prstGeom prst="rect">
            <a:avLst/>
          </a:prstGeom>
          <a:noFill/>
        </p:spPr>
        <p:txBody>
          <a:bodyPr wrap="square">
            <a:spAutoFit/>
          </a:bodyPr>
          <a:lstStyle/>
          <a:p>
            <a:pPr algn="l"/>
            <a:r>
              <a:rPr sz="750" b="1" i="0">
                <a:solidFill>
                  <a:srgbClr val="595959"/>
                </a:solidFill>
              </a:rPr>
              <a:t>LIFETIME VALUE</a:t>
            </a:r>
          </a:p>
        </p:txBody>
      </p:sp>
      <p:sp>
        <p:nvSpPr>
          <p:cNvPr id="28" name="TextBox 27"/>
          <p:cNvSpPr txBox="1"/>
          <p:nvPr/>
        </p:nvSpPr>
        <p:spPr>
          <a:xfrm>
            <a:off x="5074920" y="2743200"/>
            <a:ext cx="1828800" cy="228600"/>
          </a:xfrm>
          <a:prstGeom prst="rect">
            <a:avLst/>
          </a:prstGeom>
          <a:noFill/>
        </p:spPr>
        <p:txBody>
          <a:bodyPr wrap="square">
            <a:spAutoFit/>
          </a:bodyPr>
          <a:lstStyle/>
          <a:p>
            <a:pPr algn="l"/>
            <a:r>
              <a:rPr sz="750" b="1" i="0">
                <a:solidFill>
                  <a:srgbClr val="595959"/>
                </a:solidFill>
              </a:rPr>
              <a:t>WHAT IS DRIVING IT</a:t>
            </a:r>
          </a:p>
        </p:txBody>
      </p:sp>
      <p:sp>
        <p:nvSpPr>
          <p:cNvPr id="29" name="TextBox 28"/>
          <p:cNvSpPr txBox="1"/>
          <p:nvPr/>
        </p:nvSpPr>
        <p:spPr>
          <a:xfrm>
            <a:off x="6995159" y="2743200"/>
            <a:ext cx="4754880" cy="228600"/>
          </a:xfrm>
          <a:prstGeom prst="rect">
            <a:avLst/>
          </a:prstGeom>
          <a:noFill/>
        </p:spPr>
        <p:txBody>
          <a:bodyPr wrap="square">
            <a:spAutoFit/>
          </a:bodyPr>
          <a:lstStyle/>
          <a:p>
            <a:pPr algn="l"/>
            <a:r>
              <a:rPr sz="750" b="1" i="0">
                <a:solidFill>
                  <a:srgbClr val="595959"/>
                </a:solidFill>
              </a:rPr>
              <a:t>WHY RFM MISSED THEM</a:t>
            </a:r>
          </a:p>
        </p:txBody>
      </p:sp>
      <p:sp>
        <p:nvSpPr>
          <p:cNvPr id="30" name="Rectangle 29"/>
          <p:cNvSpPr/>
          <p:nvPr/>
        </p:nvSpPr>
        <p:spPr>
          <a:xfrm>
            <a:off x="320040" y="3017520"/>
            <a:ext cx="1152144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099815"/>
            <a:ext cx="1280160" cy="274320"/>
          </a:xfrm>
          <a:prstGeom prst="rect">
            <a:avLst/>
          </a:prstGeom>
          <a:noFill/>
        </p:spPr>
        <p:txBody>
          <a:bodyPr wrap="square">
            <a:spAutoFit/>
          </a:bodyPr>
          <a:lstStyle/>
          <a:p>
            <a:pPr algn="l"/>
            <a:r>
              <a:rPr sz="900" b="0" i="0">
                <a:solidFill>
                  <a:srgbClr val="1A1A1A"/>
                </a:solidFill>
              </a:rPr>
              <a:t>CUS5907I</a:t>
            </a:r>
          </a:p>
        </p:txBody>
      </p:sp>
      <p:sp>
        <p:nvSpPr>
          <p:cNvPr id="32" name="TextBox 31"/>
          <p:cNvSpPr txBox="1"/>
          <p:nvPr/>
        </p:nvSpPr>
        <p:spPr>
          <a:xfrm>
            <a:off x="1783080" y="3099815"/>
            <a:ext cx="1737360" cy="274320"/>
          </a:xfrm>
          <a:prstGeom prst="rect">
            <a:avLst/>
          </a:prstGeom>
          <a:noFill/>
        </p:spPr>
        <p:txBody>
          <a:bodyPr wrap="square">
            <a:spAutoFit/>
          </a:bodyPr>
          <a:lstStyle/>
          <a:p>
            <a:pPr algn="l"/>
            <a:r>
              <a:rPr sz="900" b="0" i="0">
                <a:solidFill>
                  <a:srgbClr val="1A1A1A"/>
                </a:solidFill>
              </a:rPr>
              <a:t>Loyal</a:t>
            </a:r>
          </a:p>
        </p:txBody>
      </p:sp>
      <p:sp>
        <p:nvSpPr>
          <p:cNvPr id="33" name="TextBox 32"/>
          <p:cNvSpPr txBox="1"/>
          <p:nvPr/>
        </p:nvSpPr>
        <p:spPr>
          <a:xfrm>
            <a:off x="3611879" y="3099815"/>
            <a:ext cx="1371600" cy="274320"/>
          </a:xfrm>
          <a:prstGeom prst="rect">
            <a:avLst/>
          </a:prstGeom>
          <a:noFill/>
        </p:spPr>
        <p:txBody>
          <a:bodyPr wrap="square">
            <a:spAutoFit/>
          </a:bodyPr>
          <a:lstStyle/>
          <a:p>
            <a:pPr algn="l"/>
            <a:r>
              <a:rPr sz="900" b="0" i="0">
                <a:solidFill>
                  <a:srgbClr val="1A1A1A"/>
                </a:solidFill>
              </a:rPr>
              <a:t>$1,051</a:t>
            </a:r>
          </a:p>
        </p:txBody>
      </p:sp>
      <p:sp>
        <p:nvSpPr>
          <p:cNvPr id="34" name="TextBox 33"/>
          <p:cNvSpPr txBox="1"/>
          <p:nvPr/>
        </p:nvSpPr>
        <p:spPr>
          <a:xfrm>
            <a:off x="5074920" y="3099815"/>
            <a:ext cx="1828800" cy="274320"/>
          </a:xfrm>
          <a:prstGeom prst="rect">
            <a:avLst/>
          </a:prstGeom>
          <a:noFill/>
        </p:spPr>
        <p:txBody>
          <a:bodyPr wrap="square">
            <a:spAutoFit/>
          </a:bodyPr>
          <a:lstStyle/>
          <a:p>
            <a:pPr algn="l"/>
            <a:r>
              <a:rPr sz="900" b="0" i="0">
                <a:solidFill>
                  <a:srgbClr val="1A1A1A"/>
                </a:solidFill>
              </a:rPr>
              <a:t>Service</a:t>
            </a:r>
          </a:p>
        </p:txBody>
      </p:sp>
      <p:sp>
        <p:nvSpPr>
          <p:cNvPr id="35" name="TextBox 34"/>
          <p:cNvSpPr txBox="1"/>
          <p:nvPr/>
        </p:nvSpPr>
        <p:spPr>
          <a:xfrm>
            <a:off x="6995159" y="3099815"/>
            <a:ext cx="4754880" cy="274320"/>
          </a:xfrm>
          <a:prstGeom prst="rect">
            <a:avLst/>
          </a:prstGeom>
          <a:noFill/>
        </p:spPr>
        <p:txBody>
          <a:bodyPr wrap="square">
            <a:spAutoFit/>
          </a:bodyPr>
          <a:lstStyle/>
          <a:p>
            <a:pPr algn="l"/>
            <a:r>
              <a:rPr sz="900" b="0" i="0">
                <a:solidFill>
                  <a:srgbClr val="1A1A1A"/>
                </a:solidFill>
              </a:rPr>
              <a:t>Still buying on schedule, but sitting on an unresolved failure</a:t>
            </a:r>
          </a:p>
        </p:txBody>
      </p:sp>
      <p:sp>
        <p:nvSpPr>
          <p:cNvPr id="36" name="Rectangle 35"/>
          <p:cNvSpPr/>
          <p:nvPr/>
        </p:nvSpPr>
        <p:spPr>
          <a:xfrm>
            <a:off x="320040" y="3419856"/>
            <a:ext cx="115214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502151"/>
            <a:ext cx="1280160" cy="274320"/>
          </a:xfrm>
          <a:prstGeom prst="rect">
            <a:avLst/>
          </a:prstGeom>
          <a:noFill/>
        </p:spPr>
        <p:txBody>
          <a:bodyPr wrap="square">
            <a:spAutoFit/>
          </a:bodyPr>
          <a:lstStyle/>
          <a:p>
            <a:pPr algn="l"/>
            <a:r>
              <a:rPr sz="900" b="0" i="0">
                <a:solidFill>
                  <a:srgbClr val="1A1A1A"/>
                </a:solidFill>
              </a:rPr>
              <a:t>CUSCRUYF</a:t>
            </a:r>
          </a:p>
        </p:txBody>
      </p:sp>
      <p:sp>
        <p:nvSpPr>
          <p:cNvPr id="38" name="TextBox 37"/>
          <p:cNvSpPr txBox="1"/>
          <p:nvPr/>
        </p:nvSpPr>
        <p:spPr>
          <a:xfrm>
            <a:off x="1783080" y="3502151"/>
            <a:ext cx="1737360" cy="274320"/>
          </a:xfrm>
          <a:prstGeom prst="rect">
            <a:avLst/>
          </a:prstGeom>
          <a:noFill/>
        </p:spPr>
        <p:txBody>
          <a:bodyPr wrap="square">
            <a:spAutoFit/>
          </a:bodyPr>
          <a:lstStyle/>
          <a:p>
            <a:pPr algn="l"/>
            <a:r>
              <a:rPr sz="900" b="0" i="0">
                <a:solidFill>
                  <a:srgbClr val="1A1A1A"/>
                </a:solidFill>
              </a:rPr>
              <a:t>Loyal</a:t>
            </a:r>
          </a:p>
        </p:txBody>
      </p:sp>
      <p:sp>
        <p:nvSpPr>
          <p:cNvPr id="39" name="TextBox 38"/>
          <p:cNvSpPr txBox="1"/>
          <p:nvPr/>
        </p:nvSpPr>
        <p:spPr>
          <a:xfrm>
            <a:off x="3611879" y="3502151"/>
            <a:ext cx="1371600" cy="274320"/>
          </a:xfrm>
          <a:prstGeom prst="rect">
            <a:avLst/>
          </a:prstGeom>
          <a:noFill/>
        </p:spPr>
        <p:txBody>
          <a:bodyPr wrap="square">
            <a:spAutoFit/>
          </a:bodyPr>
          <a:lstStyle/>
          <a:p>
            <a:pPr algn="l"/>
            <a:r>
              <a:rPr sz="900" b="0" i="0">
                <a:solidFill>
                  <a:srgbClr val="1A1A1A"/>
                </a:solidFill>
              </a:rPr>
              <a:t>$762</a:t>
            </a:r>
          </a:p>
        </p:txBody>
      </p:sp>
      <p:sp>
        <p:nvSpPr>
          <p:cNvPr id="40" name="TextBox 39"/>
          <p:cNvSpPr txBox="1"/>
          <p:nvPr/>
        </p:nvSpPr>
        <p:spPr>
          <a:xfrm>
            <a:off x="5074920" y="3502151"/>
            <a:ext cx="1828800" cy="274320"/>
          </a:xfrm>
          <a:prstGeom prst="rect">
            <a:avLst/>
          </a:prstGeom>
          <a:noFill/>
        </p:spPr>
        <p:txBody>
          <a:bodyPr wrap="square">
            <a:spAutoFit/>
          </a:bodyPr>
          <a:lstStyle/>
          <a:p>
            <a:pPr algn="l"/>
            <a:r>
              <a:rPr sz="900" b="0" i="0">
                <a:solidFill>
                  <a:srgbClr val="1A1A1A"/>
                </a:solidFill>
              </a:rPr>
              <a:t>Competitor</a:t>
            </a:r>
          </a:p>
        </p:txBody>
      </p:sp>
      <p:sp>
        <p:nvSpPr>
          <p:cNvPr id="41" name="TextBox 40"/>
          <p:cNvSpPr txBox="1"/>
          <p:nvPr/>
        </p:nvSpPr>
        <p:spPr>
          <a:xfrm>
            <a:off x="6995159" y="3502151"/>
            <a:ext cx="4754880" cy="274320"/>
          </a:xfrm>
          <a:prstGeom prst="rect">
            <a:avLst/>
          </a:prstGeom>
          <a:noFill/>
        </p:spPr>
        <p:txBody>
          <a:bodyPr wrap="square">
            <a:spAutoFit/>
          </a:bodyPr>
          <a:lstStyle/>
          <a:p>
            <a:pPr algn="l"/>
            <a:r>
              <a:rPr sz="900" b="0" i="0">
                <a:solidFill>
                  <a:srgbClr val="1A1A1A"/>
                </a:solidFill>
              </a:rPr>
              <a:t>Still buying, while actively weighing up another supplier</a:t>
            </a:r>
          </a:p>
        </p:txBody>
      </p:sp>
      <p:sp>
        <p:nvSpPr>
          <p:cNvPr id="42" name="Rectangle 41"/>
          <p:cNvSpPr/>
          <p:nvPr/>
        </p:nvSpPr>
        <p:spPr>
          <a:xfrm>
            <a:off x="320040" y="3822191"/>
            <a:ext cx="1152144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3904487"/>
            <a:ext cx="1280160" cy="274320"/>
          </a:xfrm>
          <a:prstGeom prst="rect">
            <a:avLst/>
          </a:prstGeom>
          <a:noFill/>
        </p:spPr>
        <p:txBody>
          <a:bodyPr wrap="square">
            <a:spAutoFit/>
          </a:bodyPr>
          <a:lstStyle/>
          <a:p>
            <a:pPr algn="l"/>
            <a:r>
              <a:rPr sz="900" b="0" i="0">
                <a:solidFill>
                  <a:srgbClr val="1A1A1A"/>
                </a:solidFill>
              </a:rPr>
              <a:t>CUSKOIXN</a:t>
            </a:r>
          </a:p>
        </p:txBody>
      </p:sp>
      <p:sp>
        <p:nvSpPr>
          <p:cNvPr id="44" name="TextBox 43"/>
          <p:cNvSpPr txBox="1"/>
          <p:nvPr/>
        </p:nvSpPr>
        <p:spPr>
          <a:xfrm>
            <a:off x="1783080" y="3904487"/>
            <a:ext cx="1737360" cy="274320"/>
          </a:xfrm>
          <a:prstGeom prst="rect">
            <a:avLst/>
          </a:prstGeom>
          <a:noFill/>
        </p:spPr>
        <p:txBody>
          <a:bodyPr wrap="square">
            <a:spAutoFit/>
          </a:bodyPr>
          <a:lstStyle/>
          <a:p>
            <a:pPr algn="l"/>
            <a:r>
              <a:rPr sz="900" b="0" i="0">
                <a:solidFill>
                  <a:srgbClr val="1A1A1A"/>
                </a:solidFill>
              </a:rPr>
              <a:t>Loyal</a:t>
            </a:r>
          </a:p>
        </p:txBody>
      </p:sp>
      <p:sp>
        <p:nvSpPr>
          <p:cNvPr id="45" name="TextBox 44"/>
          <p:cNvSpPr txBox="1"/>
          <p:nvPr/>
        </p:nvSpPr>
        <p:spPr>
          <a:xfrm>
            <a:off x="3611879" y="3904487"/>
            <a:ext cx="1371600" cy="274320"/>
          </a:xfrm>
          <a:prstGeom prst="rect">
            <a:avLst/>
          </a:prstGeom>
          <a:noFill/>
        </p:spPr>
        <p:txBody>
          <a:bodyPr wrap="square">
            <a:spAutoFit/>
          </a:bodyPr>
          <a:lstStyle/>
          <a:p>
            <a:pPr algn="l"/>
            <a:r>
              <a:rPr sz="900" b="0" i="0">
                <a:solidFill>
                  <a:srgbClr val="1A1A1A"/>
                </a:solidFill>
              </a:rPr>
              <a:t>$743</a:t>
            </a:r>
          </a:p>
        </p:txBody>
      </p:sp>
      <p:sp>
        <p:nvSpPr>
          <p:cNvPr id="46" name="TextBox 45"/>
          <p:cNvSpPr txBox="1"/>
          <p:nvPr/>
        </p:nvSpPr>
        <p:spPr>
          <a:xfrm>
            <a:off x="5074920" y="3904487"/>
            <a:ext cx="1828800" cy="274320"/>
          </a:xfrm>
          <a:prstGeom prst="rect">
            <a:avLst/>
          </a:prstGeom>
          <a:noFill/>
        </p:spPr>
        <p:txBody>
          <a:bodyPr wrap="square">
            <a:spAutoFit/>
          </a:bodyPr>
          <a:lstStyle/>
          <a:p>
            <a:pPr algn="l"/>
            <a:r>
              <a:rPr sz="900" b="0" i="0">
                <a:solidFill>
                  <a:srgbClr val="1A1A1A"/>
                </a:solidFill>
              </a:rPr>
              <a:t>Service</a:t>
            </a:r>
          </a:p>
        </p:txBody>
      </p:sp>
      <p:sp>
        <p:nvSpPr>
          <p:cNvPr id="47" name="TextBox 46"/>
          <p:cNvSpPr txBox="1"/>
          <p:nvPr/>
        </p:nvSpPr>
        <p:spPr>
          <a:xfrm>
            <a:off x="6995159" y="3904487"/>
            <a:ext cx="4754880" cy="274320"/>
          </a:xfrm>
          <a:prstGeom prst="rect">
            <a:avLst/>
          </a:prstGeom>
          <a:noFill/>
        </p:spPr>
        <p:txBody>
          <a:bodyPr wrap="square">
            <a:spAutoFit/>
          </a:bodyPr>
          <a:lstStyle/>
          <a:p>
            <a:pPr algn="l"/>
            <a:r>
              <a:rPr sz="900" b="0" i="0">
                <a:solidFill>
                  <a:srgbClr val="1A1A1A"/>
                </a:solidFill>
              </a:rPr>
              <a:t>Still buying on schedule, but sitting on an unresolved failure</a:t>
            </a:r>
          </a:p>
        </p:txBody>
      </p:sp>
      <p:sp>
        <p:nvSpPr>
          <p:cNvPr id="48" name="Rectangle 47"/>
          <p:cNvSpPr/>
          <p:nvPr/>
        </p:nvSpPr>
        <p:spPr>
          <a:xfrm>
            <a:off x="320040" y="4224528"/>
            <a:ext cx="115214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1480" y="4306824"/>
            <a:ext cx="1280160" cy="274320"/>
          </a:xfrm>
          <a:prstGeom prst="rect">
            <a:avLst/>
          </a:prstGeom>
          <a:noFill/>
        </p:spPr>
        <p:txBody>
          <a:bodyPr wrap="square">
            <a:spAutoFit/>
          </a:bodyPr>
          <a:lstStyle/>
          <a:p>
            <a:pPr algn="l"/>
            <a:r>
              <a:rPr sz="900" b="0" i="0">
                <a:solidFill>
                  <a:srgbClr val="1A1A1A"/>
                </a:solidFill>
              </a:rPr>
              <a:t>CUS65KXV</a:t>
            </a:r>
          </a:p>
        </p:txBody>
      </p:sp>
      <p:sp>
        <p:nvSpPr>
          <p:cNvPr id="50" name="TextBox 49"/>
          <p:cNvSpPr txBox="1"/>
          <p:nvPr/>
        </p:nvSpPr>
        <p:spPr>
          <a:xfrm>
            <a:off x="1783080" y="4306824"/>
            <a:ext cx="1737360" cy="274320"/>
          </a:xfrm>
          <a:prstGeom prst="rect">
            <a:avLst/>
          </a:prstGeom>
          <a:noFill/>
        </p:spPr>
        <p:txBody>
          <a:bodyPr wrap="square">
            <a:spAutoFit/>
          </a:bodyPr>
          <a:lstStyle/>
          <a:p>
            <a:pPr algn="l"/>
            <a:r>
              <a:rPr sz="900" b="0" i="0">
                <a:solidFill>
                  <a:srgbClr val="1A1A1A"/>
                </a:solidFill>
              </a:rPr>
              <a:t>Potential Loyalist</a:t>
            </a:r>
          </a:p>
        </p:txBody>
      </p:sp>
      <p:sp>
        <p:nvSpPr>
          <p:cNvPr id="51" name="TextBox 50"/>
          <p:cNvSpPr txBox="1"/>
          <p:nvPr/>
        </p:nvSpPr>
        <p:spPr>
          <a:xfrm>
            <a:off x="3611879" y="4306824"/>
            <a:ext cx="1371600" cy="274320"/>
          </a:xfrm>
          <a:prstGeom prst="rect">
            <a:avLst/>
          </a:prstGeom>
          <a:noFill/>
        </p:spPr>
        <p:txBody>
          <a:bodyPr wrap="square">
            <a:spAutoFit/>
          </a:bodyPr>
          <a:lstStyle/>
          <a:p>
            <a:pPr algn="l"/>
            <a:r>
              <a:rPr sz="900" b="0" i="0">
                <a:solidFill>
                  <a:srgbClr val="1A1A1A"/>
                </a:solidFill>
              </a:rPr>
              <a:t>$652</a:t>
            </a:r>
          </a:p>
        </p:txBody>
      </p:sp>
      <p:sp>
        <p:nvSpPr>
          <p:cNvPr id="52" name="TextBox 51"/>
          <p:cNvSpPr txBox="1"/>
          <p:nvPr/>
        </p:nvSpPr>
        <p:spPr>
          <a:xfrm>
            <a:off x="5074920" y="4306824"/>
            <a:ext cx="1828800" cy="274320"/>
          </a:xfrm>
          <a:prstGeom prst="rect">
            <a:avLst/>
          </a:prstGeom>
          <a:noFill/>
        </p:spPr>
        <p:txBody>
          <a:bodyPr wrap="square">
            <a:spAutoFit/>
          </a:bodyPr>
          <a:lstStyle/>
          <a:p>
            <a:pPr algn="l"/>
            <a:r>
              <a:rPr sz="900" b="0" i="0">
                <a:solidFill>
                  <a:srgbClr val="1A1A1A"/>
                </a:solidFill>
              </a:rPr>
              <a:t>Service</a:t>
            </a:r>
          </a:p>
        </p:txBody>
      </p:sp>
      <p:sp>
        <p:nvSpPr>
          <p:cNvPr id="53" name="TextBox 52"/>
          <p:cNvSpPr txBox="1"/>
          <p:nvPr/>
        </p:nvSpPr>
        <p:spPr>
          <a:xfrm>
            <a:off x="6995159" y="4306824"/>
            <a:ext cx="4754880" cy="274320"/>
          </a:xfrm>
          <a:prstGeom prst="rect">
            <a:avLst/>
          </a:prstGeom>
          <a:noFill/>
        </p:spPr>
        <p:txBody>
          <a:bodyPr wrap="square">
            <a:spAutoFit/>
          </a:bodyPr>
          <a:lstStyle/>
          <a:p>
            <a:pPr algn="l"/>
            <a:r>
              <a:rPr sz="900" b="0" i="0">
                <a:solidFill>
                  <a:srgbClr val="1A1A1A"/>
                </a:solidFill>
              </a:rPr>
              <a:t>Still buying on schedule, but sitting on an unresolved failure</a:t>
            </a:r>
          </a:p>
        </p:txBody>
      </p:sp>
      <p:sp>
        <p:nvSpPr>
          <p:cNvPr id="54" name="Rectangle 53"/>
          <p:cNvSpPr/>
          <p:nvPr/>
        </p:nvSpPr>
        <p:spPr>
          <a:xfrm>
            <a:off x="320040" y="4626864"/>
            <a:ext cx="1152144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4709159"/>
            <a:ext cx="1280160" cy="274320"/>
          </a:xfrm>
          <a:prstGeom prst="rect">
            <a:avLst/>
          </a:prstGeom>
          <a:noFill/>
        </p:spPr>
        <p:txBody>
          <a:bodyPr wrap="square">
            <a:spAutoFit/>
          </a:bodyPr>
          <a:lstStyle/>
          <a:p>
            <a:pPr algn="l"/>
            <a:r>
              <a:rPr sz="900" b="0" i="0">
                <a:solidFill>
                  <a:srgbClr val="1A1A1A"/>
                </a:solidFill>
              </a:rPr>
              <a:t>CUSOR56F</a:t>
            </a:r>
          </a:p>
        </p:txBody>
      </p:sp>
      <p:sp>
        <p:nvSpPr>
          <p:cNvPr id="56" name="TextBox 55"/>
          <p:cNvSpPr txBox="1"/>
          <p:nvPr/>
        </p:nvSpPr>
        <p:spPr>
          <a:xfrm>
            <a:off x="1783080" y="4709159"/>
            <a:ext cx="1737360" cy="274320"/>
          </a:xfrm>
          <a:prstGeom prst="rect">
            <a:avLst/>
          </a:prstGeom>
          <a:noFill/>
        </p:spPr>
        <p:txBody>
          <a:bodyPr wrap="square">
            <a:spAutoFit/>
          </a:bodyPr>
          <a:lstStyle/>
          <a:p>
            <a:pPr algn="l"/>
            <a:r>
              <a:rPr sz="900" b="0" i="0">
                <a:solidFill>
                  <a:srgbClr val="1A1A1A"/>
                </a:solidFill>
              </a:rPr>
              <a:t>New Customer</a:t>
            </a:r>
          </a:p>
        </p:txBody>
      </p:sp>
      <p:sp>
        <p:nvSpPr>
          <p:cNvPr id="57" name="TextBox 56"/>
          <p:cNvSpPr txBox="1"/>
          <p:nvPr/>
        </p:nvSpPr>
        <p:spPr>
          <a:xfrm>
            <a:off x="3611879" y="4709159"/>
            <a:ext cx="1371600" cy="274320"/>
          </a:xfrm>
          <a:prstGeom prst="rect">
            <a:avLst/>
          </a:prstGeom>
          <a:noFill/>
        </p:spPr>
        <p:txBody>
          <a:bodyPr wrap="square">
            <a:spAutoFit/>
          </a:bodyPr>
          <a:lstStyle/>
          <a:p>
            <a:pPr algn="l"/>
            <a:r>
              <a:rPr sz="900" b="0" i="0">
                <a:solidFill>
                  <a:srgbClr val="1A1A1A"/>
                </a:solidFill>
              </a:rPr>
              <a:t>$294</a:t>
            </a:r>
          </a:p>
        </p:txBody>
      </p:sp>
      <p:sp>
        <p:nvSpPr>
          <p:cNvPr id="58" name="TextBox 57"/>
          <p:cNvSpPr txBox="1"/>
          <p:nvPr/>
        </p:nvSpPr>
        <p:spPr>
          <a:xfrm>
            <a:off x="5074920" y="4709159"/>
            <a:ext cx="1828800" cy="274320"/>
          </a:xfrm>
          <a:prstGeom prst="rect">
            <a:avLst/>
          </a:prstGeom>
          <a:noFill/>
        </p:spPr>
        <p:txBody>
          <a:bodyPr wrap="square">
            <a:spAutoFit/>
          </a:bodyPr>
          <a:lstStyle/>
          <a:p>
            <a:pPr algn="l"/>
            <a:r>
              <a:rPr sz="900" b="0" i="0">
                <a:solidFill>
                  <a:srgbClr val="1A1A1A"/>
                </a:solidFill>
              </a:rPr>
              <a:t>Service</a:t>
            </a:r>
          </a:p>
        </p:txBody>
      </p:sp>
      <p:sp>
        <p:nvSpPr>
          <p:cNvPr id="59" name="TextBox 58"/>
          <p:cNvSpPr txBox="1"/>
          <p:nvPr/>
        </p:nvSpPr>
        <p:spPr>
          <a:xfrm>
            <a:off x="6995159" y="4709159"/>
            <a:ext cx="4754880" cy="274320"/>
          </a:xfrm>
          <a:prstGeom prst="rect">
            <a:avLst/>
          </a:prstGeom>
          <a:noFill/>
        </p:spPr>
        <p:txBody>
          <a:bodyPr wrap="square">
            <a:spAutoFit/>
          </a:bodyPr>
          <a:lstStyle/>
          <a:p>
            <a:pPr algn="l"/>
            <a:r>
              <a:rPr sz="900" b="0" i="0">
                <a:solidFill>
                  <a:srgbClr val="1A1A1A"/>
                </a:solidFill>
              </a:rPr>
              <a:t>Still buying on schedule, but sitting on an unresolved failure</a:t>
            </a:r>
          </a:p>
        </p:txBody>
      </p:sp>
      <p:sp>
        <p:nvSpPr>
          <p:cNvPr id="60" name="Rectangle 59"/>
          <p:cNvSpPr/>
          <p:nvPr/>
        </p:nvSpPr>
        <p:spPr>
          <a:xfrm>
            <a:off x="365760" y="5486400"/>
            <a:ext cx="11430000" cy="68580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 y="5596128"/>
            <a:ext cx="11064240" cy="502920"/>
          </a:xfrm>
          <a:prstGeom prst="rect">
            <a:avLst/>
          </a:prstGeom>
          <a:noFill/>
        </p:spPr>
        <p:txBody>
          <a:bodyPr wrap="square">
            <a:spAutoFit/>
          </a:bodyPr>
          <a:lstStyle/>
          <a:p>
            <a:pPr algn="l"/>
            <a:r>
              <a:rPr sz="950" b="0" i="0">
                <a:solidFill>
                  <a:srgbClr val="003366"/>
                </a:solidFill>
              </a:rPr>
              <a:t>Why this is invisible to RFM:  the model is built entirely from past purchases. A customer who has decided to leave but has not yet stopped buying looks identical to a loyal one — right up until they go. Their words are the only early warning.</a:t>
            </a:r>
          </a:p>
        </p:txBody>
      </p:sp>
      <p:sp>
        <p:nvSpPr>
          <p:cNvPr id="62" name="TextBox 61"/>
          <p:cNvSpPr txBox="1"/>
          <p:nvPr/>
        </p:nvSpPr>
        <p:spPr>
          <a:xfrm>
            <a:off x="365760" y="6281928"/>
            <a:ext cx="11430000" cy="228600"/>
          </a:xfrm>
          <a:prstGeom prst="rect">
            <a:avLst/>
          </a:prstGeom>
          <a:noFill/>
        </p:spPr>
        <p:txBody>
          <a:bodyPr wrap="square">
            <a:spAutoFit/>
          </a:bodyPr>
          <a:lstStyle/>
          <a:p>
            <a:pPr algn="l"/>
            <a:r>
              <a:rPr sz="650" b="0" i="1">
                <a:solidFill>
                  <a:srgbClr val="595959"/>
                </a:solidFill>
              </a:rPr>
              <a:t>Customer messages in this analysis are illustrative sample text, generated to demonstrate the method. Replace with real support and survey data before acting on named accounts.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How the Model Read Your Customers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Every customer message scored on two separate questions</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9</a:t>
            </a:r>
          </a:p>
        </p:txBody>
      </p:sp>
      <p:pic>
        <p:nvPicPr>
          <p:cNvPr id="8" name="Picture 7" descr="jev_chart_1_blindspots.png"/>
          <p:cNvPicPr>
            <a:picLocks noChangeAspect="1"/>
          </p:cNvPicPr>
          <p:nvPr/>
        </p:nvPicPr>
        <p:blipFill>
          <a:blip r:embed="rId2"/>
          <a:stretch>
            <a:fillRect/>
          </a:stretch>
        </p:blipFill>
        <p:spPr>
          <a:xfrm>
            <a:off x="411480" y="1325880"/>
            <a:ext cx="5669280" cy="3748355"/>
          </a:xfrm>
          <a:prstGeom prst="rect">
            <a:avLst/>
          </a:prstGeom>
        </p:spPr>
      </p:pic>
      <p:sp>
        <p:nvSpPr>
          <p:cNvPr id="9" name="TextBox 8"/>
          <p:cNvSpPr txBox="1"/>
          <p:nvPr/>
        </p:nvSpPr>
        <p:spPr>
          <a:xfrm>
            <a:off x="457200" y="5440680"/>
            <a:ext cx="5577840" cy="685800"/>
          </a:xfrm>
          <a:prstGeom prst="rect">
            <a:avLst/>
          </a:prstGeom>
          <a:noFill/>
        </p:spPr>
        <p:txBody>
          <a:bodyPr wrap="square">
            <a:spAutoFit/>
          </a:bodyPr>
          <a:lstStyle/>
          <a:p>
            <a:pPr algn="l"/>
            <a:r>
              <a:rPr sz="900" b="0" i="0">
                <a:solidFill>
                  <a:srgbClr val="595959"/>
                </a:solidFill>
              </a:rPr>
              <a:t>Each dot is a customer. Across: what their buying history shows. Up: what they told us. The shaded corner holds customers who are still buying normally while saying they are unhappy — the group a behavioural model cannot surface.</a:t>
            </a:r>
          </a:p>
        </p:txBody>
      </p:sp>
      <p:pic>
        <p:nvPicPr>
          <p:cNvPr id="10" name="Picture 9" descr="jev_chart_2_intent_vs_severity.png"/>
          <p:cNvPicPr>
            <a:picLocks noChangeAspect="1"/>
          </p:cNvPicPr>
          <p:nvPr/>
        </p:nvPicPr>
        <p:blipFill>
          <a:blip r:embed="rId3"/>
          <a:stretch>
            <a:fillRect/>
          </a:stretch>
        </p:blipFill>
        <p:spPr>
          <a:xfrm>
            <a:off x="6281928" y="1325880"/>
            <a:ext cx="5669280" cy="3190551"/>
          </a:xfrm>
          <a:prstGeom prst="rect">
            <a:avLst/>
          </a:prstGeom>
        </p:spPr>
      </p:pic>
      <p:sp>
        <p:nvSpPr>
          <p:cNvPr id="11" name="TextBox 10"/>
          <p:cNvSpPr txBox="1"/>
          <p:nvPr/>
        </p:nvSpPr>
        <p:spPr>
          <a:xfrm>
            <a:off x="6327648" y="5440680"/>
            <a:ext cx="5577840" cy="685800"/>
          </a:xfrm>
          <a:prstGeom prst="rect">
            <a:avLst/>
          </a:prstGeom>
          <a:noFill/>
        </p:spPr>
        <p:txBody>
          <a:bodyPr wrap="square">
            <a:spAutoFit/>
          </a:bodyPr>
          <a:lstStyle/>
          <a:p>
            <a:pPr algn="l"/>
            <a:r>
              <a:rPr sz="900" b="0" i="0">
                <a:solidFill>
                  <a:srgbClr val="595959"/>
                </a:solidFill>
              </a:rPr>
              <a:t>The two questions do not move together. An unresolved failure scores near the top on severity and near the bottom on intent to leave: those customers are complaining to us, not walking away. Treating the two as one number hides both.</a:t>
            </a:r>
          </a:p>
        </p:txBody>
      </p:sp>
      <p:sp>
        <p:nvSpPr>
          <p:cNvPr id="12" name="TextBox 11"/>
          <p:cNvSpPr txBox="1"/>
          <p:nvPr/>
        </p:nvSpPr>
        <p:spPr>
          <a:xfrm>
            <a:off x="411480" y="6327648"/>
            <a:ext cx="11430000" cy="228600"/>
          </a:xfrm>
          <a:prstGeom prst="rect">
            <a:avLst/>
          </a:prstGeom>
          <a:noFill/>
        </p:spPr>
        <p:txBody>
          <a:bodyPr wrap="square">
            <a:spAutoFit/>
          </a:bodyPr>
          <a:lstStyle/>
          <a:p>
            <a:pPr algn="l"/>
            <a:r>
              <a:rPr sz="650" b="0" i="1">
                <a:solidFill>
                  <a:srgbClr val="595959"/>
                </a:solidFill>
              </a:rPr>
              <a:t>Customer messages in this analysis are illustrative sample text, generated to demonstrate the method. Replace with real support and survey data before acting on named accounts.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What It Found, and How Sure It Was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The reasons behind the numbers, and where the model declined to commit</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10</a:t>
            </a:r>
          </a:p>
        </p:txBody>
      </p:sp>
      <p:pic>
        <p:nvPicPr>
          <p:cNvPr id="8" name="Picture 7" descr="jev_chart_3_drivers.png"/>
          <p:cNvPicPr>
            <a:picLocks noChangeAspect="1"/>
          </p:cNvPicPr>
          <p:nvPr/>
        </p:nvPicPr>
        <p:blipFill>
          <a:blip r:embed="rId2"/>
          <a:stretch>
            <a:fillRect/>
          </a:stretch>
        </p:blipFill>
        <p:spPr>
          <a:xfrm>
            <a:off x="411480" y="1325880"/>
            <a:ext cx="5669280" cy="3246874"/>
          </a:xfrm>
          <a:prstGeom prst="rect">
            <a:avLst/>
          </a:prstGeom>
        </p:spPr>
      </p:pic>
      <p:sp>
        <p:nvSpPr>
          <p:cNvPr id="9" name="TextBox 8"/>
          <p:cNvSpPr txBox="1"/>
          <p:nvPr/>
        </p:nvSpPr>
        <p:spPr>
          <a:xfrm>
            <a:off x="457200" y="5440680"/>
            <a:ext cx="5577840" cy="685800"/>
          </a:xfrm>
          <a:prstGeom prst="rect">
            <a:avLst/>
          </a:prstGeom>
          <a:noFill/>
        </p:spPr>
        <p:txBody>
          <a:bodyPr wrap="square">
            <a:spAutoFit/>
          </a:bodyPr>
          <a:lstStyle/>
          <a:p>
            <a:pPr algn="l"/>
            <a:r>
              <a:rPr sz="900" b="0" i="0">
                <a:solidFill>
                  <a:srgbClr val="595959"/>
                </a:solidFill>
              </a:rPr>
              <a:t>Each message was sorted into a single dominant reason. Just over a third raised no issue at all, which is itself useful: it separates the genuinely content from the merely quiet.</a:t>
            </a:r>
          </a:p>
        </p:txBody>
      </p:sp>
      <p:pic>
        <p:nvPicPr>
          <p:cNvPr id="10" name="Picture 9" descr="jev_chart_4_confidence.png"/>
          <p:cNvPicPr>
            <a:picLocks noChangeAspect="1"/>
          </p:cNvPicPr>
          <p:nvPr/>
        </p:nvPicPr>
        <p:blipFill>
          <a:blip r:embed="rId3"/>
          <a:stretch>
            <a:fillRect/>
          </a:stretch>
        </p:blipFill>
        <p:spPr>
          <a:xfrm>
            <a:off x="6281928" y="1325880"/>
            <a:ext cx="5669280" cy="3242624"/>
          </a:xfrm>
          <a:prstGeom prst="rect">
            <a:avLst/>
          </a:prstGeom>
        </p:spPr>
      </p:pic>
      <p:sp>
        <p:nvSpPr>
          <p:cNvPr id="11" name="TextBox 10"/>
          <p:cNvSpPr txBox="1"/>
          <p:nvPr/>
        </p:nvSpPr>
        <p:spPr>
          <a:xfrm>
            <a:off x="6327648" y="5440680"/>
            <a:ext cx="5577840" cy="685800"/>
          </a:xfrm>
          <a:prstGeom prst="rect">
            <a:avLst/>
          </a:prstGeom>
          <a:noFill/>
        </p:spPr>
        <p:txBody>
          <a:bodyPr wrap="square">
            <a:spAutoFit/>
          </a:bodyPr>
          <a:lstStyle/>
          <a:p>
            <a:pPr algn="l"/>
            <a:r>
              <a:rPr sz="900" b="0" i="0">
                <a:solidFill>
                  <a:srgbClr val="595959"/>
                </a:solidFill>
              </a:rPr>
              <a:t>The model reports its own certainty. Where one play was clearly right it says so; where several were defensible it does not pretend otherwise, and those go to an analyst rather than onto a recommendation slide.</a:t>
            </a:r>
          </a:p>
        </p:txBody>
      </p:sp>
      <p:sp>
        <p:nvSpPr>
          <p:cNvPr id="12" name="TextBox 11"/>
          <p:cNvSpPr txBox="1"/>
          <p:nvPr/>
        </p:nvSpPr>
        <p:spPr>
          <a:xfrm>
            <a:off x="411480" y="6327648"/>
            <a:ext cx="11430000" cy="228600"/>
          </a:xfrm>
          <a:prstGeom prst="rect">
            <a:avLst/>
          </a:prstGeom>
          <a:noFill/>
        </p:spPr>
        <p:txBody>
          <a:bodyPr wrap="square">
            <a:spAutoFit/>
          </a:bodyPr>
          <a:lstStyle/>
          <a:p>
            <a:pPr algn="l"/>
            <a:r>
              <a:rPr sz="650" b="0" i="1">
                <a:solidFill>
                  <a:srgbClr val="595959"/>
                </a:solidFill>
              </a:rPr>
              <a:t>Customer messages in this analysis are illustrative sample text, generated to demonstrate the method. Replace with real support and survey data before acting on named accounts.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Strategic Recommendations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Plays selected against current data, highest portfolio value first</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11</a:t>
            </a:r>
          </a:p>
        </p:txBody>
      </p:sp>
      <p:sp>
        <p:nvSpPr>
          <p:cNvPr id="8" name="Rectangle 7"/>
          <p:cNvSpPr/>
          <p:nvPr/>
        </p:nvSpPr>
        <p:spPr>
          <a:xfrm>
            <a:off x="365760" y="1143000"/>
            <a:ext cx="5486400"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43000"/>
            <a:ext cx="73152" cy="2423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16152"/>
            <a:ext cx="1371600" cy="274320"/>
          </a:xfrm>
          <a:prstGeom prst="rect">
            <a:avLst/>
          </a:prstGeom>
          <a:noFill/>
        </p:spPr>
        <p:txBody>
          <a:bodyPr wrap="square">
            <a:spAutoFit/>
          </a:bodyPr>
          <a:lstStyle/>
          <a:p>
            <a:pPr algn="l"/>
            <a:r>
              <a:rPr sz="800" b="1" i="0">
                <a:solidFill>
                  <a:srgbClr val="0070C0"/>
                </a:solidFill>
              </a:rPr>
              <a:t>DEFEND  ·  CHAMPIONS</a:t>
            </a:r>
          </a:p>
        </p:txBody>
      </p:sp>
      <p:sp>
        <p:nvSpPr>
          <p:cNvPr id="11" name="TextBox 10"/>
          <p:cNvSpPr txBox="1"/>
          <p:nvPr/>
        </p:nvSpPr>
        <p:spPr>
          <a:xfrm>
            <a:off x="594360" y="1490472"/>
            <a:ext cx="5029200" cy="320040"/>
          </a:xfrm>
          <a:prstGeom prst="rect">
            <a:avLst/>
          </a:prstGeom>
          <a:noFill/>
        </p:spPr>
        <p:txBody>
          <a:bodyPr wrap="square">
            <a:spAutoFit/>
          </a:bodyPr>
          <a:lstStyle/>
          <a:p>
            <a:pPr algn="l"/>
            <a:r>
              <a:rPr sz="1050" b="1" i="0">
                <a:solidFill>
                  <a:srgbClr val="1A1A1A"/>
                </a:solidFill>
              </a:rPr>
              <a:t>Formalise a VIP tier</a:t>
            </a:r>
          </a:p>
        </p:txBody>
      </p:sp>
      <p:sp>
        <p:nvSpPr>
          <p:cNvPr id="12" name="TextBox 11"/>
          <p:cNvSpPr txBox="1"/>
          <p:nvPr/>
        </p:nvSpPr>
        <p:spPr>
          <a:xfrm>
            <a:off x="594360" y="1892807"/>
            <a:ext cx="5074920" cy="347472"/>
          </a:xfrm>
          <a:prstGeom prst="rect">
            <a:avLst/>
          </a:prstGeom>
          <a:noFill/>
        </p:spPr>
        <p:txBody>
          <a:bodyPr wrap="square">
            <a:spAutoFit/>
          </a:bodyPr>
          <a:lstStyle/>
          <a:p>
            <a:pPr algn="l"/>
            <a:r>
              <a:rPr sz="850" b="0" i="0">
                <a:solidFill>
                  <a:srgbClr val="595959"/>
                </a:solidFill>
              </a:rPr>
              <a:t>–  Dedicated contact, early access, exclusive pricing tier</a:t>
            </a:r>
          </a:p>
        </p:txBody>
      </p:sp>
      <p:sp>
        <p:nvSpPr>
          <p:cNvPr id="13" name="TextBox 12"/>
          <p:cNvSpPr txBox="1"/>
          <p:nvPr/>
        </p:nvSpPr>
        <p:spPr>
          <a:xfrm>
            <a:off x="594360" y="2276856"/>
            <a:ext cx="5074920" cy="347472"/>
          </a:xfrm>
          <a:prstGeom prst="rect">
            <a:avLst/>
          </a:prstGeom>
          <a:noFill/>
        </p:spPr>
        <p:txBody>
          <a:bodyPr wrap="square">
            <a:spAutoFit/>
          </a:bodyPr>
          <a:lstStyle/>
          <a:p>
            <a:pPr algn="l"/>
            <a:r>
              <a:rPr sz="850" b="0" i="0">
                <a:solidFill>
                  <a:srgbClr val="595959"/>
                </a:solidFill>
              </a:rPr>
              <a:t>–  7 customers  ·  $9,882 CLV  ·  Account management  ·  cost: High</a:t>
            </a:r>
          </a:p>
        </p:txBody>
      </p:sp>
      <p:sp>
        <p:nvSpPr>
          <p:cNvPr id="14" name="TextBox 13"/>
          <p:cNvSpPr txBox="1"/>
          <p:nvPr/>
        </p:nvSpPr>
        <p:spPr>
          <a:xfrm>
            <a:off x="594360" y="2660903"/>
            <a:ext cx="5074920" cy="347472"/>
          </a:xfrm>
          <a:prstGeom prst="rect">
            <a:avLst/>
          </a:prstGeom>
          <a:noFill/>
        </p:spPr>
        <p:txBody>
          <a:bodyPr wrap="square">
            <a:spAutoFit/>
          </a:bodyPr>
          <a:lstStyle/>
          <a:p>
            <a:pPr algn="l"/>
            <a:r>
              <a:rPr sz="850" b="0" i="0">
                <a:solidFill>
                  <a:srgbClr val="595959"/>
                </a:solidFill>
              </a:rPr>
              <a:t>–  Urgency 0.2 of 3  ·  No urgency</a:t>
            </a:r>
          </a:p>
        </p:txBody>
      </p:sp>
      <p:sp>
        <p:nvSpPr>
          <p:cNvPr id="15" name="TextBox 14"/>
          <p:cNvSpPr txBox="1"/>
          <p:nvPr/>
        </p:nvSpPr>
        <p:spPr>
          <a:xfrm>
            <a:off x="594360" y="3044952"/>
            <a:ext cx="5074920" cy="347472"/>
          </a:xfrm>
          <a:prstGeom prst="rect">
            <a:avLst/>
          </a:prstGeom>
          <a:noFill/>
        </p:spPr>
        <p:txBody>
          <a:bodyPr wrap="square">
            <a:spAutoFit/>
          </a:bodyPr>
          <a:lstStyle/>
          <a:p>
            <a:pPr algn="l"/>
            <a:r>
              <a:rPr sz="850" b="0" i="0">
                <a:solidFill>
                  <a:srgbClr val="595959"/>
                </a:solidFill>
              </a:rPr>
              <a:t>–  Selected with 0.64 confidence</a:t>
            </a:r>
          </a:p>
        </p:txBody>
      </p:sp>
      <p:sp>
        <p:nvSpPr>
          <p:cNvPr id="16" name="Rectangle 15"/>
          <p:cNvSpPr/>
          <p:nvPr/>
        </p:nvSpPr>
        <p:spPr>
          <a:xfrm>
            <a:off x="6126480" y="1143000"/>
            <a:ext cx="5486400"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143000"/>
            <a:ext cx="73152" cy="2423160"/>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216152"/>
            <a:ext cx="1371600" cy="274320"/>
          </a:xfrm>
          <a:prstGeom prst="rect">
            <a:avLst/>
          </a:prstGeom>
          <a:noFill/>
        </p:spPr>
        <p:txBody>
          <a:bodyPr wrap="square">
            <a:spAutoFit/>
          </a:bodyPr>
          <a:lstStyle/>
          <a:p>
            <a:pPr algn="l"/>
            <a:r>
              <a:rPr sz="800" b="1" i="0">
                <a:solidFill>
                  <a:srgbClr val="007050"/>
                </a:solidFill>
              </a:rPr>
              <a:t>GROW  ·  POTENTIAL LOYALIST</a:t>
            </a:r>
          </a:p>
        </p:txBody>
      </p:sp>
      <p:sp>
        <p:nvSpPr>
          <p:cNvPr id="19" name="TextBox 18"/>
          <p:cNvSpPr txBox="1"/>
          <p:nvPr/>
        </p:nvSpPr>
        <p:spPr>
          <a:xfrm>
            <a:off x="6355080" y="1490472"/>
            <a:ext cx="5029200" cy="320040"/>
          </a:xfrm>
          <a:prstGeom prst="rect">
            <a:avLst/>
          </a:prstGeom>
          <a:noFill/>
        </p:spPr>
        <p:txBody>
          <a:bodyPr wrap="square">
            <a:spAutoFit/>
          </a:bodyPr>
          <a:lstStyle/>
          <a:p>
            <a:pPr algn="l"/>
            <a:r>
              <a:rPr sz="1050" b="1" i="0">
                <a:solidFill>
                  <a:srgbClr val="1A1A1A"/>
                </a:solidFill>
              </a:rPr>
              <a:t>Onboard into the loyalty programme</a:t>
            </a:r>
          </a:p>
        </p:txBody>
      </p:sp>
      <p:sp>
        <p:nvSpPr>
          <p:cNvPr id="20" name="TextBox 19"/>
          <p:cNvSpPr txBox="1"/>
          <p:nvPr/>
        </p:nvSpPr>
        <p:spPr>
          <a:xfrm>
            <a:off x="6355080" y="1892807"/>
            <a:ext cx="5074920" cy="347472"/>
          </a:xfrm>
          <a:prstGeom prst="rect">
            <a:avLst/>
          </a:prstGeom>
          <a:noFill/>
        </p:spPr>
        <p:txBody>
          <a:bodyPr wrap="square">
            <a:spAutoFit/>
          </a:bodyPr>
          <a:lstStyle/>
          <a:p>
            <a:pPr algn="l"/>
            <a:r>
              <a:rPr sz="850" b="0" i="0">
                <a:solidFill>
                  <a:srgbClr val="595959"/>
                </a:solidFill>
              </a:rPr>
              <a:t>–  Structured nurture sequence into the loyalty programme</a:t>
            </a:r>
          </a:p>
        </p:txBody>
      </p:sp>
      <p:sp>
        <p:nvSpPr>
          <p:cNvPr id="21" name="TextBox 20"/>
          <p:cNvSpPr txBox="1"/>
          <p:nvPr/>
        </p:nvSpPr>
        <p:spPr>
          <a:xfrm>
            <a:off x="6355080" y="2276856"/>
            <a:ext cx="5074920" cy="347472"/>
          </a:xfrm>
          <a:prstGeom prst="rect">
            <a:avLst/>
          </a:prstGeom>
          <a:noFill/>
        </p:spPr>
        <p:txBody>
          <a:bodyPr wrap="square">
            <a:spAutoFit/>
          </a:bodyPr>
          <a:lstStyle/>
          <a:p>
            <a:pPr algn="l"/>
            <a:r>
              <a:rPr sz="850" b="0" i="0">
                <a:solidFill>
                  <a:srgbClr val="595959"/>
                </a:solidFill>
              </a:rPr>
              <a:t>–  15 customers  ·  $8,992 CLV  ·  Email campaign  ·  cost: Low</a:t>
            </a:r>
          </a:p>
        </p:txBody>
      </p:sp>
      <p:sp>
        <p:nvSpPr>
          <p:cNvPr id="22" name="TextBox 21"/>
          <p:cNvSpPr txBox="1"/>
          <p:nvPr/>
        </p:nvSpPr>
        <p:spPr>
          <a:xfrm>
            <a:off x="6355080" y="2660903"/>
            <a:ext cx="5074920" cy="347472"/>
          </a:xfrm>
          <a:prstGeom prst="rect">
            <a:avLst/>
          </a:prstGeom>
          <a:noFill/>
        </p:spPr>
        <p:txBody>
          <a:bodyPr wrap="square">
            <a:spAutoFit/>
          </a:bodyPr>
          <a:lstStyle/>
          <a:p>
            <a:pPr algn="l"/>
            <a:r>
              <a:rPr sz="850" b="0" i="0">
                <a:solidFill>
                  <a:srgbClr val="595959"/>
                </a:solidFill>
              </a:rPr>
              <a:t>–  Urgency 0.5 of 3  ·  No urgency</a:t>
            </a:r>
          </a:p>
        </p:txBody>
      </p:sp>
      <p:sp>
        <p:nvSpPr>
          <p:cNvPr id="23" name="TextBox 22"/>
          <p:cNvSpPr txBox="1"/>
          <p:nvPr/>
        </p:nvSpPr>
        <p:spPr>
          <a:xfrm>
            <a:off x="6355080" y="3044952"/>
            <a:ext cx="5074920" cy="347472"/>
          </a:xfrm>
          <a:prstGeom prst="rect">
            <a:avLst/>
          </a:prstGeom>
          <a:noFill/>
        </p:spPr>
        <p:txBody>
          <a:bodyPr wrap="square">
            <a:spAutoFit/>
          </a:bodyPr>
          <a:lstStyle/>
          <a:p>
            <a:pPr algn="l"/>
            <a:r>
              <a:rPr sz="850" b="0" i="0">
                <a:solidFill>
                  <a:srgbClr val="595959"/>
                </a:solidFill>
              </a:rPr>
              <a:t>–  ANALYST REVIEW — confidence 0.45, runner-up was 'vip_programme'</a:t>
            </a:r>
          </a:p>
        </p:txBody>
      </p:sp>
      <p:sp>
        <p:nvSpPr>
          <p:cNvPr id="24" name="Rectangle 23"/>
          <p:cNvSpPr/>
          <p:nvPr/>
        </p:nvSpPr>
        <p:spPr>
          <a:xfrm>
            <a:off x="365760" y="3794760"/>
            <a:ext cx="5486400"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794760"/>
            <a:ext cx="73152" cy="24231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867912"/>
            <a:ext cx="1371600" cy="274320"/>
          </a:xfrm>
          <a:prstGeom prst="rect">
            <a:avLst/>
          </a:prstGeom>
          <a:noFill/>
        </p:spPr>
        <p:txBody>
          <a:bodyPr wrap="square">
            <a:spAutoFit/>
          </a:bodyPr>
          <a:lstStyle/>
          <a:p>
            <a:pPr algn="l"/>
            <a:r>
              <a:rPr sz="800" b="1" i="0">
                <a:solidFill>
                  <a:srgbClr val="0070C0"/>
                </a:solidFill>
              </a:rPr>
              <a:t>DEFEND  ·  LOYAL</a:t>
            </a:r>
          </a:p>
        </p:txBody>
      </p:sp>
      <p:sp>
        <p:nvSpPr>
          <p:cNvPr id="27" name="TextBox 26"/>
          <p:cNvSpPr txBox="1"/>
          <p:nvPr/>
        </p:nvSpPr>
        <p:spPr>
          <a:xfrm>
            <a:off x="594360" y="4142232"/>
            <a:ext cx="5029200" cy="320040"/>
          </a:xfrm>
          <a:prstGeom prst="rect">
            <a:avLst/>
          </a:prstGeom>
          <a:noFill/>
        </p:spPr>
        <p:txBody>
          <a:bodyPr wrap="square">
            <a:spAutoFit/>
          </a:bodyPr>
          <a:lstStyle/>
          <a:p>
            <a:pPr algn="l"/>
            <a:r>
              <a:rPr sz="1050" b="1" i="0">
                <a:solidFill>
                  <a:srgbClr val="1A1A1A"/>
                </a:solidFill>
              </a:rPr>
              <a:t>Run a service recovery</a:t>
            </a:r>
          </a:p>
        </p:txBody>
      </p:sp>
      <p:sp>
        <p:nvSpPr>
          <p:cNvPr id="28" name="TextBox 27"/>
          <p:cNvSpPr txBox="1"/>
          <p:nvPr/>
        </p:nvSpPr>
        <p:spPr>
          <a:xfrm>
            <a:off x="594360" y="4544568"/>
            <a:ext cx="5074920" cy="347472"/>
          </a:xfrm>
          <a:prstGeom prst="rect">
            <a:avLst/>
          </a:prstGeom>
          <a:noFill/>
        </p:spPr>
        <p:txBody>
          <a:bodyPr wrap="square">
            <a:spAutoFit/>
          </a:bodyPr>
          <a:lstStyle/>
          <a:p>
            <a:pPr algn="l"/>
            <a:r>
              <a:rPr sz="850" b="0" i="0">
                <a:solidFill>
                  <a:srgbClr val="595959"/>
                </a:solidFill>
              </a:rPr>
              <a:t>–  Name the failure, fix it, compensate, manager closes the loop</a:t>
            </a:r>
          </a:p>
        </p:txBody>
      </p:sp>
      <p:sp>
        <p:nvSpPr>
          <p:cNvPr id="29" name="TextBox 28"/>
          <p:cNvSpPr txBox="1"/>
          <p:nvPr/>
        </p:nvSpPr>
        <p:spPr>
          <a:xfrm>
            <a:off x="594360" y="4928616"/>
            <a:ext cx="5074920" cy="347472"/>
          </a:xfrm>
          <a:prstGeom prst="rect">
            <a:avLst/>
          </a:prstGeom>
          <a:noFill/>
        </p:spPr>
        <p:txBody>
          <a:bodyPr wrap="square">
            <a:spAutoFit/>
          </a:bodyPr>
          <a:lstStyle/>
          <a:p>
            <a:pPr algn="l"/>
            <a:r>
              <a:rPr sz="850" b="0" i="0">
                <a:solidFill>
                  <a:srgbClr val="595959"/>
                </a:solidFill>
              </a:rPr>
              <a:t>–  8 customers  ·  $6,655 CLV  ·  Human — manager  ·  cost: Medium</a:t>
            </a:r>
          </a:p>
        </p:txBody>
      </p:sp>
      <p:sp>
        <p:nvSpPr>
          <p:cNvPr id="30" name="TextBox 29"/>
          <p:cNvSpPr txBox="1"/>
          <p:nvPr/>
        </p:nvSpPr>
        <p:spPr>
          <a:xfrm>
            <a:off x="594360" y="5312664"/>
            <a:ext cx="5074920" cy="347472"/>
          </a:xfrm>
          <a:prstGeom prst="rect">
            <a:avLst/>
          </a:prstGeom>
          <a:noFill/>
        </p:spPr>
        <p:txBody>
          <a:bodyPr wrap="square">
            <a:spAutoFit/>
          </a:bodyPr>
          <a:lstStyle/>
          <a:p>
            <a:pPr algn="l"/>
            <a:r>
              <a:rPr sz="850" b="0" i="0">
                <a:solidFill>
                  <a:srgbClr val="595959"/>
                </a:solidFill>
              </a:rPr>
              <a:t>–  Urgency 0.6 of 3  ·  Worth planning</a:t>
            </a:r>
          </a:p>
        </p:txBody>
      </p:sp>
      <p:sp>
        <p:nvSpPr>
          <p:cNvPr id="31" name="TextBox 30"/>
          <p:cNvSpPr txBox="1"/>
          <p:nvPr/>
        </p:nvSpPr>
        <p:spPr>
          <a:xfrm>
            <a:off x="594360" y="5696712"/>
            <a:ext cx="5074920" cy="347472"/>
          </a:xfrm>
          <a:prstGeom prst="rect">
            <a:avLst/>
          </a:prstGeom>
          <a:noFill/>
        </p:spPr>
        <p:txBody>
          <a:bodyPr wrap="square">
            <a:spAutoFit/>
          </a:bodyPr>
          <a:lstStyle/>
          <a:p>
            <a:pPr algn="l"/>
            <a:r>
              <a:rPr sz="850" b="0" i="0">
                <a:solidFill>
                  <a:srgbClr val="595959"/>
                </a:solidFill>
              </a:rPr>
              <a:t>–  ANALYST REVIEW — confidence 0.49, runner-up was 'vip_programme'</a:t>
            </a:r>
          </a:p>
        </p:txBody>
      </p:sp>
      <p:sp>
        <p:nvSpPr>
          <p:cNvPr id="32" name="Rectangle 31"/>
          <p:cNvSpPr/>
          <p:nvPr/>
        </p:nvSpPr>
        <p:spPr>
          <a:xfrm>
            <a:off x="6126480" y="3794760"/>
            <a:ext cx="5486400" cy="2423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3794760"/>
            <a:ext cx="73152" cy="24231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3867912"/>
            <a:ext cx="1371600" cy="274320"/>
          </a:xfrm>
          <a:prstGeom prst="rect">
            <a:avLst/>
          </a:prstGeom>
          <a:noFill/>
        </p:spPr>
        <p:txBody>
          <a:bodyPr wrap="square">
            <a:spAutoFit/>
          </a:bodyPr>
          <a:lstStyle/>
          <a:p>
            <a:pPr algn="l"/>
            <a:r>
              <a:rPr sz="800" b="1" i="0">
                <a:solidFill>
                  <a:srgbClr val="C00000"/>
                </a:solidFill>
              </a:rPr>
              <a:t>RECOVER  ·  HIBERNATING</a:t>
            </a:r>
          </a:p>
        </p:txBody>
      </p:sp>
      <p:sp>
        <p:nvSpPr>
          <p:cNvPr id="35" name="TextBox 34"/>
          <p:cNvSpPr txBox="1"/>
          <p:nvPr/>
        </p:nvSpPr>
        <p:spPr>
          <a:xfrm>
            <a:off x="6355080" y="4142232"/>
            <a:ext cx="5029200" cy="320040"/>
          </a:xfrm>
          <a:prstGeom prst="rect">
            <a:avLst/>
          </a:prstGeom>
          <a:noFill/>
        </p:spPr>
        <p:txBody>
          <a:bodyPr wrap="square">
            <a:spAutoFit/>
          </a:bodyPr>
          <a:lstStyle/>
          <a:p>
            <a:pPr algn="l"/>
            <a:r>
              <a:rPr sz="1050" b="1" i="0">
                <a:solidFill>
                  <a:srgbClr val="1A1A1A"/>
                </a:solidFill>
              </a:rPr>
              <a:t>Time-boxed win-back</a:t>
            </a:r>
          </a:p>
        </p:txBody>
      </p:sp>
      <p:sp>
        <p:nvSpPr>
          <p:cNvPr id="36" name="TextBox 35"/>
          <p:cNvSpPr txBox="1"/>
          <p:nvPr/>
        </p:nvSpPr>
        <p:spPr>
          <a:xfrm>
            <a:off x="6355080" y="4544568"/>
            <a:ext cx="5074920" cy="347472"/>
          </a:xfrm>
          <a:prstGeom prst="rect">
            <a:avLst/>
          </a:prstGeom>
          <a:noFill/>
        </p:spPr>
        <p:txBody>
          <a:bodyPr wrap="square">
            <a:spAutoFit/>
          </a:bodyPr>
          <a:lstStyle/>
          <a:p>
            <a:pPr algn="l"/>
            <a:r>
              <a:rPr sz="850" b="0" i="0">
                <a:solidFill>
                  <a:srgbClr val="595959"/>
                </a:solidFill>
              </a:rPr>
              <a:t>–  Expiring reactivation offer, with a measured control group</a:t>
            </a:r>
          </a:p>
        </p:txBody>
      </p:sp>
      <p:sp>
        <p:nvSpPr>
          <p:cNvPr id="37" name="TextBox 36"/>
          <p:cNvSpPr txBox="1"/>
          <p:nvPr/>
        </p:nvSpPr>
        <p:spPr>
          <a:xfrm>
            <a:off x="6355080" y="4928616"/>
            <a:ext cx="5074920" cy="347472"/>
          </a:xfrm>
          <a:prstGeom prst="rect">
            <a:avLst/>
          </a:prstGeom>
          <a:noFill/>
        </p:spPr>
        <p:txBody>
          <a:bodyPr wrap="square">
            <a:spAutoFit/>
          </a:bodyPr>
          <a:lstStyle/>
          <a:p>
            <a:pPr algn="l"/>
            <a:r>
              <a:rPr sz="850" b="0" i="0">
                <a:solidFill>
                  <a:srgbClr val="595959"/>
                </a:solidFill>
              </a:rPr>
              <a:t>–  20 customers  ·  $3,842 CLV  ·  Email campaign  ·  cost: Medium</a:t>
            </a:r>
          </a:p>
        </p:txBody>
      </p:sp>
      <p:sp>
        <p:nvSpPr>
          <p:cNvPr id="38" name="TextBox 37"/>
          <p:cNvSpPr txBox="1"/>
          <p:nvPr/>
        </p:nvSpPr>
        <p:spPr>
          <a:xfrm>
            <a:off x="6355080" y="5312664"/>
            <a:ext cx="5074920" cy="347472"/>
          </a:xfrm>
          <a:prstGeom prst="rect">
            <a:avLst/>
          </a:prstGeom>
          <a:noFill/>
        </p:spPr>
        <p:txBody>
          <a:bodyPr wrap="square">
            <a:spAutoFit/>
          </a:bodyPr>
          <a:lstStyle/>
          <a:p>
            <a:pPr algn="l"/>
            <a:r>
              <a:rPr sz="850" b="0" i="0">
                <a:solidFill>
                  <a:srgbClr val="595959"/>
                </a:solidFill>
              </a:rPr>
              <a:t>–  Urgency 1.9 of 3  ·  Act this month</a:t>
            </a:r>
          </a:p>
        </p:txBody>
      </p:sp>
      <p:sp>
        <p:nvSpPr>
          <p:cNvPr id="39" name="TextBox 38"/>
          <p:cNvSpPr txBox="1"/>
          <p:nvPr/>
        </p:nvSpPr>
        <p:spPr>
          <a:xfrm>
            <a:off x="6355080" y="5696712"/>
            <a:ext cx="5074920" cy="347472"/>
          </a:xfrm>
          <a:prstGeom prst="rect">
            <a:avLst/>
          </a:prstGeom>
          <a:noFill/>
        </p:spPr>
        <p:txBody>
          <a:bodyPr wrap="square">
            <a:spAutoFit/>
          </a:bodyPr>
          <a:lstStyle/>
          <a:p>
            <a:pPr algn="l"/>
            <a:r>
              <a:rPr sz="850" b="0" i="0">
                <a:solidFill>
                  <a:srgbClr val="595959"/>
                </a:solidFill>
              </a:rPr>
              <a:t>–  Selected with 1.00 confidence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Next Steps</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Proposed 90-day roadmap to operationalise findings</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12</a:t>
            </a:r>
          </a:p>
        </p:txBody>
      </p:sp>
      <p:sp>
        <p:nvSpPr>
          <p:cNvPr id="8" name="Rectangle 7"/>
          <p:cNvSpPr/>
          <p:nvPr/>
        </p:nvSpPr>
        <p:spPr>
          <a:xfrm>
            <a:off x="365760" y="1143000"/>
            <a:ext cx="361188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43000"/>
            <a:ext cx="3611880" cy="640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298448"/>
            <a:ext cx="3200400" cy="548640"/>
          </a:xfrm>
          <a:prstGeom prst="rect">
            <a:avLst/>
          </a:prstGeom>
          <a:noFill/>
        </p:spPr>
        <p:txBody>
          <a:bodyPr wrap="square">
            <a:spAutoFit/>
          </a:bodyPr>
          <a:lstStyle/>
          <a:p>
            <a:pPr algn="l"/>
            <a:r>
              <a:rPr sz="1100" b="1" i="0">
                <a:solidFill>
                  <a:srgbClr val="0070C0"/>
                </a:solidFill>
              </a:rPr>
              <a:t>Days 1–30
Foundation</a:t>
            </a:r>
          </a:p>
        </p:txBody>
      </p:sp>
      <p:sp>
        <p:nvSpPr>
          <p:cNvPr id="11" name="Rectangle 10"/>
          <p:cNvSpPr/>
          <p:nvPr/>
        </p:nvSpPr>
        <p:spPr>
          <a:xfrm>
            <a:off x="548640" y="2011680"/>
            <a:ext cx="201168" cy="20116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84248"/>
            <a:ext cx="2926080" cy="548640"/>
          </a:xfrm>
          <a:prstGeom prst="rect">
            <a:avLst/>
          </a:prstGeom>
          <a:noFill/>
        </p:spPr>
        <p:txBody>
          <a:bodyPr wrap="square">
            <a:spAutoFit/>
          </a:bodyPr>
          <a:lstStyle/>
          <a:p>
            <a:pPr algn="l"/>
            <a:r>
              <a:rPr sz="900" b="0" i="0">
                <a:solidFill>
                  <a:srgbClr val="1A1A1A"/>
                </a:solidFill>
              </a:rPr>
              <a:t>Validate RFM scores against CRM and transaction data</a:t>
            </a:r>
          </a:p>
        </p:txBody>
      </p:sp>
      <p:sp>
        <p:nvSpPr>
          <p:cNvPr id="13" name="Rectangle 12"/>
          <p:cNvSpPr/>
          <p:nvPr/>
        </p:nvSpPr>
        <p:spPr>
          <a:xfrm>
            <a:off x="548640" y="2816352"/>
            <a:ext cx="201168" cy="20116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88920"/>
            <a:ext cx="2926080" cy="548640"/>
          </a:xfrm>
          <a:prstGeom prst="rect">
            <a:avLst/>
          </a:prstGeom>
          <a:noFill/>
        </p:spPr>
        <p:txBody>
          <a:bodyPr wrap="square">
            <a:spAutoFit/>
          </a:bodyPr>
          <a:lstStyle/>
          <a:p>
            <a:pPr algn="l"/>
            <a:r>
              <a:rPr sz="900" b="0" i="0">
                <a:solidFill>
                  <a:srgbClr val="1A1A1A"/>
                </a:solidFill>
              </a:rPr>
              <a:t>Socialise segmentation with Marketing, CRM, and Analytics teams</a:t>
            </a:r>
          </a:p>
        </p:txBody>
      </p:sp>
      <p:sp>
        <p:nvSpPr>
          <p:cNvPr id="15" name="Rectangle 14"/>
          <p:cNvSpPr/>
          <p:nvPr/>
        </p:nvSpPr>
        <p:spPr>
          <a:xfrm>
            <a:off x="548640" y="3621024"/>
            <a:ext cx="201168" cy="20116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93591"/>
            <a:ext cx="2926080" cy="548640"/>
          </a:xfrm>
          <a:prstGeom prst="rect">
            <a:avLst/>
          </a:prstGeom>
          <a:noFill/>
        </p:spPr>
        <p:txBody>
          <a:bodyPr wrap="square">
            <a:spAutoFit/>
          </a:bodyPr>
          <a:lstStyle/>
          <a:p>
            <a:pPr algn="l"/>
            <a:r>
              <a:rPr sz="900" b="0" i="0">
                <a:solidFill>
                  <a:srgbClr val="1A1A1A"/>
                </a:solidFill>
              </a:rPr>
              <a:t>Define success metrics and baseline KPIs per segment</a:t>
            </a:r>
          </a:p>
        </p:txBody>
      </p:sp>
      <p:sp>
        <p:nvSpPr>
          <p:cNvPr id="17" name="Rectangle 16"/>
          <p:cNvSpPr/>
          <p:nvPr/>
        </p:nvSpPr>
        <p:spPr>
          <a:xfrm>
            <a:off x="548640" y="4425696"/>
            <a:ext cx="201168" cy="20116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398264"/>
            <a:ext cx="2926080" cy="548640"/>
          </a:xfrm>
          <a:prstGeom prst="rect">
            <a:avLst/>
          </a:prstGeom>
          <a:noFill/>
        </p:spPr>
        <p:txBody>
          <a:bodyPr wrap="square">
            <a:spAutoFit/>
          </a:bodyPr>
          <a:lstStyle/>
          <a:p>
            <a:pPr algn="l"/>
            <a:r>
              <a:rPr sz="900" b="0" i="0">
                <a:solidFill>
                  <a:srgbClr val="1A1A1A"/>
                </a:solidFill>
              </a:rPr>
              <a:t>Brief CRM team on Champions &amp; Loyal VIP programme design</a:t>
            </a:r>
          </a:p>
        </p:txBody>
      </p:sp>
      <p:sp>
        <p:nvSpPr>
          <p:cNvPr id="19" name="Rectangle 18"/>
          <p:cNvSpPr/>
          <p:nvPr/>
        </p:nvSpPr>
        <p:spPr>
          <a:xfrm>
            <a:off x="4206240" y="1143000"/>
            <a:ext cx="361188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0" y="1143000"/>
            <a:ext cx="3611880" cy="6400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298448"/>
            <a:ext cx="3200400" cy="548640"/>
          </a:xfrm>
          <a:prstGeom prst="rect">
            <a:avLst/>
          </a:prstGeom>
          <a:noFill/>
        </p:spPr>
        <p:txBody>
          <a:bodyPr wrap="square">
            <a:spAutoFit/>
          </a:bodyPr>
          <a:lstStyle/>
          <a:p>
            <a:pPr algn="l"/>
            <a:r>
              <a:rPr sz="1100" b="1" i="0">
                <a:solidFill>
                  <a:srgbClr val="003366"/>
                </a:solidFill>
              </a:rPr>
              <a:t>Days 31–60
Activation</a:t>
            </a:r>
          </a:p>
        </p:txBody>
      </p:sp>
      <p:sp>
        <p:nvSpPr>
          <p:cNvPr id="22" name="Rectangle 21"/>
          <p:cNvSpPr/>
          <p:nvPr/>
        </p:nvSpPr>
        <p:spPr>
          <a:xfrm>
            <a:off x="4389120" y="2011680"/>
            <a:ext cx="201168" cy="2011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1984248"/>
            <a:ext cx="2926080" cy="548640"/>
          </a:xfrm>
          <a:prstGeom prst="rect">
            <a:avLst/>
          </a:prstGeom>
          <a:noFill/>
        </p:spPr>
        <p:txBody>
          <a:bodyPr wrap="square">
            <a:spAutoFit/>
          </a:bodyPr>
          <a:lstStyle/>
          <a:p>
            <a:pPr algn="l"/>
            <a:r>
              <a:rPr sz="900" b="0" i="0">
                <a:solidFill>
                  <a:srgbClr val="1A1A1A"/>
                </a:solidFill>
              </a:rPr>
              <a:t>Launch Hibernating win-back email sequence (test vs. control)</a:t>
            </a:r>
          </a:p>
        </p:txBody>
      </p:sp>
      <p:sp>
        <p:nvSpPr>
          <p:cNvPr id="24" name="Rectangle 23"/>
          <p:cNvSpPr/>
          <p:nvPr/>
        </p:nvSpPr>
        <p:spPr>
          <a:xfrm>
            <a:off x="4389120" y="2816352"/>
            <a:ext cx="201168" cy="2011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60" y="2788920"/>
            <a:ext cx="2926080" cy="548640"/>
          </a:xfrm>
          <a:prstGeom prst="rect">
            <a:avLst/>
          </a:prstGeom>
          <a:noFill/>
        </p:spPr>
        <p:txBody>
          <a:bodyPr wrap="square">
            <a:spAutoFit/>
          </a:bodyPr>
          <a:lstStyle/>
          <a:p>
            <a:pPr algn="l"/>
            <a:r>
              <a:rPr sz="900" b="0" i="0">
                <a:solidFill>
                  <a:srgbClr val="1A1A1A"/>
                </a:solidFill>
              </a:rPr>
              <a:t>Deploy second-purchase incentive to New Customer cohort</a:t>
            </a:r>
          </a:p>
        </p:txBody>
      </p:sp>
      <p:sp>
        <p:nvSpPr>
          <p:cNvPr id="26" name="Rectangle 25"/>
          <p:cNvSpPr/>
          <p:nvPr/>
        </p:nvSpPr>
        <p:spPr>
          <a:xfrm>
            <a:off x="4389120" y="3621024"/>
            <a:ext cx="201168" cy="2011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3593591"/>
            <a:ext cx="2926080" cy="548640"/>
          </a:xfrm>
          <a:prstGeom prst="rect">
            <a:avLst/>
          </a:prstGeom>
          <a:noFill/>
        </p:spPr>
        <p:txBody>
          <a:bodyPr wrap="square">
            <a:spAutoFit/>
          </a:bodyPr>
          <a:lstStyle/>
          <a:p>
            <a:pPr algn="l"/>
            <a:r>
              <a:rPr sz="900" b="0" i="0">
                <a:solidFill>
                  <a:srgbClr val="1A1A1A"/>
                </a:solidFill>
              </a:rPr>
              <a:t>Onboard Promising customers into loyalty programme</a:t>
            </a:r>
          </a:p>
        </p:txBody>
      </p:sp>
      <p:sp>
        <p:nvSpPr>
          <p:cNvPr id="28" name="Rectangle 27"/>
          <p:cNvSpPr/>
          <p:nvPr/>
        </p:nvSpPr>
        <p:spPr>
          <a:xfrm>
            <a:off x="4389120" y="4425696"/>
            <a:ext cx="201168" cy="20116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9160" y="4398264"/>
            <a:ext cx="2926080" cy="548640"/>
          </a:xfrm>
          <a:prstGeom prst="rect">
            <a:avLst/>
          </a:prstGeom>
          <a:noFill/>
        </p:spPr>
        <p:txBody>
          <a:bodyPr wrap="square">
            <a:spAutoFit/>
          </a:bodyPr>
          <a:lstStyle/>
          <a:p>
            <a:pPr algn="l"/>
            <a:r>
              <a:rPr sz="900" b="0" i="0">
                <a:solidFill>
                  <a:srgbClr val="1A1A1A"/>
                </a:solidFill>
              </a:rPr>
              <a:t>Set up monthly RFM refresh cadence in data pipeline</a:t>
            </a:r>
          </a:p>
        </p:txBody>
      </p:sp>
      <p:sp>
        <p:nvSpPr>
          <p:cNvPr id="30" name="Rectangle 29"/>
          <p:cNvSpPr/>
          <p:nvPr/>
        </p:nvSpPr>
        <p:spPr>
          <a:xfrm>
            <a:off x="8046720" y="1143000"/>
            <a:ext cx="361188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20" y="1143000"/>
            <a:ext cx="3611880" cy="6400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1298448"/>
            <a:ext cx="3200400" cy="548640"/>
          </a:xfrm>
          <a:prstGeom prst="rect">
            <a:avLst/>
          </a:prstGeom>
          <a:noFill/>
        </p:spPr>
        <p:txBody>
          <a:bodyPr wrap="square">
            <a:spAutoFit/>
          </a:bodyPr>
          <a:lstStyle/>
          <a:p>
            <a:pPr algn="l"/>
            <a:r>
              <a:rPr sz="1100" b="1" i="0">
                <a:solidFill>
                  <a:srgbClr val="007050"/>
                </a:solidFill>
              </a:rPr>
              <a:t>Days 61–90
Optimise</a:t>
            </a:r>
          </a:p>
        </p:txBody>
      </p:sp>
      <p:sp>
        <p:nvSpPr>
          <p:cNvPr id="33" name="Rectangle 32"/>
          <p:cNvSpPr/>
          <p:nvPr/>
        </p:nvSpPr>
        <p:spPr>
          <a:xfrm>
            <a:off x="8229600" y="2011680"/>
            <a:ext cx="201168" cy="20116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9640" y="1984248"/>
            <a:ext cx="2926080" cy="548640"/>
          </a:xfrm>
          <a:prstGeom prst="rect">
            <a:avLst/>
          </a:prstGeom>
          <a:noFill/>
        </p:spPr>
        <p:txBody>
          <a:bodyPr wrap="square">
            <a:spAutoFit/>
          </a:bodyPr>
          <a:lstStyle/>
          <a:p>
            <a:pPr algn="l"/>
            <a:r>
              <a:rPr sz="900" b="0" i="0">
                <a:solidFill>
                  <a:srgbClr val="1A1A1A"/>
                </a:solidFill>
              </a:rPr>
              <a:t>Review win-back programme results — iterate messaging and offer</a:t>
            </a:r>
          </a:p>
        </p:txBody>
      </p:sp>
      <p:sp>
        <p:nvSpPr>
          <p:cNvPr id="35" name="Rectangle 34"/>
          <p:cNvSpPr/>
          <p:nvPr/>
        </p:nvSpPr>
        <p:spPr>
          <a:xfrm>
            <a:off x="8229600" y="2816352"/>
            <a:ext cx="201168" cy="20116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9640" y="2788920"/>
            <a:ext cx="2926080" cy="548640"/>
          </a:xfrm>
          <a:prstGeom prst="rect">
            <a:avLst/>
          </a:prstGeom>
          <a:noFill/>
        </p:spPr>
        <p:txBody>
          <a:bodyPr wrap="square">
            <a:spAutoFit/>
          </a:bodyPr>
          <a:lstStyle/>
          <a:p>
            <a:pPr algn="l"/>
            <a:r>
              <a:rPr sz="900" b="0" i="0">
                <a:solidFill>
                  <a:srgbClr val="1A1A1A"/>
                </a:solidFill>
              </a:rPr>
              <a:t>Track segment migration rates vs. targets</a:t>
            </a:r>
          </a:p>
        </p:txBody>
      </p:sp>
      <p:sp>
        <p:nvSpPr>
          <p:cNvPr id="37" name="Rectangle 36"/>
          <p:cNvSpPr/>
          <p:nvPr/>
        </p:nvSpPr>
        <p:spPr>
          <a:xfrm>
            <a:off x="8229600" y="3621024"/>
            <a:ext cx="201168" cy="20116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9640" y="3593591"/>
            <a:ext cx="2926080" cy="548640"/>
          </a:xfrm>
          <a:prstGeom prst="rect">
            <a:avLst/>
          </a:prstGeom>
          <a:noFill/>
        </p:spPr>
        <p:txBody>
          <a:bodyPr wrap="square">
            <a:spAutoFit/>
          </a:bodyPr>
          <a:lstStyle/>
          <a:p>
            <a:pPr algn="l"/>
            <a:r>
              <a:rPr sz="900" b="0" i="0">
                <a:solidFill>
                  <a:srgbClr val="1A1A1A"/>
                </a:solidFill>
              </a:rPr>
              <a:t>Present first monthly CLV dashboard to leadership</a:t>
            </a:r>
          </a:p>
        </p:txBody>
      </p:sp>
      <p:sp>
        <p:nvSpPr>
          <p:cNvPr id="39" name="Rectangle 38"/>
          <p:cNvSpPr/>
          <p:nvPr/>
        </p:nvSpPr>
        <p:spPr>
          <a:xfrm>
            <a:off x="8229600" y="4425696"/>
            <a:ext cx="201168" cy="20116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9640" y="4398264"/>
            <a:ext cx="2926080" cy="548640"/>
          </a:xfrm>
          <a:prstGeom prst="rect">
            <a:avLst/>
          </a:prstGeom>
          <a:noFill/>
        </p:spPr>
        <p:txBody>
          <a:bodyPr wrap="square">
            <a:spAutoFit/>
          </a:bodyPr>
          <a:lstStyle/>
          <a:p>
            <a:pPr algn="l"/>
            <a:r>
              <a:rPr sz="900" b="0" i="0">
                <a:solidFill>
                  <a:srgbClr val="1A1A1A"/>
                </a:solidFill>
              </a:rPr>
              <a:t>Define Phase 2 scope: predictive churn modelling, CLV uplift testing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Appendix — Full Segment Data</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Source: rfm_analysis.csv  |  100 customers  |  Analysis date: March 2026</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13</a:t>
            </a:r>
          </a:p>
        </p:txBody>
      </p:sp>
      <p:sp>
        <p:nvSpPr>
          <p:cNvPr id="8" name="Rectangle 7"/>
          <p:cNvSpPr/>
          <p:nvPr/>
        </p:nvSpPr>
        <p:spPr>
          <a:xfrm>
            <a:off x="320040" y="1097280"/>
            <a:ext cx="11521440" cy="34747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1133856"/>
            <a:ext cx="2103120" cy="274320"/>
          </a:xfrm>
          <a:prstGeom prst="rect">
            <a:avLst/>
          </a:prstGeom>
          <a:noFill/>
        </p:spPr>
        <p:txBody>
          <a:bodyPr wrap="square">
            <a:spAutoFit/>
          </a:bodyPr>
          <a:lstStyle/>
          <a:p>
            <a:pPr algn="l"/>
            <a:r>
              <a:rPr sz="800" b="1" i="0">
                <a:solidFill>
                  <a:srgbClr val="FFFFFF"/>
                </a:solidFill>
              </a:rPr>
              <a:t>Segment</a:t>
            </a:r>
          </a:p>
        </p:txBody>
      </p:sp>
      <p:sp>
        <p:nvSpPr>
          <p:cNvPr id="10" name="TextBox 9"/>
          <p:cNvSpPr txBox="1"/>
          <p:nvPr/>
        </p:nvSpPr>
        <p:spPr>
          <a:xfrm>
            <a:off x="2514600" y="1133856"/>
            <a:ext cx="731520" cy="274320"/>
          </a:xfrm>
          <a:prstGeom prst="rect">
            <a:avLst/>
          </a:prstGeom>
          <a:noFill/>
        </p:spPr>
        <p:txBody>
          <a:bodyPr wrap="square">
            <a:spAutoFit/>
          </a:bodyPr>
          <a:lstStyle/>
          <a:p>
            <a:pPr algn="l"/>
            <a:r>
              <a:rPr sz="800" b="1" i="0">
                <a:solidFill>
                  <a:srgbClr val="FFFFFF"/>
                </a:solidFill>
              </a:rPr>
              <a:t># Customers</a:t>
            </a:r>
          </a:p>
        </p:txBody>
      </p:sp>
      <p:sp>
        <p:nvSpPr>
          <p:cNvPr id="11" name="TextBox 10"/>
          <p:cNvSpPr txBox="1"/>
          <p:nvPr/>
        </p:nvSpPr>
        <p:spPr>
          <a:xfrm>
            <a:off x="3291839" y="1133856"/>
            <a:ext cx="777240" cy="274320"/>
          </a:xfrm>
          <a:prstGeom prst="rect">
            <a:avLst/>
          </a:prstGeom>
          <a:noFill/>
        </p:spPr>
        <p:txBody>
          <a:bodyPr wrap="square">
            <a:spAutoFit/>
          </a:bodyPr>
          <a:lstStyle/>
          <a:p>
            <a:pPr algn="l"/>
            <a:r>
              <a:rPr sz="800" b="1" i="0">
                <a:solidFill>
                  <a:srgbClr val="FFFFFF"/>
                </a:solidFill>
              </a:rPr>
              <a:t>% Base</a:t>
            </a:r>
          </a:p>
        </p:txBody>
      </p:sp>
      <p:sp>
        <p:nvSpPr>
          <p:cNvPr id="12" name="TextBox 11"/>
          <p:cNvSpPr txBox="1"/>
          <p:nvPr/>
        </p:nvSpPr>
        <p:spPr>
          <a:xfrm>
            <a:off x="4114800" y="1133856"/>
            <a:ext cx="960120" cy="274320"/>
          </a:xfrm>
          <a:prstGeom prst="rect">
            <a:avLst/>
          </a:prstGeom>
          <a:noFill/>
        </p:spPr>
        <p:txBody>
          <a:bodyPr wrap="square">
            <a:spAutoFit/>
          </a:bodyPr>
          <a:lstStyle/>
          <a:p>
            <a:pPr algn="l"/>
            <a:r>
              <a:rPr sz="800" b="1" i="0">
                <a:solidFill>
                  <a:srgbClr val="FFFFFF"/>
                </a:solidFill>
              </a:rPr>
              <a:t>Avg CLV</a:t>
            </a:r>
          </a:p>
        </p:txBody>
      </p:sp>
      <p:sp>
        <p:nvSpPr>
          <p:cNvPr id="13" name="TextBox 12"/>
          <p:cNvSpPr txBox="1"/>
          <p:nvPr/>
        </p:nvSpPr>
        <p:spPr>
          <a:xfrm>
            <a:off x="5120640" y="1133856"/>
            <a:ext cx="1143000" cy="274320"/>
          </a:xfrm>
          <a:prstGeom prst="rect">
            <a:avLst/>
          </a:prstGeom>
          <a:noFill/>
        </p:spPr>
        <p:txBody>
          <a:bodyPr wrap="square">
            <a:spAutoFit/>
          </a:bodyPr>
          <a:lstStyle/>
          <a:p>
            <a:pPr algn="l"/>
            <a:r>
              <a:rPr sz="800" b="1" i="0">
                <a:solidFill>
                  <a:srgbClr val="FFFFFF"/>
                </a:solidFill>
              </a:rPr>
              <a:t>Total CLV</a:t>
            </a:r>
          </a:p>
        </p:txBody>
      </p:sp>
      <p:sp>
        <p:nvSpPr>
          <p:cNvPr id="14" name="TextBox 13"/>
          <p:cNvSpPr txBox="1"/>
          <p:nvPr/>
        </p:nvSpPr>
        <p:spPr>
          <a:xfrm>
            <a:off x="6309359" y="1133856"/>
            <a:ext cx="1143000" cy="274320"/>
          </a:xfrm>
          <a:prstGeom prst="rect">
            <a:avLst/>
          </a:prstGeom>
          <a:noFill/>
        </p:spPr>
        <p:txBody>
          <a:bodyPr wrap="square">
            <a:spAutoFit/>
          </a:bodyPr>
          <a:lstStyle/>
          <a:p>
            <a:pPr algn="l"/>
            <a:r>
              <a:rPr sz="800" b="1" i="0">
                <a:solidFill>
                  <a:srgbClr val="FFFFFF"/>
                </a:solidFill>
              </a:rPr>
              <a:t>Avg Recency</a:t>
            </a:r>
          </a:p>
        </p:txBody>
      </p:sp>
      <p:sp>
        <p:nvSpPr>
          <p:cNvPr id="15" name="TextBox 14"/>
          <p:cNvSpPr txBox="1"/>
          <p:nvPr/>
        </p:nvSpPr>
        <p:spPr>
          <a:xfrm>
            <a:off x="7498080" y="1133856"/>
            <a:ext cx="1234440" cy="274320"/>
          </a:xfrm>
          <a:prstGeom prst="rect">
            <a:avLst/>
          </a:prstGeom>
          <a:noFill/>
        </p:spPr>
        <p:txBody>
          <a:bodyPr wrap="square">
            <a:spAutoFit/>
          </a:bodyPr>
          <a:lstStyle/>
          <a:p>
            <a:pPr algn="l"/>
            <a:r>
              <a:rPr sz="800" b="1" i="0">
                <a:solidFill>
                  <a:srgbClr val="FFFFFF"/>
                </a:solidFill>
              </a:rPr>
              <a:t>Avg Frequency</a:t>
            </a:r>
          </a:p>
        </p:txBody>
      </p:sp>
      <p:sp>
        <p:nvSpPr>
          <p:cNvPr id="16" name="TextBox 15"/>
          <p:cNvSpPr txBox="1"/>
          <p:nvPr/>
        </p:nvSpPr>
        <p:spPr>
          <a:xfrm>
            <a:off x="8778240" y="1133856"/>
            <a:ext cx="2926080" cy="274320"/>
          </a:xfrm>
          <a:prstGeom prst="rect">
            <a:avLst/>
          </a:prstGeom>
          <a:noFill/>
        </p:spPr>
        <p:txBody>
          <a:bodyPr wrap="square">
            <a:spAutoFit/>
          </a:bodyPr>
          <a:lstStyle/>
          <a:p>
            <a:pPr algn="l"/>
            <a:r>
              <a:rPr sz="800" b="1" i="0">
                <a:solidFill>
                  <a:srgbClr val="FFFFFF"/>
                </a:solidFill>
              </a:rPr>
              <a:t>Avg Monetary</a:t>
            </a:r>
          </a:p>
        </p:txBody>
      </p:sp>
      <p:sp>
        <p:nvSpPr>
          <p:cNvPr id="17" name="Rectangle 16"/>
          <p:cNvSpPr/>
          <p:nvPr/>
        </p:nvSpPr>
        <p:spPr>
          <a:xfrm>
            <a:off x="320040" y="1481328"/>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59" y="1591056"/>
            <a:ext cx="2011679" cy="256032"/>
          </a:xfrm>
          <a:prstGeom prst="rect">
            <a:avLst/>
          </a:prstGeom>
          <a:noFill/>
        </p:spPr>
        <p:txBody>
          <a:bodyPr wrap="square">
            <a:spAutoFit/>
          </a:bodyPr>
          <a:lstStyle/>
          <a:p>
            <a:pPr algn="l"/>
            <a:r>
              <a:rPr sz="850" b="0" i="0">
                <a:solidFill>
                  <a:srgbClr val="1A1A1A"/>
                </a:solidFill>
              </a:rPr>
              <a:t>Champions</a:t>
            </a:r>
          </a:p>
        </p:txBody>
      </p:sp>
      <p:sp>
        <p:nvSpPr>
          <p:cNvPr id="19" name="TextBox 18"/>
          <p:cNvSpPr txBox="1"/>
          <p:nvPr/>
        </p:nvSpPr>
        <p:spPr>
          <a:xfrm>
            <a:off x="2514600" y="1591056"/>
            <a:ext cx="640080" cy="256032"/>
          </a:xfrm>
          <a:prstGeom prst="rect">
            <a:avLst/>
          </a:prstGeom>
          <a:noFill/>
        </p:spPr>
        <p:txBody>
          <a:bodyPr wrap="square">
            <a:spAutoFit/>
          </a:bodyPr>
          <a:lstStyle/>
          <a:p>
            <a:pPr algn="l"/>
            <a:r>
              <a:rPr sz="850" b="0" i="0">
                <a:solidFill>
                  <a:srgbClr val="1A1A1A"/>
                </a:solidFill>
              </a:rPr>
              <a:t>7</a:t>
            </a:r>
          </a:p>
        </p:txBody>
      </p:sp>
      <p:sp>
        <p:nvSpPr>
          <p:cNvPr id="20" name="TextBox 19"/>
          <p:cNvSpPr txBox="1"/>
          <p:nvPr/>
        </p:nvSpPr>
        <p:spPr>
          <a:xfrm>
            <a:off x="3291839" y="1591056"/>
            <a:ext cx="685800" cy="256032"/>
          </a:xfrm>
          <a:prstGeom prst="rect">
            <a:avLst/>
          </a:prstGeom>
          <a:noFill/>
        </p:spPr>
        <p:txBody>
          <a:bodyPr wrap="square">
            <a:spAutoFit/>
          </a:bodyPr>
          <a:lstStyle/>
          <a:p>
            <a:pPr algn="l"/>
            <a:r>
              <a:rPr sz="850" b="0" i="0">
                <a:solidFill>
                  <a:srgbClr val="1A1A1A"/>
                </a:solidFill>
              </a:rPr>
              <a:t>7%</a:t>
            </a:r>
          </a:p>
        </p:txBody>
      </p:sp>
      <p:sp>
        <p:nvSpPr>
          <p:cNvPr id="21" name="TextBox 20"/>
          <p:cNvSpPr txBox="1"/>
          <p:nvPr/>
        </p:nvSpPr>
        <p:spPr>
          <a:xfrm>
            <a:off x="4114800" y="1591056"/>
            <a:ext cx="868680" cy="256032"/>
          </a:xfrm>
          <a:prstGeom prst="rect">
            <a:avLst/>
          </a:prstGeom>
          <a:noFill/>
        </p:spPr>
        <p:txBody>
          <a:bodyPr wrap="square">
            <a:spAutoFit/>
          </a:bodyPr>
          <a:lstStyle/>
          <a:p>
            <a:pPr algn="l"/>
            <a:r>
              <a:rPr sz="850" b="0" i="0">
                <a:solidFill>
                  <a:srgbClr val="1A1A1A"/>
                </a:solidFill>
              </a:rPr>
              <a:t>$1,412</a:t>
            </a:r>
          </a:p>
        </p:txBody>
      </p:sp>
      <p:sp>
        <p:nvSpPr>
          <p:cNvPr id="22" name="TextBox 21"/>
          <p:cNvSpPr txBox="1"/>
          <p:nvPr/>
        </p:nvSpPr>
        <p:spPr>
          <a:xfrm>
            <a:off x="5120640" y="1591056"/>
            <a:ext cx="1051560" cy="256032"/>
          </a:xfrm>
          <a:prstGeom prst="rect">
            <a:avLst/>
          </a:prstGeom>
          <a:noFill/>
        </p:spPr>
        <p:txBody>
          <a:bodyPr wrap="square">
            <a:spAutoFit/>
          </a:bodyPr>
          <a:lstStyle/>
          <a:p>
            <a:pPr algn="l"/>
            <a:r>
              <a:rPr sz="850" b="0" i="0">
                <a:solidFill>
                  <a:srgbClr val="1A1A1A"/>
                </a:solidFill>
              </a:rPr>
              <a:t>$9,882</a:t>
            </a:r>
          </a:p>
        </p:txBody>
      </p:sp>
      <p:sp>
        <p:nvSpPr>
          <p:cNvPr id="23" name="TextBox 22"/>
          <p:cNvSpPr txBox="1"/>
          <p:nvPr/>
        </p:nvSpPr>
        <p:spPr>
          <a:xfrm>
            <a:off x="6309359" y="1591056"/>
            <a:ext cx="1051560" cy="256032"/>
          </a:xfrm>
          <a:prstGeom prst="rect">
            <a:avLst/>
          </a:prstGeom>
          <a:noFill/>
        </p:spPr>
        <p:txBody>
          <a:bodyPr wrap="square">
            <a:spAutoFit/>
          </a:bodyPr>
          <a:lstStyle/>
          <a:p>
            <a:pPr algn="l"/>
            <a:r>
              <a:rPr sz="850" b="0" i="0">
                <a:solidFill>
                  <a:srgbClr val="1A1A1A"/>
                </a:solidFill>
              </a:rPr>
              <a:t>30.0 days</a:t>
            </a:r>
          </a:p>
        </p:txBody>
      </p:sp>
      <p:sp>
        <p:nvSpPr>
          <p:cNvPr id="24" name="TextBox 23"/>
          <p:cNvSpPr txBox="1"/>
          <p:nvPr/>
        </p:nvSpPr>
        <p:spPr>
          <a:xfrm>
            <a:off x="7498080" y="1591056"/>
            <a:ext cx="1143000" cy="256032"/>
          </a:xfrm>
          <a:prstGeom prst="rect">
            <a:avLst/>
          </a:prstGeom>
          <a:noFill/>
        </p:spPr>
        <p:txBody>
          <a:bodyPr wrap="square">
            <a:spAutoFit/>
          </a:bodyPr>
          <a:lstStyle/>
          <a:p>
            <a:pPr algn="l"/>
            <a:r>
              <a:rPr sz="850" b="0" i="0">
                <a:solidFill>
                  <a:srgbClr val="1A1A1A"/>
                </a:solidFill>
              </a:rPr>
              <a:t>4.6x</a:t>
            </a:r>
          </a:p>
        </p:txBody>
      </p:sp>
      <p:sp>
        <p:nvSpPr>
          <p:cNvPr id="25" name="TextBox 24"/>
          <p:cNvSpPr txBox="1"/>
          <p:nvPr/>
        </p:nvSpPr>
        <p:spPr>
          <a:xfrm>
            <a:off x="8778240" y="1591056"/>
            <a:ext cx="2834640" cy="256032"/>
          </a:xfrm>
          <a:prstGeom prst="rect">
            <a:avLst/>
          </a:prstGeom>
          <a:noFill/>
        </p:spPr>
        <p:txBody>
          <a:bodyPr wrap="square">
            <a:spAutoFit/>
          </a:bodyPr>
          <a:lstStyle/>
          <a:p>
            <a:pPr algn="l"/>
            <a:r>
              <a:rPr sz="850" b="0" i="0">
                <a:solidFill>
                  <a:srgbClr val="1A1A1A"/>
                </a:solidFill>
              </a:rPr>
              <a:t>$3,396</a:t>
            </a:r>
          </a:p>
        </p:txBody>
      </p:sp>
      <p:sp>
        <p:nvSpPr>
          <p:cNvPr id="26" name="Rectangle 25"/>
          <p:cNvSpPr/>
          <p:nvPr/>
        </p:nvSpPr>
        <p:spPr>
          <a:xfrm>
            <a:off x="320040" y="1956816"/>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59" y="2066544"/>
            <a:ext cx="2011679" cy="256032"/>
          </a:xfrm>
          <a:prstGeom prst="rect">
            <a:avLst/>
          </a:prstGeom>
          <a:noFill/>
        </p:spPr>
        <p:txBody>
          <a:bodyPr wrap="square">
            <a:spAutoFit/>
          </a:bodyPr>
          <a:lstStyle/>
          <a:p>
            <a:pPr algn="l"/>
            <a:r>
              <a:rPr sz="850" b="0" i="0">
                <a:solidFill>
                  <a:srgbClr val="1A1A1A"/>
                </a:solidFill>
              </a:rPr>
              <a:t>Loyal</a:t>
            </a:r>
          </a:p>
        </p:txBody>
      </p:sp>
      <p:sp>
        <p:nvSpPr>
          <p:cNvPr id="28" name="TextBox 27"/>
          <p:cNvSpPr txBox="1"/>
          <p:nvPr/>
        </p:nvSpPr>
        <p:spPr>
          <a:xfrm>
            <a:off x="2514600" y="2066544"/>
            <a:ext cx="640080" cy="256032"/>
          </a:xfrm>
          <a:prstGeom prst="rect">
            <a:avLst/>
          </a:prstGeom>
          <a:noFill/>
        </p:spPr>
        <p:txBody>
          <a:bodyPr wrap="square">
            <a:spAutoFit/>
          </a:bodyPr>
          <a:lstStyle/>
          <a:p>
            <a:pPr algn="l"/>
            <a:r>
              <a:rPr sz="850" b="0" i="0">
                <a:solidFill>
                  <a:srgbClr val="1A1A1A"/>
                </a:solidFill>
              </a:rPr>
              <a:t>8</a:t>
            </a:r>
          </a:p>
        </p:txBody>
      </p:sp>
      <p:sp>
        <p:nvSpPr>
          <p:cNvPr id="29" name="TextBox 28"/>
          <p:cNvSpPr txBox="1"/>
          <p:nvPr/>
        </p:nvSpPr>
        <p:spPr>
          <a:xfrm>
            <a:off x="3291839" y="2066544"/>
            <a:ext cx="685800" cy="256032"/>
          </a:xfrm>
          <a:prstGeom prst="rect">
            <a:avLst/>
          </a:prstGeom>
          <a:noFill/>
        </p:spPr>
        <p:txBody>
          <a:bodyPr wrap="square">
            <a:spAutoFit/>
          </a:bodyPr>
          <a:lstStyle/>
          <a:p>
            <a:pPr algn="l"/>
            <a:r>
              <a:rPr sz="850" b="0" i="0">
                <a:solidFill>
                  <a:srgbClr val="1A1A1A"/>
                </a:solidFill>
              </a:rPr>
              <a:t>8%</a:t>
            </a:r>
          </a:p>
        </p:txBody>
      </p:sp>
      <p:sp>
        <p:nvSpPr>
          <p:cNvPr id="30" name="TextBox 29"/>
          <p:cNvSpPr txBox="1"/>
          <p:nvPr/>
        </p:nvSpPr>
        <p:spPr>
          <a:xfrm>
            <a:off x="4114800" y="2066544"/>
            <a:ext cx="868680" cy="256032"/>
          </a:xfrm>
          <a:prstGeom prst="rect">
            <a:avLst/>
          </a:prstGeom>
          <a:noFill/>
        </p:spPr>
        <p:txBody>
          <a:bodyPr wrap="square">
            <a:spAutoFit/>
          </a:bodyPr>
          <a:lstStyle/>
          <a:p>
            <a:pPr algn="l"/>
            <a:r>
              <a:rPr sz="850" b="0" i="0">
                <a:solidFill>
                  <a:srgbClr val="1A1A1A"/>
                </a:solidFill>
              </a:rPr>
              <a:t>$832</a:t>
            </a:r>
          </a:p>
        </p:txBody>
      </p:sp>
      <p:sp>
        <p:nvSpPr>
          <p:cNvPr id="31" name="TextBox 30"/>
          <p:cNvSpPr txBox="1"/>
          <p:nvPr/>
        </p:nvSpPr>
        <p:spPr>
          <a:xfrm>
            <a:off x="5120640" y="2066544"/>
            <a:ext cx="1051560" cy="256032"/>
          </a:xfrm>
          <a:prstGeom prst="rect">
            <a:avLst/>
          </a:prstGeom>
          <a:noFill/>
        </p:spPr>
        <p:txBody>
          <a:bodyPr wrap="square">
            <a:spAutoFit/>
          </a:bodyPr>
          <a:lstStyle/>
          <a:p>
            <a:pPr algn="l"/>
            <a:r>
              <a:rPr sz="850" b="0" i="0">
                <a:solidFill>
                  <a:srgbClr val="1A1A1A"/>
                </a:solidFill>
              </a:rPr>
              <a:t>$6,655</a:t>
            </a:r>
          </a:p>
        </p:txBody>
      </p:sp>
      <p:sp>
        <p:nvSpPr>
          <p:cNvPr id="32" name="TextBox 31"/>
          <p:cNvSpPr txBox="1"/>
          <p:nvPr/>
        </p:nvSpPr>
        <p:spPr>
          <a:xfrm>
            <a:off x="6309359" y="2066544"/>
            <a:ext cx="1051560" cy="256032"/>
          </a:xfrm>
          <a:prstGeom prst="rect">
            <a:avLst/>
          </a:prstGeom>
          <a:noFill/>
        </p:spPr>
        <p:txBody>
          <a:bodyPr wrap="square">
            <a:spAutoFit/>
          </a:bodyPr>
          <a:lstStyle/>
          <a:p>
            <a:pPr algn="l"/>
            <a:r>
              <a:rPr sz="850" b="0" i="0">
                <a:solidFill>
                  <a:srgbClr val="1A1A1A"/>
                </a:solidFill>
              </a:rPr>
              <a:t>62.0 days</a:t>
            </a:r>
          </a:p>
        </p:txBody>
      </p:sp>
      <p:sp>
        <p:nvSpPr>
          <p:cNvPr id="33" name="TextBox 32"/>
          <p:cNvSpPr txBox="1"/>
          <p:nvPr/>
        </p:nvSpPr>
        <p:spPr>
          <a:xfrm>
            <a:off x="7498080" y="2066544"/>
            <a:ext cx="1143000" cy="256032"/>
          </a:xfrm>
          <a:prstGeom prst="rect">
            <a:avLst/>
          </a:prstGeom>
          <a:noFill/>
        </p:spPr>
        <p:txBody>
          <a:bodyPr wrap="square">
            <a:spAutoFit/>
          </a:bodyPr>
          <a:lstStyle/>
          <a:p>
            <a:pPr algn="l"/>
            <a:r>
              <a:rPr sz="850" b="0" i="0">
                <a:solidFill>
                  <a:srgbClr val="1A1A1A"/>
                </a:solidFill>
              </a:rPr>
              <a:t>3x</a:t>
            </a:r>
          </a:p>
        </p:txBody>
      </p:sp>
      <p:sp>
        <p:nvSpPr>
          <p:cNvPr id="34" name="TextBox 33"/>
          <p:cNvSpPr txBox="1"/>
          <p:nvPr/>
        </p:nvSpPr>
        <p:spPr>
          <a:xfrm>
            <a:off x="8778240" y="2066544"/>
            <a:ext cx="2834640" cy="256032"/>
          </a:xfrm>
          <a:prstGeom prst="rect">
            <a:avLst/>
          </a:prstGeom>
          <a:noFill/>
        </p:spPr>
        <p:txBody>
          <a:bodyPr wrap="square">
            <a:spAutoFit/>
          </a:bodyPr>
          <a:lstStyle/>
          <a:p>
            <a:pPr algn="l"/>
            <a:r>
              <a:rPr sz="850" b="0" i="0">
                <a:solidFill>
                  <a:srgbClr val="1A1A1A"/>
                </a:solidFill>
              </a:rPr>
              <a:t>$2,144</a:t>
            </a:r>
          </a:p>
        </p:txBody>
      </p:sp>
      <p:sp>
        <p:nvSpPr>
          <p:cNvPr id="35" name="Rectangle 34"/>
          <p:cNvSpPr/>
          <p:nvPr/>
        </p:nvSpPr>
        <p:spPr>
          <a:xfrm>
            <a:off x="320040" y="2432304"/>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59" y="2542032"/>
            <a:ext cx="2011679" cy="256032"/>
          </a:xfrm>
          <a:prstGeom prst="rect">
            <a:avLst/>
          </a:prstGeom>
          <a:noFill/>
        </p:spPr>
        <p:txBody>
          <a:bodyPr wrap="square">
            <a:spAutoFit/>
          </a:bodyPr>
          <a:lstStyle/>
          <a:p>
            <a:pPr algn="l"/>
            <a:r>
              <a:rPr sz="850" b="0" i="0">
                <a:solidFill>
                  <a:srgbClr val="1A1A1A"/>
                </a:solidFill>
              </a:rPr>
              <a:t>Potential Loyalist</a:t>
            </a:r>
          </a:p>
        </p:txBody>
      </p:sp>
      <p:sp>
        <p:nvSpPr>
          <p:cNvPr id="37" name="TextBox 36"/>
          <p:cNvSpPr txBox="1"/>
          <p:nvPr/>
        </p:nvSpPr>
        <p:spPr>
          <a:xfrm>
            <a:off x="2514600" y="2542032"/>
            <a:ext cx="640080" cy="256032"/>
          </a:xfrm>
          <a:prstGeom prst="rect">
            <a:avLst/>
          </a:prstGeom>
          <a:noFill/>
        </p:spPr>
        <p:txBody>
          <a:bodyPr wrap="square">
            <a:spAutoFit/>
          </a:bodyPr>
          <a:lstStyle/>
          <a:p>
            <a:pPr algn="l"/>
            <a:r>
              <a:rPr sz="850" b="0" i="0">
                <a:solidFill>
                  <a:srgbClr val="1A1A1A"/>
                </a:solidFill>
              </a:rPr>
              <a:t>15</a:t>
            </a:r>
          </a:p>
        </p:txBody>
      </p:sp>
      <p:sp>
        <p:nvSpPr>
          <p:cNvPr id="38" name="TextBox 37"/>
          <p:cNvSpPr txBox="1"/>
          <p:nvPr/>
        </p:nvSpPr>
        <p:spPr>
          <a:xfrm>
            <a:off x="3291839" y="2542032"/>
            <a:ext cx="685800" cy="256032"/>
          </a:xfrm>
          <a:prstGeom prst="rect">
            <a:avLst/>
          </a:prstGeom>
          <a:noFill/>
        </p:spPr>
        <p:txBody>
          <a:bodyPr wrap="square">
            <a:spAutoFit/>
          </a:bodyPr>
          <a:lstStyle/>
          <a:p>
            <a:pPr algn="l"/>
            <a:r>
              <a:rPr sz="850" b="0" i="0">
                <a:solidFill>
                  <a:srgbClr val="1A1A1A"/>
                </a:solidFill>
              </a:rPr>
              <a:t>15%</a:t>
            </a:r>
          </a:p>
        </p:txBody>
      </p:sp>
      <p:sp>
        <p:nvSpPr>
          <p:cNvPr id="39" name="TextBox 38"/>
          <p:cNvSpPr txBox="1"/>
          <p:nvPr/>
        </p:nvSpPr>
        <p:spPr>
          <a:xfrm>
            <a:off x="4114800" y="2542032"/>
            <a:ext cx="868680" cy="256032"/>
          </a:xfrm>
          <a:prstGeom prst="rect">
            <a:avLst/>
          </a:prstGeom>
          <a:noFill/>
        </p:spPr>
        <p:txBody>
          <a:bodyPr wrap="square">
            <a:spAutoFit/>
          </a:bodyPr>
          <a:lstStyle/>
          <a:p>
            <a:pPr algn="l"/>
            <a:r>
              <a:rPr sz="850" b="0" i="0">
                <a:solidFill>
                  <a:srgbClr val="1A1A1A"/>
                </a:solidFill>
              </a:rPr>
              <a:t>$599</a:t>
            </a:r>
          </a:p>
        </p:txBody>
      </p:sp>
      <p:sp>
        <p:nvSpPr>
          <p:cNvPr id="40" name="TextBox 39"/>
          <p:cNvSpPr txBox="1"/>
          <p:nvPr/>
        </p:nvSpPr>
        <p:spPr>
          <a:xfrm>
            <a:off x="5120640" y="2542032"/>
            <a:ext cx="1051560" cy="256032"/>
          </a:xfrm>
          <a:prstGeom prst="rect">
            <a:avLst/>
          </a:prstGeom>
          <a:noFill/>
        </p:spPr>
        <p:txBody>
          <a:bodyPr wrap="square">
            <a:spAutoFit/>
          </a:bodyPr>
          <a:lstStyle/>
          <a:p>
            <a:pPr algn="l"/>
            <a:r>
              <a:rPr sz="850" b="0" i="0">
                <a:solidFill>
                  <a:srgbClr val="1A1A1A"/>
                </a:solidFill>
              </a:rPr>
              <a:t>$8,992</a:t>
            </a:r>
          </a:p>
        </p:txBody>
      </p:sp>
      <p:sp>
        <p:nvSpPr>
          <p:cNvPr id="41" name="TextBox 40"/>
          <p:cNvSpPr txBox="1"/>
          <p:nvPr/>
        </p:nvSpPr>
        <p:spPr>
          <a:xfrm>
            <a:off x="6309359" y="2542032"/>
            <a:ext cx="1051560" cy="256032"/>
          </a:xfrm>
          <a:prstGeom prst="rect">
            <a:avLst/>
          </a:prstGeom>
          <a:noFill/>
        </p:spPr>
        <p:txBody>
          <a:bodyPr wrap="square">
            <a:spAutoFit/>
          </a:bodyPr>
          <a:lstStyle/>
          <a:p>
            <a:pPr algn="l"/>
            <a:r>
              <a:rPr sz="850" b="0" i="0">
                <a:solidFill>
                  <a:srgbClr val="1A1A1A"/>
                </a:solidFill>
              </a:rPr>
              <a:t>67.0 days</a:t>
            </a:r>
          </a:p>
        </p:txBody>
      </p:sp>
      <p:sp>
        <p:nvSpPr>
          <p:cNvPr id="42" name="TextBox 41"/>
          <p:cNvSpPr txBox="1"/>
          <p:nvPr/>
        </p:nvSpPr>
        <p:spPr>
          <a:xfrm>
            <a:off x="7498080" y="2542032"/>
            <a:ext cx="1143000" cy="256032"/>
          </a:xfrm>
          <a:prstGeom prst="rect">
            <a:avLst/>
          </a:prstGeom>
          <a:noFill/>
        </p:spPr>
        <p:txBody>
          <a:bodyPr wrap="square">
            <a:spAutoFit/>
          </a:bodyPr>
          <a:lstStyle/>
          <a:p>
            <a:pPr algn="l"/>
            <a:r>
              <a:rPr sz="850" b="0" i="0">
                <a:solidFill>
                  <a:srgbClr val="1A1A1A"/>
                </a:solidFill>
              </a:rPr>
              <a:t>2x</a:t>
            </a:r>
          </a:p>
        </p:txBody>
      </p:sp>
      <p:sp>
        <p:nvSpPr>
          <p:cNvPr id="43" name="TextBox 42"/>
          <p:cNvSpPr txBox="1"/>
          <p:nvPr/>
        </p:nvSpPr>
        <p:spPr>
          <a:xfrm>
            <a:off x="8778240" y="2542032"/>
            <a:ext cx="2834640" cy="256032"/>
          </a:xfrm>
          <a:prstGeom prst="rect">
            <a:avLst/>
          </a:prstGeom>
          <a:noFill/>
        </p:spPr>
        <p:txBody>
          <a:bodyPr wrap="square">
            <a:spAutoFit/>
          </a:bodyPr>
          <a:lstStyle/>
          <a:p>
            <a:pPr algn="l"/>
            <a:r>
              <a:rPr sz="850" b="0" i="0">
                <a:solidFill>
                  <a:srgbClr val="1A1A1A"/>
                </a:solidFill>
              </a:rPr>
              <a:t>$1,443</a:t>
            </a:r>
          </a:p>
        </p:txBody>
      </p:sp>
      <p:sp>
        <p:nvSpPr>
          <p:cNvPr id="44" name="Rectangle 43"/>
          <p:cNvSpPr/>
          <p:nvPr/>
        </p:nvSpPr>
        <p:spPr>
          <a:xfrm>
            <a:off x="320040" y="2907792"/>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59" y="3017520"/>
            <a:ext cx="2011679" cy="256032"/>
          </a:xfrm>
          <a:prstGeom prst="rect">
            <a:avLst/>
          </a:prstGeom>
          <a:noFill/>
        </p:spPr>
        <p:txBody>
          <a:bodyPr wrap="square">
            <a:spAutoFit/>
          </a:bodyPr>
          <a:lstStyle/>
          <a:p>
            <a:pPr algn="l"/>
            <a:r>
              <a:rPr sz="850" b="0" i="0">
                <a:solidFill>
                  <a:srgbClr val="1A1A1A"/>
                </a:solidFill>
              </a:rPr>
              <a:t>Need Attention</a:t>
            </a:r>
          </a:p>
        </p:txBody>
      </p:sp>
      <p:sp>
        <p:nvSpPr>
          <p:cNvPr id="46" name="TextBox 45"/>
          <p:cNvSpPr txBox="1"/>
          <p:nvPr/>
        </p:nvSpPr>
        <p:spPr>
          <a:xfrm>
            <a:off x="2514600" y="3017520"/>
            <a:ext cx="640080" cy="256032"/>
          </a:xfrm>
          <a:prstGeom prst="rect">
            <a:avLst/>
          </a:prstGeom>
          <a:noFill/>
        </p:spPr>
        <p:txBody>
          <a:bodyPr wrap="square">
            <a:spAutoFit/>
          </a:bodyPr>
          <a:lstStyle/>
          <a:p>
            <a:pPr algn="l"/>
            <a:r>
              <a:rPr sz="850" b="0" i="0">
                <a:solidFill>
                  <a:srgbClr val="1A1A1A"/>
                </a:solidFill>
              </a:rPr>
              <a:t>5</a:t>
            </a:r>
          </a:p>
        </p:txBody>
      </p:sp>
      <p:sp>
        <p:nvSpPr>
          <p:cNvPr id="47" name="TextBox 46"/>
          <p:cNvSpPr txBox="1"/>
          <p:nvPr/>
        </p:nvSpPr>
        <p:spPr>
          <a:xfrm>
            <a:off x="3291839" y="3017520"/>
            <a:ext cx="685800" cy="256032"/>
          </a:xfrm>
          <a:prstGeom prst="rect">
            <a:avLst/>
          </a:prstGeom>
          <a:noFill/>
        </p:spPr>
        <p:txBody>
          <a:bodyPr wrap="square">
            <a:spAutoFit/>
          </a:bodyPr>
          <a:lstStyle/>
          <a:p>
            <a:pPr algn="l"/>
            <a:r>
              <a:rPr sz="850" b="0" i="0">
                <a:solidFill>
                  <a:srgbClr val="1A1A1A"/>
                </a:solidFill>
              </a:rPr>
              <a:t>5%</a:t>
            </a:r>
          </a:p>
        </p:txBody>
      </p:sp>
      <p:sp>
        <p:nvSpPr>
          <p:cNvPr id="48" name="TextBox 47"/>
          <p:cNvSpPr txBox="1"/>
          <p:nvPr/>
        </p:nvSpPr>
        <p:spPr>
          <a:xfrm>
            <a:off x="4114800" y="3017520"/>
            <a:ext cx="868680" cy="256032"/>
          </a:xfrm>
          <a:prstGeom prst="rect">
            <a:avLst/>
          </a:prstGeom>
          <a:noFill/>
        </p:spPr>
        <p:txBody>
          <a:bodyPr wrap="square">
            <a:spAutoFit/>
          </a:bodyPr>
          <a:lstStyle/>
          <a:p>
            <a:pPr algn="l"/>
            <a:r>
              <a:rPr sz="850" b="0" i="0">
                <a:solidFill>
                  <a:srgbClr val="1A1A1A"/>
                </a:solidFill>
              </a:rPr>
              <a:t>$512</a:t>
            </a:r>
          </a:p>
        </p:txBody>
      </p:sp>
      <p:sp>
        <p:nvSpPr>
          <p:cNvPr id="49" name="TextBox 48"/>
          <p:cNvSpPr txBox="1"/>
          <p:nvPr/>
        </p:nvSpPr>
        <p:spPr>
          <a:xfrm>
            <a:off x="5120640" y="3017520"/>
            <a:ext cx="1051560" cy="256032"/>
          </a:xfrm>
          <a:prstGeom prst="rect">
            <a:avLst/>
          </a:prstGeom>
          <a:noFill/>
        </p:spPr>
        <p:txBody>
          <a:bodyPr wrap="square">
            <a:spAutoFit/>
          </a:bodyPr>
          <a:lstStyle/>
          <a:p>
            <a:pPr algn="l"/>
            <a:r>
              <a:rPr sz="850" b="0" i="0">
                <a:solidFill>
                  <a:srgbClr val="1A1A1A"/>
                </a:solidFill>
              </a:rPr>
              <a:t>$2,562</a:t>
            </a:r>
          </a:p>
        </p:txBody>
      </p:sp>
      <p:sp>
        <p:nvSpPr>
          <p:cNvPr id="50" name="TextBox 49"/>
          <p:cNvSpPr txBox="1"/>
          <p:nvPr/>
        </p:nvSpPr>
        <p:spPr>
          <a:xfrm>
            <a:off x="6309359" y="3017520"/>
            <a:ext cx="1051560" cy="256032"/>
          </a:xfrm>
          <a:prstGeom prst="rect">
            <a:avLst/>
          </a:prstGeom>
          <a:noFill/>
        </p:spPr>
        <p:txBody>
          <a:bodyPr wrap="square">
            <a:spAutoFit/>
          </a:bodyPr>
          <a:lstStyle/>
          <a:p>
            <a:pPr algn="l"/>
            <a:r>
              <a:rPr sz="850" b="0" i="0">
                <a:solidFill>
                  <a:srgbClr val="1A1A1A"/>
                </a:solidFill>
              </a:rPr>
              <a:t>134.0 days</a:t>
            </a:r>
          </a:p>
        </p:txBody>
      </p:sp>
      <p:sp>
        <p:nvSpPr>
          <p:cNvPr id="51" name="TextBox 50"/>
          <p:cNvSpPr txBox="1"/>
          <p:nvPr/>
        </p:nvSpPr>
        <p:spPr>
          <a:xfrm>
            <a:off x="7498080" y="3017520"/>
            <a:ext cx="1143000" cy="256032"/>
          </a:xfrm>
          <a:prstGeom prst="rect">
            <a:avLst/>
          </a:prstGeom>
          <a:noFill/>
        </p:spPr>
        <p:txBody>
          <a:bodyPr wrap="square">
            <a:spAutoFit/>
          </a:bodyPr>
          <a:lstStyle/>
          <a:p>
            <a:pPr algn="l"/>
            <a:r>
              <a:rPr sz="850" b="0" i="0">
                <a:solidFill>
                  <a:srgbClr val="1A1A1A"/>
                </a:solidFill>
              </a:rPr>
              <a:t>2x</a:t>
            </a:r>
          </a:p>
        </p:txBody>
      </p:sp>
      <p:sp>
        <p:nvSpPr>
          <p:cNvPr id="52" name="TextBox 51"/>
          <p:cNvSpPr txBox="1"/>
          <p:nvPr/>
        </p:nvSpPr>
        <p:spPr>
          <a:xfrm>
            <a:off x="8778240" y="3017520"/>
            <a:ext cx="2834640" cy="256032"/>
          </a:xfrm>
          <a:prstGeom prst="rect">
            <a:avLst/>
          </a:prstGeom>
          <a:noFill/>
        </p:spPr>
        <p:txBody>
          <a:bodyPr wrap="square">
            <a:spAutoFit/>
          </a:bodyPr>
          <a:lstStyle/>
          <a:p>
            <a:pPr algn="l"/>
            <a:r>
              <a:rPr sz="850" b="0" i="0">
                <a:solidFill>
                  <a:srgbClr val="1A1A1A"/>
                </a:solidFill>
              </a:rPr>
              <a:t>$1,487</a:t>
            </a:r>
          </a:p>
        </p:txBody>
      </p:sp>
      <p:sp>
        <p:nvSpPr>
          <p:cNvPr id="53" name="Rectangle 52"/>
          <p:cNvSpPr/>
          <p:nvPr/>
        </p:nvSpPr>
        <p:spPr>
          <a:xfrm>
            <a:off x="320040" y="3383280"/>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759" y="3493008"/>
            <a:ext cx="2011679" cy="256032"/>
          </a:xfrm>
          <a:prstGeom prst="rect">
            <a:avLst/>
          </a:prstGeom>
          <a:noFill/>
        </p:spPr>
        <p:txBody>
          <a:bodyPr wrap="square">
            <a:spAutoFit/>
          </a:bodyPr>
          <a:lstStyle/>
          <a:p>
            <a:pPr algn="l"/>
            <a:r>
              <a:rPr sz="850" b="0" i="0">
                <a:solidFill>
                  <a:srgbClr val="1A1A1A"/>
                </a:solidFill>
              </a:rPr>
              <a:t>New Customer</a:t>
            </a:r>
          </a:p>
        </p:txBody>
      </p:sp>
      <p:sp>
        <p:nvSpPr>
          <p:cNvPr id="55" name="TextBox 54"/>
          <p:cNvSpPr txBox="1"/>
          <p:nvPr/>
        </p:nvSpPr>
        <p:spPr>
          <a:xfrm>
            <a:off x="2514600" y="3493008"/>
            <a:ext cx="640080" cy="256032"/>
          </a:xfrm>
          <a:prstGeom prst="rect">
            <a:avLst/>
          </a:prstGeom>
          <a:noFill/>
        </p:spPr>
        <p:txBody>
          <a:bodyPr wrap="square">
            <a:spAutoFit/>
          </a:bodyPr>
          <a:lstStyle/>
          <a:p>
            <a:pPr algn="l"/>
            <a:r>
              <a:rPr sz="850" b="0" i="0">
                <a:solidFill>
                  <a:srgbClr val="1A1A1A"/>
                </a:solidFill>
              </a:rPr>
              <a:t>10</a:t>
            </a:r>
          </a:p>
        </p:txBody>
      </p:sp>
      <p:sp>
        <p:nvSpPr>
          <p:cNvPr id="56" name="TextBox 55"/>
          <p:cNvSpPr txBox="1"/>
          <p:nvPr/>
        </p:nvSpPr>
        <p:spPr>
          <a:xfrm>
            <a:off x="3291839" y="3493008"/>
            <a:ext cx="685800" cy="256032"/>
          </a:xfrm>
          <a:prstGeom prst="rect">
            <a:avLst/>
          </a:prstGeom>
          <a:noFill/>
        </p:spPr>
        <p:txBody>
          <a:bodyPr wrap="square">
            <a:spAutoFit/>
          </a:bodyPr>
          <a:lstStyle/>
          <a:p>
            <a:pPr algn="l"/>
            <a:r>
              <a:rPr sz="850" b="0" i="0">
                <a:solidFill>
                  <a:srgbClr val="1A1A1A"/>
                </a:solidFill>
              </a:rPr>
              <a:t>10%</a:t>
            </a:r>
          </a:p>
        </p:txBody>
      </p:sp>
      <p:sp>
        <p:nvSpPr>
          <p:cNvPr id="57" name="TextBox 56"/>
          <p:cNvSpPr txBox="1"/>
          <p:nvPr/>
        </p:nvSpPr>
        <p:spPr>
          <a:xfrm>
            <a:off x="4114800" y="3493008"/>
            <a:ext cx="868680" cy="256032"/>
          </a:xfrm>
          <a:prstGeom prst="rect">
            <a:avLst/>
          </a:prstGeom>
          <a:noFill/>
        </p:spPr>
        <p:txBody>
          <a:bodyPr wrap="square">
            <a:spAutoFit/>
          </a:bodyPr>
          <a:lstStyle/>
          <a:p>
            <a:pPr algn="l"/>
            <a:r>
              <a:rPr sz="850" b="0" i="0">
                <a:solidFill>
                  <a:srgbClr val="1A1A1A"/>
                </a:solidFill>
              </a:rPr>
              <a:t>$271</a:t>
            </a:r>
          </a:p>
        </p:txBody>
      </p:sp>
      <p:sp>
        <p:nvSpPr>
          <p:cNvPr id="58" name="TextBox 57"/>
          <p:cNvSpPr txBox="1"/>
          <p:nvPr/>
        </p:nvSpPr>
        <p:spPr>
          <a:xfrm>
            <a:off x="5120640" y="3493008"/>
            <a:ext cx="1051560" cy="256032"/>
          </a:xfrm>
          <a:prstGeom prst="rect">
            <a:avLst/>
          </a:prstGeom>
          <a:noFill/>
        </p:spPr>
        <p:txBody>
          <a:bodyPr wrap="square">
            <a:spAutoFit/>
          </a:bodyPr>
          <a:lstStyle/>
          <a:p>
            <a:pPr algn="l"/>
            <a:r>
              <a:rPr sz="850" b="0" i="0">
                <a:solidFill>
                  <a:srgbClr val="1A1A1A"/>
                </a:solidFill>
              </a:rPr>
              <a:t>$2,706</a:t>
            </a:r>
          </a:p>
        </p:txBody>
      </p:sp>
      <p:sp>
        <p:nvSpPr>
          <p:cNvPr id="59" name="TextBox 58"/>
          <p:cNvSpPr txBox="1"/>
          <p:nvPr/>
        </p:nvSpPr>
        <p:spPr>
          <a:xfrm>
            <a:off x="6309359" y="3493008"/>
            <a:ext cx="1051560" cy="256032"/>
          </a:xfrm>
          <a:prstGeom prst="rect">
            <a:avLst/>
          </a:prstGeom>
          <a:noFill/>
        </p:spPr>
        <p:txBody>
          <a:bodyPr wrap="square">
            <a:spAutoFit/>
          </a:bodyPr>
          <a:lstStyle/>
          <a:p>
            <a:pPr algn="l"/>
            <a:r>
              <a:rPr sz="850" b="0" i="0">
                <a:solidFill>
                  <a:srgbClr val="1A1A1A"/>
                </a:solidFill>
              </a:rPr>
              <a:t>88.0 days</a:t>
            </a:r>
          </a:p>
        </p:txBody>
      </p:sp>
      <p:sp>
        <p:nvSpPr>
          <p:cNvPr id="60" name="TextBox 59"/>
          <p:cNvSpPr txBox="1"/>
          <p:nvPr/>
        </p:nvSpPr>
        <p:spPr>
          <a:xfrm>
            <a:off x="7498080" y="3493008"/>
            <a:ext cx="1143000" cy="256032"/>
          </a:xfrm>
          <a:prstGeom prst="rect">
            <a:avLst/>
          </a:prstGeom>
          <a:noFill/>
        </p:spPr>
        <p:txBody>
          <a:bodyPr wrap="square">
            <a:spAutoFit/>
          </a:bodyPr>
          <a:lstStyle/>
          <a:p>
            <a:pPr algn="l"/>
            <a:r>
              <a:rPr sz="850" b="0" i="0">
                <a:solidFill>
                  <a:srgbClr val="1A1A1A"/>
                </a:solidFill>
              </a:rPr>
              <a:t>1x</a:t>
            </a:r>
          </a:p>
        </p:txBody>
      </p:sp>
      <p:sp>
        <p:nvSpPr>
          <p:cNvPr id="61" name="TextBox 60"/>
          <p:cNvSpPr txBox="1"/>
          <p:nvPr/>
        </p:nvSpPr>
        <p:spPr>
          <a:xfrm>
            <a:off x="8778240" y="3493008"/>
            <a:ext cx="2834640" cy="256032"/>
          </a:xfrm>
          <a:prstGeom prst="rect">
            <a:avLst/>
          </a:prstGeom>
          <a:noFill/>
        </p:spPr>
        <p:txBody>
          <a:bodyPr wrap="square">
            <a:spAutoFit/>
          </a:bodyPr>
          <a:lstStyle/>
          <a:p>
            <a:pPr algn="l"/>
            <a:r>
              <a:rPr sz="850" b="0" i="0">
                <a:solidFill>
                  <a:srgbClr val="1A1A1A"/>
                </a:solidFill>
              </a:rPr>
              <a:t>$693</a:t>
            </a:r>
          </a:p>
        </p:txBody>
      </p:sp>
      <p:sp>
        <p:nvSpPr>
          <p:cNvPr id="62" name="Rectangle 61"/>
          <p:cNvSpPr/>
          <p:nvPr/>
        </p:nvSpPr>
        <p:spPr>
          <a:xfrm>
            <a:off x="320040" y="3858768"/>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65759" y="3968496"/>
            <a:ext cx="2011679" cy="256032"/>
          </a:xfrm>
          <a:prstGeom prst="rect">
            <a:avLst/>
          </a:prstGeom>
          <a:noFill/>
        </p:spPr>
        <p:txBody>
          <a:bodyPr wrap="square">
            <a:spAutoFit/>
          </a:bodyPr>
          <a:lstStyle/>
          <a:p>
            <a:pPr algn="l"/>
            <a:r>
              <a:rPr sz="850" b="0" i="0">
                <a:solidFill>
                  <a:srgbClr val="1A1A1A"/>
                </a:solidFill>
              </a:rPr>
              <a:t>Promising</a:t>
            </a:r>
          </a:p>
        </p:txBody>
      </p:sp>
      <p:sp>
        <p:nvSpPr>
          <p:cNvPr id="64" name="TextBox 63"/>
          <p:cNvSpPr txBox="1"/>
          <p:nvPr/>
        </p:nvSpPr>
        <p:spPr>
          <a:xfrm>
            <a:off x="2514600" y="3968496"/>
            <a:ext cx="640080" cy="256032"/>
          </a:xfrm>
          <a:prstGeom prst="rect">
            <a:avLst/>
          </a:prstGeom>
          <a:noFill/>
        </p:spPr>
        <p:txBody>
          <a:bodyPr wrap="square">
            <a:spAutoFit/>
          </a:bodyPr>
          <a:lstStyle/>
          <a:p>
            <a:pPr algn="l"/>
            <a:r>
              <a:rPr sz="850" b="0" i="0">
                <a:solidFill>
                  <a:srgbClr val="1A1A1A"/>
                </a:solidFill>
              </a:rPr>
              <a:t>15</a:t>
            </a:r>
          </a:p>
        </p:txBody>
      </p:sp>
      <p:sp>
        <p:nvSpPr>
          <p:cNvPr id="65" name="TextBox 64"/>
          <p:cNvSpPr txBox="1"/>
          <p:nvPr/>
        </p:nvSpPr>
        <p:spPr>
          <a:xfrm>
            <a:off x="3291839" y="3968496"/>
            <a:ext cx="685800" cy="256032"/>
          </a:xfrm>
          <a:prstGeom prst="rect">
            <a:avLst/>
          </a:prstGeom>
          <a:noFill/>
        </p:spPr>
        <p:txBody>
          <a:bodyPr wrap="square">
            <a:spAutoFit/>
          </a:bodyPr>
          <a:lstStyle/>
          <a:p>
            <a:pPr algn="l"/>
            <a:r>
              <a:rPr sz="850" b="0" i="0">
                <a:solidFill>
                  <a:srgbClr val="1A1A1A"/>
                </a:solidFill>
              </a:rPr>
              <a:t>15%</a:t>
            </a:r>
          </a:p>
        </p:txBody>
      </p:sp>
      <p:sp>
        <p:nvSpPr>
          <p:cNvPr id="66" name="TextBox 65"/>
          <p:cNvSpPr txBox="1"/>
          <p:nvPr/>
        </p:nvSpPr>
        <p:spPr>
          <a:xfrm>
            <a:off x="4114800" y="3968496"/>
            <a:ext cx="868680" cy="256032"/>
          </a:xfrm>
          <a:prstGeom prst="rect">
            <a:avLst/>
          </a:prstGeom>
          <a:noFill/>
        </p:spPr>
        <p:txBody>
          <a:bodyPr wrap="square">
            <a:spAutoFit/>
          </a:bodyPr>
          <a:lstStyle/>
          <a:p>
            <a:pPr algn="l"/>
            <a:r>
              <a:rPr sz="850" b="0" i="0">
                <a:solidFill>
                  <a:srgbClr val="1A1A1A"/>
                </a:solidFill>
              </a:rPr>
              <a:t>$244</a:t>
            </a:r>
          </a:p>
        </p:txBody>
      </p:sp>
      <p:sp>
        <p:nvSpPr>
          <p:cNvPr id="67" name="TextBox 66"/>
          <p:cNvSpPr txBox="1"/>
          <p:nvPr/>
        </p:nvSpPr>
        <p:spPr>
          <a:xfrm>
            <a:off x="5120640" y="3968496"/>
            <a:ext cx="1051560" cy="256032"/>
          </a:xfrm>
          <a:prstGeom prst="rect">
            <a:avLst/>
          </a:prstGeom>
          <a:noFill/>
        </p:spPr>
        <p:txBody>
          <a:bodyPr wrap="square">
            <a:spAutoFit/>
          </a:bodyPr>
          <a:lstStyle/>
          <a:p>
            <a:pPr algn="l"/>
            <a:r>
              <a:rPr sz="850" b="0" i="0">
                <a:solidFill>
                  <a:srgbClr val="1A1A1A"/>
                </a:solidFill>
              </a:rPr>
              <a:t>$3,654</a:t>
            </a:r>
          </a:p>
        </p:txBody>
      </p:sp>
      <p:sp>
        <p:nvSpPr>
          <p:cNvPr id="68" name="TextBox 67"/>
          <p:cNvSpPr txBox="1"/>
          <p:nvPr/>
        </p:nvSpPr>
        <p:spPr>
          <a:xfrm>
            <a:off x="6309359" y="3968496"/>
            <a:ext cx="1051560" cy="256032"/>
          </a:xfrm>
          <a:prstGeom prst="rect">
            <a:avLst/>
          </a:prstGeom>
          <a:noFill/>
        </p:spPr>
        <p:txBody>
          <a:bodyPr wrap="square">
            <a:spAutoFit/>
          </a:bodyPr>
          <a:lstStyle/>
          <a:p>
            <a:pPr algn="l"/>
            <a:r>
              <a:rPr sz="850" b="0" i="0">
                <a:solidFill>
                  <a:srgbClr val="1A1A1A"/>
                </a:solidFill>
              </a:rPr>
              <a:t>147.0 days</a:t>
            </a:r>
          </a:p>
        </p:txBody>
      </p:sp>
      <p:sp>
        <p:nvSpPr>
          <p:cNvPr id="69" name="TextBox 68"/>
          <p:cNvSpPr txBox="1"/>
          <p:nvPr/>
        </p:nvSpPr>
        <p:spPr>
          <a:xfrm>
            <a:off x="7498080" y="3968496"/>
            <a:ext cx="1143000" cy="256032"/>
          </a:xfrm>
          <a:prstGeom prst="rect">
            <a:avLst/>
          </a:prstGeom>
          <a:noFill/>
        </p:spPr>
        <p:txBody>
          <a:bodyPr wrap="square">
            <a:spAutoFit/>
          </a:bodyPr>
          <a:lstStyle/>
          <a:p>
            <a:pPr algn="l"/>
            <a:r>
              <a:rPr sz="850" b="0" i="0">
                <a:solidFill>
                  <a:srgbClr val="1A1A1A"/>
                </a:solidFill>
              </a:rPr>
              <a:t>1x</a:t>
            </a:r>
          </a:p>
        </p:txBody>
      </p:sp>
      <p:sp>
        <p:nvSpPr>
          <p:cNvPr id="70" name="TextBox 69"/>
          <p:cNvSpPr txBox="1"/>
          <p:nvPr/>
        </p:nvSpPr>
        <p:spPr>
          <a:xfrm>
            <a:off x="8778240" y="3968496"/>
            <a:ext cx="2834640" cy="256032"/>
          </a:xfrm>
          <a:prstGeom prst="rect">
            <a:avLst/>
          </a:prstGeom>
          <a:noFill/>
        </p:spPr>
        <p:txBody>
          <a:bodyPr wrap="square">
            <a:spAutoFit/>
          </a:bodyPr>
          <a:lstStyle/>
          <a:p>
            <a:pPr algn="l"/>
            <a:r>
              <a:rPr sz="850" b="0" i="0">
                <a:solidFill>
                  <a:srgbClr val="1A1A1A"/>
                </a:solidFill>
              </a:rPr>
              <a:t>$731</a:t>
            </a:r>
          </a:p>
        </p:txBody>
      </p:sp>
      <p:sp>
        <p:nvSpPr>
          <p:cNvPr id="71" name="Rectangle 70"/>
          <p:cNvSpPr/>
          <p:nvPr/>
        </p:nvSpPr>
        <p:spPr>
          <a:xfrm>
            <a:off x="320040" y="4334256"/>
            <a:ext cx="115214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5759" y="4443984"/>
            <a:ext cx="2011679" cy="256032"/>
          </a:xfrm>
          <a:prstGeom prst="rect">
            <a:avLst/>
          </a:prstGeom>
          <a:noFill/>
        </p:spPr>
        <p:txBody>
          <a:bodyPr wrap="square">
            <a:spAutoFit/>
          </a:bodyPr>
          <a:lstStyle/>
          <a:p>
            <a:pPr algn="l"/>
            <a:r>
              <a:rPr sz="850" b="0" i="0">
                <a:solidFill>
                  <a:srgbClr val="1A1A1A"/>
                </a:solidFill>
              </a:rPr>
              <a:t>Hibernating</a:t>
            </a:r>
          </a:p>
        </p:txBody>
      </p:sp>
      <p:sp>
        <p:nvSpPr>
          <p:cNvPr id="73" name="TextBox 72"/>
          <p:cNvSpPr txBox="1"/>
          <p:nvPr/>
        </p:nvSpPr>
        <p:spPr>
          <a:xfrm>
            <a:off x="2514600" y="4443984"/>
            <a:ext cx="640080" cy="256032"/>
          </a:xfrm>
          <a:prstGeom prst="rect">
            <a:avLst/>
          </a:prstGeom>
          <a:noFill/>
        </p:spPr>
        <p:txBody>
          <a:bodyPr wrap="square">
            <a:spAutoFit/>
          </a:bodyPr>
          <a:lstStyle/>
          <a:p>
            <a:pPr algn="l"/>
            <a:r>
              <a:rPr sz="850" b="0" i="0">
                <a:solidFill>
                  <a:srgbClr val="1A1A1A"/>
                </a:solidFill>
              </a:rPr>
              <a:t>20</a:t>
            </a:r>
          </a:p>
        </p:txBody>
      </p:sp>
      <p:sp>
        <p:nvSpPr>
          <p:cNvPr id="74" name="TextBox 73"/>
          <p:cNvSpPr txBox="1"/>
          <p:nvPr/>
        </p:nvSpPr>
        <p:spPr>
          <a:xfrm>
            <a:off x="3291839" y="4443984"/>
            <a:ext cx="685800" cy="256032"/>
          </a:xfrm>
          <a:prstGeom prst="rect">
            <a:avLst/>
          </a:prstGeom>
          <a:noFill/>
        </p:spPr>
        <p:txBody>
          <a:bodyPr wrap="square">
            <a:spAutoFit/>
          </a:bodyPr>
          <a:lstStyle/>
          <a:p>
            <a:pPr algn="l"/>
            <a:r>
              <a:rPr sz="850" b="0" i="0">
                <a:solidFill>
                  <a:srgbClr val="1A1A1A"/>
                </a:solidFill>
              </a:rPr>
              <a:t>20%</a:t>
            </a:r>
          </a:p>
        </p:txBody>
      </p:sp>
      <p:sp>
        <p:nvSpPr>
          <p:cNvPr id="75" name="TextBox 74"/>
          <p:cNvSpPr txBox="1"/>
          <p:nvPr/>
        </p:nvSpPr>
        <p:spPr>
          <a:xfrm>
            <a:off x="4114800" y="4443984"/>
            <a:ext cx="868680" cy="256032"/>
          </a:xfrm>
          <a:prstGeom prst="rect">
            <a:avLst/>
          </a:prstGeom>
          <a:noFill/>
        </p:spPr>
        <p:txBody>
          <a:bodyPr wrap="square">
            <a:spAutoFit/>
          </a:bodyPr>
          <a:lstStyle/>
          <a:p>
            <a:pPr algn="l"/>
            <a:r>
              <a:rPr sz="850" b="0" i="0">
                <a:solidFill>
                  <a:srgbClr val="1A1A1A"/>
                </a:solidFill>
              </a:rPr>
              <a:t>$192</a:t>
            </a:r>
          </a:p>
        </p:txBody>
      </p:sp>
      <p:sp>
        <p:nvSpPr>
          <p:cNvPr id="76" name="TextBox 75"/>
          <p:cNvSpPr txBox="1"/>
          <p:nvPr/>
        </p:nvSpPr>
        <p:spPr>
          <a:xfrm>
            <a:off x="5120640" y="4443984"/>
            <a:ext cx="1051560" cy="256032"/>
          </a:xfrm>
          <a:prstGeom prst="rect">
            <a:avLst/>
          </a:prstGeom>
          <a:noFill/>
        </p:spPr>
        <p:txBody>
          <a:bodyPr wrap="square">
            <a:spAutoFit/>
          </a:bodyPr>
          <a:lstStyle/>
          <a:p>
            <a:pPr algn="l"/>
            <a:r>
              <a:rPr sz="850" b="0" i="0">
                <a:solidFill>
                  <a:srgbClr val="1A1A1A"/>
                </a:solidFill>
              </a:rPr>
              <a:t>$3,842</a:t>
            </a:r>
          </a:p>
        </p:txBody>
      </p:sp>
      <p:sp>
        <p:nvSpPr>
          <p:cNvPr id="77" name="TextBox 76"/>
          <p:cNvSpPr txBox="1"/>
          <p:nvPr/>
        </p:nvSpPr>
        <p:spPr>
          <a:xfrm>
            <a:off x="6309359" y="4443984"/>
            <a:ext cx="1051560" cy="256032"/>
          </a:xfrm>
          <a:prstGeom prst="rect">
            <a:avLst/>
          </a:prstGeom>
          <a:noFill/>
        </p:spPr>
        <p:txBody>
          <a:bodyPr wrap="square">
            <a:spAutoFit/>
          </a:bodyPr>
          <a:lstStyle/>
          <a:p>
            <a:pPr algn="l"/>
            <a:r>
              <a:rPr sz="850" b="0" i="0">
                <a:solidFill>
                  <a:srgbClr val="1A1A1A"/>
                </a:solidFill>
              </a:rPr>
              <a:t>230.0 days</a:t>
            </a:r>
          </a:p>
        </p:txBody>
      </p:sp>
      <p:sp>
        <p:nvSpPr>
          <p:cNvPr id="78" name="TextBox 77"/>
          <p:cNvSpPr txBox="1"/>
          <p:nvPr/>
        </p:nvSpPr>
        <p:spPr>
          <a:xfrm>
            <a:off x="7498080" y="4443984"/>
            <a:ext cx="1143000" cy="256032"/>
          </a:xfrm>
          <a:prstGeom prst="rect">
            <a:avLst/>
          </a:prstGeom>
          <a:noFill/>
        </p:spPr>
        <p:txBody>
          <a:bodyPr wrap="square">
            <a:spAutoFit/>
          </a:bodyPr>
          <a:lstStyle/>
          <a:p>
            <a:pPr algn="l"/>
            <a:r>
              <a:rPr sz="850" b="0" i="0">
                <a:solidFill>
                  <a:srgbClr val="1A1A1A"/>
                </a:solidFill>
              </a:rPr>
              <a:t>1x</a:t>
            </a:r>
          </a:p>
        </p:txBody>
      </p:sp>
      <p:sp>
        <p:nvSpPr>
          <p:cNvPr id="79" name="TextBox 78"/>
          <p:cNvSpPr txBox="1"/>
          <p:nvPr/>
        </p:nvSpPr>
        <p:spPr>
          <a:xfrm>
            <a:off x="8778240" y="4443984"/>
            <a:ext cx="2834640" cy="256032"/>
          </a:xfrm>
          <a:prstGeom prst="rect">
            <a:avLst/>
          </a:prstGeom>
          <a:noFill/>
        </p:spPr>
        <p:txBody>
          <a:bodyPr wrap="square">
            <a:spAutoFit/>
          </a:bodyPr>
          <a:lstStyle/>
          <a:p>
            <a:pPr algn="l"/>
            <a:r>
              <a:rPr sz="850" b="0" i="0">
                <a:solidFill>
                  <a:srgbClr val="1A1A1A"/>
                </a:solidFill>
              </a:rPr>
              <a:t>$725</a:t>
            </a:r>
          </a:p>
        </p:txBody>
      </p:sp>
      <p:sp>
        <p:nvSpPr>
          <p:cNvPr id="80" name="Rectangle 79"/>
          <p:cNvSpPr/>
          <p:nvPr/>
        </p:nvSpPr>
        <p:spPr>
          <a:xfrm>
            <a:off x="320040" y="4809744"/>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65759" y="4919472"/>
            <a:ext cx="2011679" cy="256032"/>
          </a:xfrm>
          <a:prstGeom prst="rect">
            <a:avLst/>
          </a:prstGeom>
          <a:noFill/>
        </p:spPr>
        <p:txBody>
          <a:bodyPr wrap="square">
            <a:spAutoFit/>
          </a:bodyPr>
          <a:lstStyle/>
          <a:p>
            <a:pPr algn="l"/>
            <a:r>
              <a:rPr sz="850" b="0" i="0">
                <a:solidFill>
                  <a:srgbClr val="1A1A1A"/>
                </a:solidFill>
              </a:rPr>
              <a:t>Lost</a:t>
            </a:r>
          </a:p>
        </p:txBody>
      </p:sp>
      <p:sp>
        <p:nvSpPr>
          <p:cNvPr id="82" name="TextBox 81"/>
          <p:cNvSpPr txBox="1"/>
          <p:nvPr/>
        </p:nvSpPr>
        <p:spPr>
          <a:xfrm>
            <a:off x="2514600" y="4919472"/>
            <a:ext cx="640080" cy="256032"/>
          </a:xfrm>
          <a:prstGeom prst="rect">
            <a:avLst/>
          </a:prstGeom>
          <a:noFill/>
        </p:spPr>
        <p:txBody>
          <a:bodyPr wrap="square">
            <a:spAutoFit/>
          </a:bodyPr>
          <a:lstStyle/>
          <a:p>
            <a:pPr algn="l"/>
            <a:r>
              <a:rPr sz="850" b="0" i="0">
                <a:solidFill>
                  <a:srgbClr val="1A1A1A"/>
                </a:solidFill>
              </a:rPr>
              <a:t>20</a:t>
            </a:r>
          </a:p>
        </p:txBody>
      </p:sp>
      <p:sp>
        <p:nvSpPr>
          <p:cNvPr id="83" name="TextBox 82"/>
          <p:cNvSpPr txBox="1"/>
          <p:nvPr/>
        </p:nvSpPr>
        <p:spPr>
          <a:xfrm>
            <a:off x="3291839" y="4919472"/>
            <a:ext cx="685800" cy="256032"/>
          </a:xfrm>
          <a:prstGeom prst="rect">
            <a:avLst/>
          </a:prstGeom>
          <a:noFill/>
        </p:spPr>
        <p:txBody>
          <a:bodyPr wrap="square">
            <a:spAutoFit/>
          </a:bodyPr>
          <a:lstStyle/>
          <a:p>
            <a:pPr algn="l"/>
            <a:r>
              <a:rPr sz="850" b="0" i="0">
                <a:solidFill>
                  <a:srgbClr val="1A1A1A"/>
                </a:solidFill>
              </a:rPr>
              <a:t>20%</a:t>
            </a:r>
          </a:p>
        </p:txBody>
      </p:sp>
      <p:sp>
        <p:nvSpPr>
          <p:cNvPr id="84" name="TextBox 83"/>
          <p:cNvSpPr txBox="1"/>
          <p:nvPr/>
        </p:nvSpPr>
        <p:spPr>
          <a:xfrm>
            <a:off x="4114800" y="4919472"/>
            <a:ext cx="868680" cy="256032"/>
          </a:xfrm>
          <a:prstGeom prst="rect">
            <a:avLst/>
          </a:prstGeom>
          <a:noFill/>
        </p:spPr>
        <p:txBody>
          <a:bodyPr wrap="square">
            <a:spAutoFit/>
          </a:bodyPr>
          <a:lstStyle/>
          <a:p>
            <a:pPr algn="l"/>
            <a:r>
              <a:rPr sz="850" b="0" i="0">
                <a:solidFill>
                  <a:srgbClr val="1A1A1A"/>
                </a:solidFill>
              </a:rPr>
              <a:t>$142</a:t>
            </a:r>
          </a:p>
        </p:txBody>
      </p:sp>
      <p:sp>
        <p:nvSpPr>
          <p:cNvPr id="85" name="TextBox 84"/>
          <p:cNvSpPr txBox="1"/>
          <p:nvPr/>
        </p:nvSpPr>
        <p:spPr>
          <a:xfrm>
            <a:off x="5120640" y="4919472"/>
            <a:ext cx="1051560" cy="256032"/>
          </a:xfrm>
          <a:prstGeom prst="rect">
            <a:avLst/>
          </a:prstGeom>
          <a:noFill/>
        </p:spPr>
        <p:txBody>
          <a:bodyPr wrap="square">
            <a:spAutoFit/>
          </a:bodyPr>
          <a:lstStyle/>
          <a:p>
            <a:pPr algn="l"/>
            <a:r>
              <a:rPr sz="850" b="0" i="0">
                <a:solidFill>
                  <a:srgbClr val="1A1A1A"/>
                </a:solidFill>
              </a:rPr>
              <a:t>$2,843</a:t>
            </a:r>
          </a:p>
        </p:txBody>
      </p:sp>
      <p:sp>
        <p:nvSpPr>
          <p:cNvPr id="86" name="TextBox 85"/>
          <p:cNvSpPr txBox="1"/>
          <p:nvPr/>
        </p:nvSpPr>
        <p:spPr>
          <a:xfrm>
            <a:off x="6309359" y="4919472"/>
            <a:ext cx="1051560" cy="256032"/>
          </a:xfrm>
          <a:prstGeom prst="rect">
            <a:avLst/>
          </a:prstGeom>
          <a:noFill/>
        </p:spPr>
        <p:txBody>
          <a:bodyPr wrap="square">
            <a:spAutoFit/>
          </a:bodyPr>
          <a:lstStyle/>
          <a:p>
            <a:pPr algn="l"/>
            <a:r>
              <a:rPr sz="850" b="0" i="0">
                <a:solidFill>
                  <a:srgbClr val="1A1A1A"/>
                </a:solidFill>
              </a:rPr>
              <a:t>333.0 days</a:t>
            </a:r>
          </a:p>
        </p:txBody>
      </p:sp>
      <p:sp>
        <p:nvSpPr>
          <p:cNvPr id="87" name="TextBox 86"/>
          <p:cNvSpPr txBox="1"/>
          <p:nvPr/>
        </p:nvSpPr>
        <p:spPr>
          <a:xfrm>
            <a:off x="7498080" y="4919472"/>
            <a:ext cx="1143000" cy="256032"/>
          </a:xfrm>
          <a:prstGeom prst="rect">
            <a:avLst/>
          </a:prstGeom>
          <a:noFill/>
        </p:spPr>
        <p:txBody>
          <a:bodyPr wrap="square">
            <a:spAutoFit/>
          </a:bodyPr>
          <a:lstStyle/>
          <a:p>
            <a:pPr algn="l"/>
            <a:r>
              <a:rPr sz="850" b="0" i="0">
                <a:solidFill>
                  <a:srgbClr val="1A1A1A"/>
                </a:solidFill>
              </a:rPr>
              <a:t>1x</a:t>
            </a:r>
          </a:p>
        </p:txBody>
      </p:sp>
      <p:sp>
        <p:nvSpPr>
          <p:cNvPr id="88" name="TextBox 87"/>
          <p:cNvSpPr txBox="1"/>
          <p:nvPr/>
        </p:nvSpPr>
        <p:spPr>
          <a:xfrm>
            <a:off x="8778240" y="4919472"/>
            <a:ext cx="2834640" cy="256032"/>
          </a:xfrm>
          <a:prstGeom prst="rect">
            <a:avLst/>
          </a:prstGeom>
          <a:noFill/>
        </p:spPr>
        <p:txBody>
          <a:bodyPr wrap="square">
            <a:spAutoFit/>
          </a:bodyPr>
          <a:lstStyle/>
          <a:p>
            <a:pPr algn="l"/>
            <a:r>
              <a:rPr sz="850" b="0" i="0">
                <a:solidFill>
                  <a:srgbClr val="1A1A1A"/>
                </a:solidFill>
              </a:rPr>
              <a:t>$710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058400" cy="502920"/>
          </a:xfrm>
          <a:prstGeom prst="rect">
            <a:avLst/>
          </a:prstGeom>
          <a:noFill/>
        </p:spPr>
        <p:txBody>
          <a:bodyPr wrap="square">
            <a:spAutoFit/>
          </a:bodyPr>
          <a:lstStyle/>
          <a:p>
            <a:pPr algn="l"/>
            <a:r>
              <a:rPr sz="2000" b="1" i="0">
                <a:solidFill>
                  <a:srgbClr val="FFFFFF"/>
                </a:solidFill>
              </a:rPr>
              <a:t>How This Was Built</a:t>
            </a:r>
          </a:p>
        </p:txBody>
      </p:sp>
      <p:sp>
        <p:nvSpPr>
          <p:cNvPr id="4" name="TextBox 3"/>
          <p:cNvSpPr txBox="1"/>
          <p:nvPr/>
        </p:nvSpPr>
        <p:spPr>
          <a:xfrm>
            <a:off x="365760" y="594360"/>
            <a:ext cx="10058400" cy="347472"/>
          </a:xfrm>
          <a:prstGeom prst="rect">
            <a:avLst/>
          </a:prstGeom>
          <a:noFill/>
        </p:spPr>
        <p:txBody>
          <a:bodyPr wrap="square">
            <a:spAutoFit/>
          </a:bodyPr>
          <a:lstStyle/>
          <a:p>
            <a:pPr algn="l"/>
            <a:r>
              <a:rPr sz="1100" b="0" i="0">
                <a:solidFill>
                  <a:srgbClr val="BDD7EE"/>
                </a:solidFill>
              </a:rPr>
              <a:t>Reading customer language without training a model</a:t>
            </a:r>
          </a:p>
        </p:txBody>
      </p:sp>
      <p:cxnSp>
        <p:nvCxnSpPr>
          <p:cNvPr id="5" name="Connector 4"/>
          <p:cNvCxnSpPr/>
          <p:nvPr/>
        </p:nvCxnSpPr>
        <p:spPr>
          <a:xfrm>
            <a:off x="365760" y="6537960"/>
            <a:ext cx="11457432" cy="0"/>
          </a:xfrm>
          <a:prstGeom prst="line">
            <a:avLst/>
          </a:prstGeom>
          <a:ln w="6350">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 y="6565392"/>
            <a:ext cx="5486400" cy="228600"/>
          </a:xfrm>
          <a:prstGeom prst="rect">
            <a:avLst/>
          </a:prstGeom>
          <a:noFill/>
        </p:spPr>
        <p:txBody>
          <a:bodyPr wrap="square">
            <a:spAutoFit/>
          </a:bodyPr>
          <a:lstStyle/>
          <a:p>
            <a:pPr algn="l"/>
            <a:r>
              <a:rPr sz="700" b="0" i="0">
                <a:solidFill>
                  <a:srgbClr val="595959"/>
                </a:solidFill>
              </a:rPr>
              <a:t>CONFIDENTIAL — RFM Customer Analysis</a:t>
            </a:r>
          </a:p>
        </p:txBody>
      </p:sp>
      <p:sp>
        <p:nvSpPr>
          <p:cNvPr id="7" name="TextBox 6"/>
          <p:cNvSpPr txBox="1"/>
          <p:nvPr/>
        </p:nvSpPr>
        <p:spPr>
          <a:xfrm>
            <a:off x="11704320" y="6492240"/>
            <a:ext cx="365760" cy="274320"/>
          </a:xfrm>
          <a:prstGeom prst="rect">
            <a:avLst/>
          </a:prstGeom>
          <a:noFill/>
        </p:spPr>
        <p:txBody>
          <a:bodyPr wrap="square">
            <a:spAutoFit/>
          </a:bodyPr>
          <a:lstStyle/>
          <a:p>
            <a:pPr algn="r"/>
            <a:r>
              <a:rPr sz="900" b="0" i="0">
                <a:solidFill>
                  <a:srgbClr val="595959"/>
                </a:solidFill>
              </a:rPr>
              <a:t>14</a:t>
            </a:r>
          </a:p>
        </p:txBody>
      </p:sp>
      <p:sp>
        <p:nvSpPr>
          <p:cNvPr id="8" name="Rectangle 7"/>
          <p:cNvSpPr/>
          <p:nvPr/>
        </p:nvSpPr>
        <p:spPr>
          <a:xfrm>
            <a:off x="365760" y="1143000"/>
            <a:ext cx="3703320" cy="4160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43000"/>
            <a:ext cx="3703320" cy="640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298448"/>
            <a:ext cx="3383280" cy="228600"/>
          </a:xfrm>
          <a:prstGeom prst="rect">
            <a:avLst/>
          </a:prstGeom>
          <a:noFill/>
        </p:spPr>
        <p:txBody>
          <a:bodyPr wrap="square">
            <a:spAutoFit/>
          </a:bodyPr>
          <a:lstStyle/>
          <a:p>
            <a:pPr algn="l"/>
            <a:r>
              <a:rPr sz="800" b="1" i="0">
                <a:solidFill>
                  <a:srgbClr val="0070C0"/>
                </a:solidFill>
              </a:rPr>
              <a:t>WHAT WE ASKED</a:t>
            </a:r>
          </a:p>
        </p:txBody>
      </p:sp>
      <p:sp>
        <p:nvSpPr>
          <p:cNvPr id="11" name="TextBox 10"/>
          <p:cNvSpPr txBox="1"/>
          <p:nvPr/>
        </p:nvSpPr>
        <p:spPr>
          <a:xfrm>
            <a:off x="566928" y="1554480"/>
            <a:ext cx="3383280" cy="548640"/>
          </a:xfrm>
          <a:prstGeom prst="rect">
            <a:avLst/>
          </a:prstGeom>
          <a:noFill/>
        </p:spPr>
        <p:txBody>
          <a:bodyPr wrap="square">
            <a:spAutoFit/>
          </a:bodyPr>
          <a:lstStyle/>
          <a:p>
            <a:pPr algn="l"/>
            <a:r>
              <a:rPr sz="1000" b="1" i="0">
                <a:solidFill>
                  <a:srgbClr val="1A1A1A"/>
                </a:solidFill>
              </a:rPr>
              <a:t>Five plain questions about each
customer's most recent message</a:t>
            </a:r>
          </a:p>
        </p:txBody>
      </p:sp>
      <p:sp>
        <p:nvSpPr>
          <p:cNvPr id="12" name="TextBox 11"/>
          <p:cNvSpPr txBox="1"/>
          <p:nvPr/>
        </p:nvSpPr>
        <p:spPr>
          <a:xfrm>
            <a:off x="566928" y="2212848"/>
            <a:ext cx="3337560" cy="822960"/>
          </a:xfrm>
          <a:prstGeom prst="rect">
            <a:avLst/>
          </a:prstGeom>
          <a:noFill/>
        </p:spPr>
        <p:txBody>
          <a:bodyPr wrap="square">
            <a:spAutoFit/>
          </a:bodyPr>
          <a:lstStyle/>
          <a:p>
            <a:pPr algn="l"/>
            <a:r>
              <a:rPr sz="800" b="0" i="0">
                <a:solidFill>
                  <a:srgbClr val="595959"/>
                </a:solidFill>
              </a:rPr>
              <a:t>–  Are they signalling they want to leave?</a:t>
            </a:r>
          </a:p>
        </p:txBody>
      </p:sp>
      <p:sp>
        <p:nvSpPr>
          <p:cNvPr id="13" name="TextBox 12"/>
          <p:cNvSpPr txBox="1"/>
          <p:nvPr/>
        </p:nvSpPr>
        <p:spPr>
          <a:xfrm>
            <a:off x="566928" y="2555748"/>
            <a:ext cx="3337560" cy="822960"/>
          </a:xfrm>
          <a:prstGeom prst="rect">
            <a:avLst/>
          </a:prstGeom>
          <a:noFill/>
        </p:spPr>
        <p:txBody>
          <a:bodyPr wrap="square">
            <a:spAutoFit/>
          </a:bodyPr>
          <a:lstStyle/>
          <a:p>
            <a:pPr algn="l"/>
            <a:r>
              <a:rPr sz="800" b="0" i="0">
                <a:solidFill>
                  <a:srgbClr val="595959"/>
                </a:solidFill>
              </a:rPr>
              <a:t>–  How serious is the problem they describe?</a:t>
            </a:r>
          </a:p>
        </p:txBody>
      </p:sp>
      <p:sp>
        <p:nvSpPr>
          <p:cNvPr id="14" name="TextBox 13"/>
          <p:cNvSpPr txBox="1"/>
          <p:nvPr/>
        </p:nvSpPr>
        <p:spPr>
          <a:xfrm>
            <a:off x="566928" y="2898648"/>
            <a:ext cx="3337560" cy="822960"/>
          </a:xfrm>
          <a:prstGeom prst="rect">
            <a:avLst/>
          </a:prstGeom>
          <a:noFill/>
        </p:spPr>
        <p:txBody>
          <a:bodyPr wrap="square">
            <a:spAutoFit/>
          </a:bodyPr>
          <a:lstStyle/>
          <a:p>
            <a:pPr algn="l"/>
            <a:r>
              <a:rPr sz="800" b="0" i="0">
                <a:solidFill>
                  <a:srgbClr val="595959"/>
                </a:solidFill>
              </a:rPr>
              <a:t>–  What is driving it — service, price, the product, a competitor, or something on their side?</a:t>
            </a:r>
          </a:p>
        </p:txBody>
      </p:sp>
      <p:sp>
        <p:nvSpPr>
          <p:cNvPr id="15" name="TextBox 14"/>
          <p:cNvSpPr txBox="1"/>
          <p:nvPr/>
        </p:nvSpPr>
        <p:spPr>
          <a:xfrm>
            <a:off x="566928" y="3364991"/>
            <a:ext cx="3337560" cy="822960"/>
          </a:xfrm>
          <a:prstGeom prst="rect">
            <a:avLst/>
          </a:prstGeom>
          <a:noFill/>
        </p:spPr>
        <p:txBody>
          <a:bodyPr wrap="square">
            <a:spAutoFit/>
          </a:bodyPr>
          <a:lstStyle/>
          <a:p>
            <a:pPr algn="l"/>
            <a:r>
              <a:rPr sz="800" b="0" i="0">
                <a:solidFill>
                  <a:srgbClr val="595959"/>
                </a:solidFill>
              </a:rPr>
              <a:t>–  Could we still keep them if we acted this fortnight?</a:t>
            </a:r>
          </a:p>
        </p:txBody>
      </p:sp>
      <p:sp>
        <p:nvSpPr>
          <p:cNvPr id="16" name="TextBox 15"/>
          <p:cNvSpPr txBox="1"/>
          <p:nvPr/>
        </p:nvSpPr>
        <p:spPr>
          <a:xfrm>
            <a:off x="566928" y="3831335"/>
            <a:ext cx="3337560" cy="822960"/>
          </a:xfrm>
          <a:prstGeom prst="rect">
            <a:avLst/>
          </a:prstGeom>
          <a:noFill/>
        </p:spPr>
        <p:txBody>
          <a:bodyPr wrap="square">
            <a:spAutoFit/>
          </a:bodyPr>
          <a:lstStyle/>
          <a:p>
            <a:pPr algn="l"/>
            <a:r>
              <a:rPr sz="800" b="0" i="0">
                <a:solidFill>
                  <a:srgbClr val="595959"/>
                </a:solidFill>
              </a:rPr>
              <a:t>–  Does this need a person, or will a campaign do?</a:t>
            </a:r>
          </a:p>
        </p:txBody>
      </p:sp>
      <p:sp>
        <p:nvSpPr>
          <p:cNvPr id="17" name="TextBox 16"/>
          <p:cNvSpPr txBox="1"/>
          <p:nvPr/>
        </p:nvSpPr>
        <p:spPr>
          <a:xfrm>
            <a:off x="566928" y="4174235"/>
            <a:ext cx="3337560" cy="822960"/>
          </a:xfrm>
          <a:prstGeom prst="rect">
            <a:avLst/>
          </a:prstGeom>
          <a:noFill/>
        </p:spPr>
        <p:txBody>
          <a:bodyPr wrap="square">
            <a:spAutoFit/>
          </a:bodyPr>
          <a:lstStyle/>
          <a:p>
            <a:pPr algn="l"/>
            <a:r>
              <a:rPr sz="800" b="0" i="0">
                <a:solidFill>
                  <a:srgbClr val="595959"/>
                </a:solidFill>
              </a:rPr>
              <a:t>–  Answers come back as numbers, not paragraphs, so ordinary code can use them directly.</a:t>
            </a:r>
          </a:p>
        </p:txBody>
      </p:sp>
      <p:sp>
        <p:nvSpPr>
          <p:cNvPr id="18" name="Rectangle 17"/>
          <p:cNvSpPr/>
          <p:nvPr/>
        </p:nvSpPr>
        <p:spPr>
          <a:xfrm>
            <a:off x="4315968" y="1143000"/>
            <a:ext cx="3703320" cy="4160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5968" y="1143000"/>
            <a:ext cx="3703320"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7136" y="1298448"/>
            <a:ext cx="3383280" cy="228600"/>
          </a:xfrm>
          <a:prstGeom prst="rect">
            <a:avLst/>
          </a:prstGeom>
          <a:noFill/>
        </p:spPr>
        <p:txBody>
          <a:bodyPr wrap="square">
            <a:spAutoFit/>
          </a:bodyPr>
          <a:lstStyle/>
          <a:p>
            <a:pPr algn="l"/>
            <a:r>
              <a:rPr sz="800" b="1" i="0">
                <a:solidFill>
                  <a:srgbClr val="C00000"/>
                </a:solidFill>
              </a:rPr>
              <a:t>WHY NOT A TRAINED MODEL</a:t>
            </a:r>
          </a:p>
        </p:txBody>
      </p:sp>
      <p:sp>
        <p:nvSpPr>
          <p:cNvPr id="21" name="TextBox 20"/>
          <p:cNvSpPr txBox="1"/>
          <p:nvPr/>
        </p:nvSpPr>
        <p:spPr>
          <a:xfrm>
            <a:off x="4517136" y="1554480"/>
            <a:ext cx="3383280" cy="548640"/>
          </a:xfrm>
          <a:prstGeom prst="rect">
            <a:avLst/>
          </a:prstGeom>
          <a:noFill/>
        </p:spPr>
        <p:txBody>
          <a:bodyPr wrap="square">
            <a:spAutoFit/>
          </a:bodyPr>
          <a:lstStyle/>
          <a:p>
            <a:pPr algn="l"/>
            <a:r>
              <a:rPr sz="1000" b="1" i="0">
                <a:solidFill>
                  <a:srgbClr val="1A1A1A"/>
                </a:solidFill>
              </a:rPr>
              <a:t>The usual approach did not fit
the problem we actually had</a:t>
            </a:r>
          </a:p>
        </p:txBody>
      </p:sp>
      <p:sp>
        <p:nvSpPr>
          <p:cNvPr id="22" name="TextBox 21"/>
          <p:cNvSpPr txBox="1"/>
          <p:nvPr/>
        </p:nvSpPr>
        <p:spPr>
          <a:xfrm>
            <a:off x="4517136" y="2212848"/>
            <a:ext cx="3337560" cy="822960"/>
          </a:xfrm>
          <a:prstGeom prst="rect">
            <a:avLst/>
          </a:prstGeom>
          <a:noFill/>
        </p:spPr>
        <p:txBody>
          <a:bodyPr wrap="square">
            <a:spAutoFit/>
          </a:bodyPr>
          <a:lstStyle/>
          <a:p>
            <a:pPr algn="l"/>
            <a:r>
              <a:rPr sz="800" b="0" i="0">
                <a:solidFill>
                  <a:srgbClr val="595959"/>
                </a:solidFill>
              </a:rPr>
              <a:t>–  A trained classifier learns from examples. It needs thousands of past messages, each labelled by hand by someone who already knew the answer. We have 100 customers and no labels at all.</a:t>
            </a:r>
          </a:p>
        </p:txBody>
      </p:sp>
      <p:sp>
        <p:nvSpPr>
          <p:cNvPr id="23" name="TextBox 22"/>
          <p:cNvSpPr txBox="1"/>
          <p:nvPr/>
        </p:nvSpPr>
        <p:spPr>
          <a:xfrm>
            <a:off x="4517136" y="2926080"/>
            <a:ext cx="3337560" cy="822960"/>
          </a:xfrm>
          <a:prstGeom prst="rect">
            <a:avLst/>
          </a:prstGeom>
          <a:noFill/>
        </p:spPr>
        <p:txBody>
          <a:bodyPr wrap="square">
            <a:spAutoFit/>
          </a:bodyPr>
          <a:lstStyle/>
          <a:p>
            <a:pPr algn="l"/>
            <a:r>
              <a:rPr sz="800" b="0" i="0">
                <a:solidFill>
                  <a:srgbClr val="595959"/>
                </a:solidFill>
              </a:rPr>
              <a:t>–  Every new question would mean another labelled set and another training run. Here, adding a question took minutes.</a:t>
            </a:r>
          </a:p>
        </p:txBody>
      </p:sp>
      <p:sp>
        <p:nvSpPr>
          <p:cNvPr id="24" name="TextBox 23"/>
          <p:cNvSpPr txBox="1"/>
          <p:nvPr/>
        </p:nvSpPr>
        <p:spPr>
          <a:xfrm>
            <a:off x="4517136" y="3515868"/>
            <a:ext cx="3337560" cy="822960"/>
          </a:xfrm>
          <a:prstGeom prst="rect">
            <a:avLst/>
          </a:prstGeom>
          <a:noFill/>
        </p:spPr>
        <p:txBody>
          <a:bodyPr wrap="square">
            <a:spAutoFit/>
          </a:bodyPr>
          <a:lstStyle/>
          <a:p>
            <a:pPr algn="l"/>
            <a:r>
              <a:rPr sz="800" b="0" i="0">
                <a:solidFill>
                  <a:srgbClr val="595959"/>
                </a:solidFill>
              </a:rPr>
              <a:t>–  Our first scoring rule was wrong — it treated a furious customer as safe. Fixing it cost nothing, because the answers were already saved and we simply re-scored them. Retraining a model would have meant starting again.</a:t>
            </a:r>
          </a:p>
        </p:txBody>
      </p:sp>
      <p:sp>
        <p:nvSpPr>
          <p:cNvPr id="25" name="Rectangle 24"/>
          <p:cNvSpPr/>
          <p:nvPr/>
        </p:nvSpPr>
        <p:spPr>
          <a:xfrm>
            <a:off x="8266176" y="1143000"/>
            <a:ext cx="3703320" cy="4160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66176" y="1143000"/>
            <a:ext cx="3703320" cy="64008"/>
          </a:xfrm>
          <a:prstGeom prst="rect">
            <a:avLst/>
          </a:prstGeom>
          <a:solidFill>
            <a:srgbClr val="007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67344" y="1298448"/>
            <a:ext cx="3383280" cy="228600"/>
          </a:xfrm>
          <a:prstGeom prst="rect">
            <a:avLst/>
          </a:prstGeom>
          <a:noFill/>
        </p:spPr>
        <p:txBody>
          <a:bodyPr wrap="square">
            <a:spAutoFit/>
          </a:bodyPr>
          <a:lstStyle/>
          <a:p>
            <a:pPr algn="l"/>
            <a:r>
              <a:rPr sz="800" b="1" i="0">
                <a:solidFill>
                  <a:srgbClr val="007050"/>
                </a:solidFill>
              </a:rPr>
              <a:t>WHAT STAYED ORDINARY CODE</a:t>
            </a:r>
          </a:p>
        </p:txBody>
      </p:sp>
      <p:sp>
        <p:nvSpPr>
          <p:cNvPr id="28" name="TextBox 27"/>
          <p:cNvSpPr txBox="1"/>
          <p:nvPr/>
        </p:nvSpPr>
        <p:spPr>
          <a:xfrm>
            <a:off x="8467344" y="1554480"/>
            <a:ext cx="3383280" cy="548640"/>
          </a:xfrm>
          <a:prstGeom prst="rect">
            <a:avLst/>
          </a:prstGeom>
          <a:noFill/>
        </p:spPr>
        <p:txBody>
          <a:bodyPr wrap="square">
            <a:spAutoFit/>
          </a:bodyPr>
          <a:lstStyle/>
          <a:p>
            <a:pPr algn="l"/>
            <a:r>
              <a:rPr sz="1000" b="1" i="0">
                <a:solidFill>
                  <a:srgbClr val="1A1A1A"/>
                </a:solidFill>
              </a:rPr>
              <a:t>The model never touches
a single calculation</a:t>
            </a:r>
          </a:p>
        </p:txBody>
      </p:sp>
      <p:sp>
        <p:nvSpPr>
          <p:cNvPr id="29" name="TextBox 28"/>
          <p:cNvSpPr txBox="1"/>
          <p:nvPr/>
        </p:nvSpPr>
        <p:spPr>
          <a:xfrm>
            <a:off x="8467344" y="2212848"/>
            <a:ext cx="3337560" cy="822960"/>
          </a:xfrm>
          <a:prstGeom prst="rect">
            <a:avLst/>
          </a:prstGeom>
          <a:noFill/>
        </p:spPr>
        <p:txBody>
          <a:bodyPr wrap="square">
            <a:spAutoFit/>
          </a:bodyPr>
          <a:lstStyle/>
          <a:p>
            <a:pPr algn="l"/>
            <a:r>
              <a:rPr sz="800" b="0" i="0">
                <a:solidFill>
                  <a:srgbClr val="595959"/>
                </a:solidFill>
              </a:rPr>
              <a:t>–  Every number is plain arithmetic: the RFM scores, lifetime value, the thresholds, the weights, who makes the list.</a:t>
            </a:r>
          </a:p>
        </p:txBody>
      </p:sp>
      <p:sp>
        <p:nvSpPr>
          <p:cNvPr id="30" name="TextBox 29"/>
          <p:cNvSpPr txBox="1"/>
          <p:nvPr/>
        </p:nvSpPr>
        <p:spPr>
          <a:xfrm>
            <a:off x="8467344" y="2802636"/>
            <a:ext cx="3337560" cy="822960"/>
          </a:xfrm>
          <a:prstGeom prst="rect">
            <a:avLst/>
          </a:prstGeom>
          <a:noFill/>
        </p:spPr>
        <p:txBody>
          <a:bodyPr wrap="square">
            <a:spAutoFit/>
          </a:bodyPr>
          <a:lstStyle/>
          <a:p>
            <a:pPr algn="l"/>
            <a:r>
              <a:rPr sz="800" b="0" i="0">
                <a:solidFill>
                  <a:srgbClr val="595959"/>
                </a:solidFill>
              </a:rPr>
              <a:t>–  The model judges meaning. Code owns every calculation and every decision that follows from it.</a:t>
            </a:r>
          </a:p>
        </p:txBody>
      </p:sp>
      <p:sp>
        <p:nvSpPr>
          <p:cNvPr id="31" name="TextBox 30"/>
          <p:cNvSpPr txBox="1"/>
          <p:nvPr/>
        </p:nvSpPr>
        <p:spPr>
          <a:xfrm>
            <a:off x="8467344" y="3268980"/>
            <a:ext cx="3337560" cy="822960"/>
          </a:xfrm>
          <a:prstGeom prst="rect">
            <a:avLst/>
          </a:prstGeom>
          <a:noFill/>
        </p:spPr>
        <p:txBody>
          <a:bodyPr wrap="square">
            <a:spAutoFit/>
          </a:bodyPr>
          <a:lstStyle/>
          <a:p>
            <a:pPr algn="l"/>
            <a:r>
              <a:rPr sz="800" b="0" i="0">
                <a:solidFill>
                  <a:srgbClr val="595959"/>
                </a:solidFill>
              </a:rPr>
              <a:t>–  This is the step before machine learning, not a replacement for it. Once enough of these judgments are paired with real outcomes, they become inputs to a conventional model.</a:t>
            </a:r>
          </a:p>
        </p:txBody>
      </p:sp>
      <p:sp>
        <p:nvSpPr>
          <p:cNvPr id="32" name="Rectangle 31"/>
          <p:cNvSpPr/>
          <p:nvPr/>
        </p:nvSpPr>
        <p:spPr>
          <a:xfrm>
            <a:off x="365760" y="5440680"/>
            <a:ext cx="11430000" cy="82296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532120"/>
            <a:ext cx="2743200" cy="256032"/>
          </a:xfrm>
          <a:prstGeom prst="rect">
            <a:avLst/>
          </a:prstGeom>
          <a:noFill/>
        </p:spPr>
        <p:txBody>
          <a:bodyPr wrap="square">
            <a:spAutoFit/>
          </a:bodyPr>
          <a:lstStyle/>
          <a:p>
            <a:pPr algn="l"/>
            <a:r>
              <a:rPr sz="950" b="1" i="0">
                <a:solidFill>
                  <a:srgbClr val="003366"/>
                </a:solidFill>
              </a:rPr>
              <a:t>The model reports how sure it is.</a:t>
            </a:r>
          </a:p>
        </p:txBody>
      </p:sp>
      <p:sp>
        <p:nvSpPr>
          <p:cNvPr id="34" name="TextBox 33"/>
          <p:cNvSpPr txBox="1"/>
          <p:nvPr/>
        </p:nvSpPr>
        <p:spPr>
          <a:xfrm>
            <a:off x="548640" y="5760720"/>
            <a:ext cx="11064240" cy="457200"/>
          </a:xfrm>
          <a:prstGeom prst="rect">
            <a:avLst/>
          </a:prstGeom>
          <a:noFill/>
        </p:spPr>
        <p:txBody>
          <a:bodyPr wrap="square">
            <a:spAutoFit/>
          </a:bodyPr>
          <a:lstStyle/>
          <a:p>
            <a:pPr algn="l"/>
            <a:r>
              <a:rPr sz="900" b="0" i="0">
                <a:solidFill>
                  <a:srgbClr val="003366"/>
                </a:solidFill>
              </a:rPr>
              <a:t>2 of 8 recommended plays came back below our confidence bar. Those are marked for analyst review rather than presented as settled. A model that says "I am not sure" is more useful than one that guesses confidently — and it is the difference between a slide you can defend and one you cannot.</a:t>
            </a:r>
          </a:p>
        </p:txBody>
      </p:sp>
      <p:sp>
        <p:nvSpPr>
          <p:cNvPr id="35" name="TextBox 34"/>
          <p:cNvSpPr txBox="1"/>
          <p:nvPr/>
        </p:nvSpPr>
        <p:spPr>
          <a:xfrm>
            <a:off x="365760" y="6327648"/>
            <a:ext cx="11430000" cy="228600"/>
          </a:xfrm>
          <a:prstGeom prst="rect">
            <a:avLst/>
          </a:prstGeom>
          <a:noFill/>
        </p:spPr>
        <p:txBody>
          <a:bodyPr wrap="square">
            <a:spAutoFit/>
          </a:bodyPr>
          <a:lstStyle/>
          <a:p>
            <a:pPr algn="l"/>
            <a:r>
              <a:rPr sz="650" b="0" i="1">
                <a:solidFill>
                  <a:srgbClr val="595959"/>
                </a:solidFill>
              </a:rPr>
              <a:t>Customer messages in this analysis are illustrative sample text, generated to demonstrate the method. Replace with real support and survey data before acting on named accounts.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