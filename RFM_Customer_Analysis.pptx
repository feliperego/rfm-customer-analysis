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3291840"/>
            <a:ext cx="12188952" cy="36576"/>
          </a:xfrm>
          <a:prstGeom prst="rect">
            <a:avLst/>
          </a:prstGeom>
          <a:solidFill>
            <a:srgbClr val="FFC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64592" cy="6858000"/>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280160"/>
            <a:ext cx="8686800" cy="1737360"/>
          </a:xfrm>
          <a:prstGeom prst="rect">
            <a:avLst/>
          </a:prstGeom>
          <a:noFill/>
        </p:spPr>
        <p:txBody>
          <a:bodyPr wrap="square">
            <a:spAutoFit/>
          </a:bodyPr>
          <a:lstStyle/>
          <a:p>
            <a:pPr algn="l"/>
            <a:r>
              <a:rPr sz="4400" b="1" i="0">
                <a:solidFill>
                  <a:srgbClr val="FFFFFF"/>
                </a:solidFill>
              </a:rPr>
              <a:t>Unlocking Customer Value Through
Behavioural Segmentation</a:t>
            </a:r>
          </a:p>
        </p:txBody>
      </p:sp>
      <p:sp>
        <p:nvSpPr>
          <p:cNvPr id="6" name="TextBox 5"/>
          <p:cNvSpPr txBox="1"/>
          <p:nvPr/>
        </p:nvSpPr>
        <p:spPr>
          <a:xfrm>
            <a:off x="502920" y="2971800"/>
            <a:ext cx="8229600" cy="411480"/>
          </a:xfrm>
          <a:prstGeom prst="rect">
            <a:avLst/>
          </a:prstGeom>
          <a:noFill/>
        </p:spPr>
        <p:txBody>
          <a:bodyPr wrap="square">
            <a:spAutoFit/>
          </a:bodyPr>
          <a:lstStyle/>
          <a:p>
            <a:pPr algn="l"/>
            <a:r>
              <a:rPr sz="2200" b="0" i="0">
                <a:solidFill>
                  <a:srgbClr val="BDD7EE"/>
                </a:solidFill>
              </a:rPr>
              <a:t>RFM Analysis — Customer Intelligence Report</a:t>
            </a:r>
          </a:p>
        </p:txBody>
      </p:sp>
      <p:sp>
        <p:nvSpPr>
          <p:cNvPr id="7" name="TextBox 6"/>
          <p:cNvSpPr txBox="1"/>
          <p:nvPr/>
        </p:nvSpPr>
        <p:spPr>
          <a:xfrm>
            <a:off x="502920" y="3520440"/>
            <a:ext cx="9144000" cy="320040"/>
          </a:xfrm>
          <a:prstGeom prst="rect">
            <a:avLst/>
          </a:prstGeom>
          <a:noFill/>
        </p:spPr>
        <p:txBody>
          <a:bodyPr wrap="square">
            <a:spAutoFit/>
          </a:bodyPr>
          <a:lstStyle/>
          <a:p>
            <a:pPr algn="l"/>
            <a:r>
              <a:rPr sz="1800" b="0" i="1">
                <a:solidFill>
                  <a:srgbClr val="BDD7EE"/>
                </a:solidFill>
              </a:rPr>
              <a:t>Analysis across 100 customers  |  8 of 11 behavioural segments present  |  3-year CLV horizon</a:t>
            </a:r>
          </a:p>
        </p:txBody>
      </p:sp>
      <p:sp>
        <p:nvSpPr>
          <p:cNvPr id="8" name="TextBox 7"/>
          <p:cNvSpPr txBox="1"/>
          <p:nvPr/>
        </p:nvSpPr>
        <p:spPr>
          <a:xfrm>
            <a:off x="502920" y="6309360"/>
            <a:ext cx="3657600" cy="320040"/>
          </a:xfrm>
          <a:prstGeom prst="rect">
            <a:avLst/>
          </a:prstGeom>
          <a:noFill/>
        </p:spPr>
        <p:txBody>
          <a:bodyPr wrap="square">
            <a:spAutoFit/>
          </a:bodyPr>
          <a:lstStyle/>
          <a:p>
            <a:pPr algn="l"/>
            <a:r>
              <a:rPr sz="1800" b="0" i="0">
                <a:solidFill>
                  <a:srgbClr val="BDD7EE"/>
                </a:solidFill>
              </a:rPr>
              <a:t>March 2026</a:t>
            </a:r>
          </a:p>
        </p:txBody>
      </p:sp>
      <p:sp>
        <p:nvSpPr>
          <p:cNvPr id="9" name="TextBox 8"/>
          <p:cNvSpPr txBox="1"/>
          <p:nvPr/>
        </p:nvSpPr>
        <p:spPr>
          <a:xfrm>
            <a:off x="9601200" y="6309360"/>
            <a:ext cx="2286000" cy="320040"/>
          </a:xfrm>
          <a:prstGeom prst="rect">
            <a:avLst/>
          </a:prstGeom>
          <a:noFill/>
        </p:spPr>
        <p:txBody>
          <a:bodyPr wrap="square">
            <a:spAutoFit/>
          </a:bodyPr>
          <a:lstStyle/>
          <a:p>
            <a:pPr algn="r"/>
            <a:r>
              <a:rPr sz="1600" b="0" i="0">
                <a:solidFill>
                  <a:srgbClr val="FFC000"/>
                </a:solidFill>
              </a:rPr>
              <a:t>CONFIDENTIAL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515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82296"/>
            <a:ext cx="11430000" cy="475488"/>
          </a:xfrm>
          <a:prstGeom prst="rect">
            <a:avLst/>
          </a:prstGeom>
          <a:noFill/>
        </p:spPr>
        <p:txBody>
          <a:bodyPr wrap="square">
            <a:spAutoFit/>
          </a:bodyPr>
          <a:lstStyle/>
          <a:p>
            <a:pPr algn="l"/>
            <a:r>
              <a:rPr sz="2800" b="1" i="0">
                <a:solidFill>
                  <a:srgbClr val="FFFFFF"/>
                </a:solidFill>
              </a:rPr>
              <a:t>Executive Summary</a:t>
            </a:r>
          </a:p>
        </p:txBody>
      </p:sp>
      <p:sp>
        <p:nvSpPr>
          <p:cNvPr id="4" name="TextBox 3"/>
          <p:cNvSpPr txBox="1"/>
          <p:nvPr/>
        </p:nvSpPr>
        <p:spPr>
          <a:xfrm>
            <a:off x="365760" y="566928"/>
            <a:ext cx="11430000" cy="310896"/>
          </a:xfrm>
          <a:prstGeom prst="rect">
            <a:avLst/>
          </a:prstGeom>
          <a:noFill/>
        </p:spPr>
        <p:txBody>
          <a:bodyPr wrap="square">
            <a:spAutoFit/>
          </a:bodyPr>
          <a:lstStyle/>
          <a:p>
            <a:pPr algn="l"/>
            <a:r>
              <a:rPr sz="1500" b="0" i="0">
                <a:solidFill>
                  <a:srgbClr val="BDD7EE"/>
                </a:solidFill>
              </a:rPr>
              <a:t>Three findings define the commercial opportunity in this customer base</a:t>
            </a:r>
          </a:p>
        </p:txBody>
      </p:sp>
      <p:cxnSp>
        <p:nvCxnSpPr>
          <p:cNvPr id="5" name="Connector 4"/>
          <p:cNvCxnSpPr/>
          <p:nvPr/>
        </p:nvCxnSpPr>
        <p:spPr>
          <a:xfrm>
            <a:off x="365760" y="6473952"/>
            <a:ext cx="11457432" cy="0"/>
          </a:xfrm>
          <a:prstGeom prst="line">
            <a:avLst/>
          </a:prstGeom>
          <a:ln w="6350">
            <a:solidFill>
              <a:srgbClr val="D6D6D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65760" y="6510528"/>
            <a:ext cx="5486400" cy="256032"/>
          </a:xfrm>
          <a:prstGeom prst="rect">
            <a:avLst/>
          </a:prstGeom>
          <a:noFill/>
        </p:spPr>
        <p:txBody>
          <a:bodyPr wrap="square">
            <a:spAutoFit/>
          </a:bodyPr>
          <a:lstStyle/>
          <a:p>
            <a:pPr algn="l"/>
            <a:r>
              <a:rPr sz="1200" b="0" i="0">
                <a:solidFill>
                  <a:srgbClr val="595959"/>
                </a:solidFill>
              </a:rPr>
              <a:t>CONFIDENTIAL — RFM Customer Analysis</a:t>
            </a:r>
          </a:p>
        </p:txBody>
      </p:sp>
      <p:sp>
        <p:nvSpPr>
          <p:cNvPr id="7" name="TextBox 6"/>
          <p:cNvSpPr txBox="1"/>
          <p:nvPr/>
        </p:nvSpPr>
        <p:spPr>
          <a:xfrm>
            <a:off x="11612880" y="6428232"/>
            <a:ext cx="457200" cy="274320"/>
          </a:xfrm>
          <a:prstGeom prst="rect">
            <a:avLst/>
          </a:prstGeom>
          <a:noFill/>
        </p:spPr>
        <p:txBody>
          <a:bodyPr wrap="square">
            <a:spAutoFit/>
          </a:bodyPr>
          <a:lstStyle/>
          <a:p>
            <a:pPr algn="r"/>
            <a:r>
              <a:rPr sz="1200" b="0" i="0">
                <a:solidFill>
                  <a:srgbClr val="595959"/>
                </a:solidFill>
              </a:rPr>
              <a:t>2</a:t>
            </a:r>
          </a:p>
        </p:txBody>
      </p:sp>
      <p:sp>
        <p:nvSpPr>
          <p:cNvPr id="8" name="Rectangle 7"/>
          <p:cNvSpPr/>
          <p:nvPr/>
        </p:nvSpPr>
        <p:spPr>
          <a:xfrm>
            <a:off x="365760" y="1188720"/>
            <a:ext cx="64008" cy="1426464"/>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1207008"/>
            <a:ext cx="640080" cy="384048"/>
          </a:xfrm>
          <a:prstGeom prst="rect">
            <a:avLst/>
          </a:prstGeom>
          <a:noFill/>
        </p:spPr>
        <p:txBody>
          <a:bodyPr wrap="square">
            <a:spAutoFit/>
          </a:bodyPr>
          <a:lstStyle/>
          <a:p>
            <a:pPr algn="l"/>
            <a:r>
              <a:rPr sz="1800" b="1" i="0">
                <a:solidFill>
                  <a:srgbClr val="0070C0"/>
                </a:solidFill>
              </a:rPr>
              <a:t>01</a:t>
            </a:r>
          </a:p>
        </p:txBody>
      </p:sp>
      <p:sp>
        <p:nvSpPr>
          <p:cNvPr id="10" name="TextBox 9"/>
          <p:cNvSpPr txBox="1"/>
          <p:nvPr/>
        </p:nvSpPr>
        <p:spPr>
          <a:xfrm>
            <a:off x="1234440" y="1188720"/>
            <a:ext cx="10515600" cy="420624"/>
          </a:xfrm>
          <a:prstGeom prst="rect">
            <a:avLst/>
          </a:prstGeom>
          <a:noFill/>
        </p:spPr>
        <p:txBody>
          <a:bodyPr wrap="square">
            <a:spAutoFit/>
          </a:bodyPr>
          <a:lstStyle/>
          <a:p>
            <a:pPr algn="l"/>
            <a:r>
              <a:rPr sz="2200" b="1" i="0">
                <a:solidFill>
                  <a:srgbClr val="1A1A1A"/>
                </a:solidFill>
              </a:rPr>
              <a:t>Champions &amp; Loyal represent 15% of customers but deliver 40% of total portfolio CLV</a:t>
            </a:r>
          </a:p>
        </p:txBody>
      </p:sp>
      <p:sp>
        <p:nvSpPr>
          <p:cNvPr id="11" name="TextBox 10"/>
          <p:cNvSpPr txBox="1"/>
          <p:nvPr/>
        </p:nvSpPr>
        <p:spPr>
          <a:xfrm>
            <a:off x="1234440" y="1993392"/>
            <a:ext cx="10515600" cy="822960"/>
          </a:xfrm>
          <a:prstGeom prst="rect">
            <a:avLst/>
          </a:prstGeom>
          <a:noFill/>
        </p:spPr>
        <p:txBody>
          <a:bodyPr wrap="square">
            <a:spAutoFit/>
          </a:bodyPr>
          <a:lstStyle/>
          <a:p>
            <a:pPr algn="l"/>
            <a:r>
              <a:rPr sz="1800" b="0" i="0">
                <a:solidFill>
                  <a:srgbClr val="595959"/>
                </a:solidFill>
              </a:rPr>
              <a:t>15 customers — avg CLV $1,412 (Champions) and $832 (Loyal). Protecting and deepening these relationships is the highest-return priority.</a:t>
            </a:r>
          </a:p>
        </p:txBody>
      </p:sp>
      <p:sp>
        <p:nvSpPr>
          <p:cNvPr id="12" name="Rectangle 11"/>
          <p:cNvSpPr/>
          <p:nvPr/>
        </p:nvSpPr>
        <p:spPr>
          <a:xfrm>
            <a:off x="365760" y="2880360"/>
            <a:ext cx="64008" cy="1426464"/>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66928" y="2898648"/>
            <a:ext cx="640080" cy="384048"/>
          </a:xfrm>
          <a:prstGeom prst="rect">
            <a:avLst/>
          </a:prstGeom>
          <a:noFill/>
        </p:spPr>
        <p:txBody>
          <a:bodyPr wrap="square">
            <a:spAutoFit/>
          </a:bodyPr>
          <a:lstStyle/>
          <a:p>
            <a:pPr algn="l"/>
            <a:r>
              <a:rPr sz="1800" b="1" i="0">
                <a:solidFill>
                  <a:srgbClr val="C00000"/>
                </a:solidFill>
              </a:rPr>
              <a:t>02</a:t>
            </a:r>
          </a:p>
        </p:txBody>
      </p:sp>
      <p:sp>
        <p:nvSpPr>
          <p:cNvPr id="14" name="TextBox 13"/>
          <p:cNvSpPr txBox="1"/>
          <p:nvPr/>
        </p:nvSpPr>
        <p:spPr>
          <a:xfrm>
            <a:off x="1234440" y="2880360"/>
            <a:ext cx="10515600" cy="420624"/>
          </a:xfrm>
          <a:prstGeom prst="rect">
            <a:avLst/>
          </a:prstGeom>
          <a:noFill/>
        </p:spPr>
        <p:txBody>
          <a:bodyPr wrap="square">
            <a:spAutoFit/>
          </a:bodyPr>
          <a:lstStyle/>
          <a:p>
            <a:pPr algn="l"/>
            <a:r>
              <a:rPr sz="2200" b="1" i="0">
                <a:solidFill>
                  <a:srgbClr val="1A1A1A"/>
                </a:solidFill>
              </a:rPr>
              <a:t>40% of the base shows lapsing signals — representing recoverable CLV at risk</a:t>
            </a:r>
          </a:p>
        </p:txBody>
      </p:sp>
      <p:sp>
        <p:nvSpPr>
          <p:cNvPr id="15" name="TextBox 14"/>
          <p:cNvSpPr txBox="1"/>
          <p:nvPr/>
        </p:nvSpPr>
        <p:spPr>
          <a:xfrm>
            <a:off x="1234440" y="3685032"/>
            <a:ext cx="10515600" cy="822960"/>
          </a:xfrm>
          <a:prstGeom prst="rect">
            <a:avLst/>
          </a:prstGeom>
          <a:noFill/>
        </p:spPr>
        <p:txBody>
          <a:bodyPr wrap="square">
            <a:spAutoFit/>
          </a:bodyPr>
          <a:lstStyle/>
          <a:p>
            <a:pPr algn="l"/>
            <a:r>
              <a:rPr sz="1800" b="0" i="0">
                <a:solidFill>
                  <a:srgbClr val="595959"/>
                </a:solidFill>
              </a:rPr>
              <a:t>40 customers across Hibernating, Lost, At Risk, and Can't Lose Them segments. Targeted win-back programmes could recapture a meaningful share of this value before permanent churn.</a:t>
            </a:r>
          </a:p>
        </p:txBody>
      </p:sp>
      <p:sp>
        <p:nvSpPr>
          <p:cNvPr id="16" name="Rectangle 15"/>
          <p:cNvSpPr/>
          <p:nvPr/>
        </p:nvSpPr>
        <p:spPr>
          <a:xfrm>
            <a:off x="365760" y="4572000"/>
            <a:ext cx="64008" cy="1426464"/>
          </a:xfrm>
          <a:prstGeom prst="rect">
            <a:avLst/>
          </a:prstGeom>
          <a:solidFill>
            <a:srgbClr val="007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590288"/>
            <a:ext cx="640080" cy="384048"/>
          </a:xfrm>
          <a:prstGeom prst="rect">
            <a:avLst/>
          </a:prstGeom>
          <a:noFill/>
        </p:spPr>
        <p:txBody>
          <a:bodyPr wrap="square">
            <a:spAutoFit/>
          </a:bodyPr>
          <a:lstStyle/>
          <a:p>
            <a:pPr algn="l"/>
            <a:r>
              <a:rPr sz="1800" b="1" i="0">
                <a:solidFill>
                  <a:srgbClr val="007050"/>
                </a:solidFill>
              </a:rPr>
              <a:t>03</a:t>
            </a:r>
          </a:p>
        </p:txBody>
      </p:sp>
      <p:sp>
        <p:nvSpPr>
          <p:cNvPr id="18" name="TextBox 17"/>
          <p:cNvSpPr txBox="1"/>
          <p:nvPr/>
        </p:nvSpPr>
        <p:spPr>
          <a:xfrm>
            <a:off x="1234440" y="4572000"/>
            <a:ext cx="10515600" cy="420624"/>
          </a:xfrm>
          <a:prstGeom prst="rect">
            <a:avLst/>
          </a:prstGeom>
          <a:noFill/>
        </p:spPr>
        <p:txBody>
          <a:bodyPr wrap="square">
            <a:spAutoFit/>
          </a:bodyPr>
          <a:lstStyle/>
          <a:p>
            <a:pPr algn="l"/>
            <a:r>
              <a:rPr sz="2200" b="1" i="0">
                <a:solidFill>
                  <a:srgbClr val="1A1A1A"/>
                </a:solidFill>
              </a:rPr>
              <a:t>40% of customers are in early-stage growth segments with conversion potential</a:t>
            </a:r>
          </a:p>
        </p:txBody>
      </p:sp>
      <p:sp>
        <p:nvSpPr>
          <p:cNvPr id="19" name="TextBox 18"/>
          <p:cNvSpPr txBox="1"/>
          <p:nvPr/>
        </p:nvSpPr>
        <p:spPr>
          <a:xfrm>
            <a:off x="1234440" y="5376672"/>
            <a:ext cx="10515600" cy="822960"/>
          </a:xfrm>
          <a:prstGeom prst="rect">
            <a:avLst/>
          </a:prstGeom>
          <a:noFill/>
        </p:spPr>
        <p:txBody>
          <a:bodyPr wrap="square">
            <a:spAutoFit/>
          </a:bodyPr>
          <a:lstStyle/>
          <a:p>
            <a:pPr algn="l"/>
            <a:r>
              <a:rPr sz="1800" b="0" i="0">
                <a:solidFill>
                  <a:srgbClr val="595959"/>
                </a:solidFill>
              </a:rPr>
              <a:t>40 customers across New Customer, Promising, and Potential Loyalist. Structured onboarding and loyalty nudges can migrate these cohorts toward higher-value segments.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515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82296"/>
            <a:ext cx="11430000" cy="475488"/>
          </a:xfrm>
          <a:prstGeom prst="rect">
            <a:avLst/>
          </a:prstGeom>
          <a:noFill/>
        </p:spPr>
        <p:txBody>
          <a:bodyPr wrap="square">
            <a:spAutoFit/>
          </a:bodyPr>
          <a:lstStyle/>
          <a:p>
            <a:pPr algn="l"/>
            <a:r>
              <a:rPr sz="2800" b="1" i="0">
                <a:solidFill>
                  <a:srgbClr val="FFFFFF"/>
                </a:solidFill>
              </a:rPr>
              <a:t>Methodology</a:t>
            </a:r>
          </a:p>
        </p:txBody>
      </p:sp>
      <p:sp>
        <p:nvSpPr>
          <p:cNvPr id="4" name="TextBox 3"/>
          <p:cNvSpPr txBox="1"/>
          <p:nvPr/>
        </p:nvSpPr>
        <p:spPr>
          <a:xfrm>
            <a:off x="365760" y="566928"/>
            <a:ext cx="11430000" cy="310896"/>
          </a:xfrm>
          <a:prstGeom prst="rect">
            <a:avLst/>
          </a:prstGeom>
          <a:noFill/>
        </p:spPr>
        <p:txBody>
          <a:bodyPr wrap="square">
            <a:spAutoFit/>
          </a:bodyPr>
          <a:lstStyle/>
          <a:p>
            <a:pPr algn="l"/>
            <a:r>
              <a:rPr sz="1500" b="0" i="0">
                <a:solidFill>
                  <a:srgbClr val="BDD7EE"/>
                </a:solidFill>
              </a:rPr>
              <a:t>RFM scoring translates transactional data into actionable behavioural profiles</a:t>
            </a:r>
          </a:p>
        </p:txBody>
      </p:sp>
      <p:cxnSp>
        <p:nvCxnSpPr>
          <p:cNvPr id="5" name="Connector 4"/>
          <p:cNvCxnSpPr/>
          <p:nvPr/>
        </p:nvCxnSpPr>
        <p:spPr>
          <a:xfrm>
            <a:off x="365760" y="6473952"/>
            <a:ext cx="11457432" cy="0"/>
          </a:xfrm>
          <a:prstGeom prst="line">
            <a:avLst/>
          </a:prstGeom>
          <a:ln w="6350">
            <a:solidFill>
              <a:srgbClr val="D6D6D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65760" y="6510528"/>
            <a:ext cx="5486400" cy="256032"/>
          </a:xfrm>
          <a:prstGeom prst="rect">
            <a:avLst/>
          </a:prstGeom>
          <a:noFill/>
        </p:spPr>
        <p:txBody>
          <a:bodyPr wrap="square">
            <a:spAutoFit/>
          </a:bodyPr>
          <a:lstStyle/>
          <a:p>
            <a:pPr algn="l"/>
            <a:r>
              <a:rPr sz="1200" b="0" i="0">
                <a:solidFill>
                  <a:srgbClr val="595959"/>
                </a:solidFill>
              </a:rPr>
              <a:t>CONFIDENTIAL — RFM Customer Analysis</a:t>
            </a:r>
          </a:p>
        </p:txBody>
      </p:sp>
      <p:sp>
        <p:nvSpPr>
          <p:cNvPr id="7" name="TextBox 6"/>
          <p:cNvSpPr txBox="1"/>
          <p:nvPr/>
        </p:nvSpPr>
        <p:spPr>
          <a:xfrm>
            <a:off x="11612880" y="6428232"/>
            <a:ext cx="457200" cy="274320"/>
          </a:xfrm>
          <a:prstGeom prst="rect">
            <a:avLst/>
          </a:prstGeom>
          <a:noFill/>
        </p:spPr>
        <p:txBody>
          <a:bodyPr wrap="square">
            <a:spAutoFit/>
          </a:bodyPr>
          <a:lstStyle/>
          <a:p>
            <a:pPr algn="r"/>
            <a:r>
              <a:rPr sz="1200" b="0" i="0">
                <a:solidFill>
                  <a:srgbClr val="595959"/>
                </a:solidFill>
              </a:rPr>
              <a:t>3</a:t>
            </a:r>
          </a:p>
        </p:txBody>
      </p:sp>
      <p:sp>
        <p:nvSpPr>
          <p:cNvPr id="8" name="Rectangle 7"/>
          <p:cNvSpPr/>
          <p:nvPr/>
        </p:nvSpPr>
        <p:spPr>
          <a:xfrm>
            <a:off x="365760" y="1188720"/>
            <a:ext cx="2148840" cy="64008"/>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353312"/>
            <a:ext cx="548640" cy="420624"/>
          </a:xfrm>
          <a:prstGeom prst="rect">
            <a:avLst/>
          </a:prstGeom>
          <a:noFill/>
        </p:spPr>
        <p:txBody>
          <a:bodyPr wrap="square">
            <a:spAutoFit/>
          </a:bodyPr>
          <a:lstStyle/>
          <a:p>
            <a:pPr algn="l"/>
            <a:r>
              <a:rPr sz="2800" b="1" i="0">
                <a:solidFill>
                  <a:srgbClr val="0070C0"/>
                </a:solidFill>
              </a:rPr>
              <a:t>1</a:t>
            </a:r>
          </a:p>
        </p:txBody>
      </p:sp>
      <p:sp>
        <p:nvSpPr>
          <p:cNvPr id="10" name="TextBox 9"/>
          <p:cNvSpPr txBox="1"/>
          <p:nvPr/>
        </p:nvSpPr>
        <p:spPr>
          <a:xfrm>
            <a:off x="365760" y="1847088"/>
            <a:ext cx="2148840" cy="329184"/>
          </a:xfrm>
          <a:prstGeom prst="rect">
            <a:avLst/>
          </a:prstGeom>
          <a:noFill/>
        </p:spPr>
        <p:txBody>
          <a:bodyPr wrap="square">
            <a:spAutoFit/>
          </a:bodyPr>
          <a:lstStyle/>
          <a:p>
            <a:pPr algn="l"/>
            <a:r>
              <a:rPr sz="1800" b="1" i="0">
                <a:solidFill>
                  <a:srgbClr val="1A1A1A"/>
                </a:solidFill>
              </a:rPr>
              <a:t>R — Recency</a:t>
            </a:r>
          </a:p>
        </p:txBody>
      </p:sp>
      <p:sp>
        <p:nvSpPr>
          <p:cNvPr id="11" name="TextBox 10"/>
          <p:cNvSpPr txBox="1"/>
          <p:nvPr/>
        </p:nvSpPr>
        <p:spPr>
          <a:xfrm>
            <a:off x="365760" y="2267712"/>
            <a:ext cx="2148840" cy="1600200"/>
          </a:xfrm>
          <a:prstGeom prst="rect">
            <a:avLst/>
          </a:prstGeom>
          <a:noFill/>
        </p:spPr>
        <p:txBody>
          <a:bodyPr wrap="square">
            <a:spAutoFit/>
          </a:bodyPr>
          <a:lstStyle/>
          <a:p>
            <a:pPr algn="l"/>
            <a:r>
              <a:rPr sz="1600" b="0" i="0">
                <a:solidFill>
                  <a:srgbClr val="595959"/>
                </a:solidFill>
              </a:rPr>
              <a:t>Days since the last purchase.
More recent scores higher.
Ranked by percentile.</a:t>
            </a:r>
          </a:p>
        </p:txBody>
      </p:sp>
      <p:sp>
        <p:nvSpPr>
          <p:cNvPr id="12" name="Rectangle 11"/>
          <p:cNvSpPr/>
          <p:nvPr/>
        </p:nvSpPr>
        <p:spPr>
          <a:xfrm>
            <a:off x="2670048" y="1188720"/>
            <a:ext cx="2148840" cy="6400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670048" y="1353312"/>
            <a:ext cx="548640" cy="420624"/>
          </a:xfrm>
          <a:prstGeom prst="rect">
            <a:avLst/>
          </a:prstGeom>
          <a:noFill/>
        </p:spPr>
        <p:txBody>
          <a:bodyPr wrap="square">
            <a:spAutoFit/>
          </a:bodyPr>
          <a:lstStyle/>
          <a:p>
            <a:pPr algn="l"/>
            <a:r>
              <a:rPr sz="2800" b="1" i="0">
                <a:solidFill>
                  <a:srgbClr val="003366"/>
                </a:solidFill>
              </a:rPr>
              <a:t>2</a:t>
            </a:r>
          </a:p>
        </p:txBody>
      </p:sp>
      <p:sp>
        <p:nvSpPr>
          <p:cNvPr id="14" name="TextBox 13"/>
          <p:cNvSpPr txBox="1"/>
          <p:nvPr/>
        </p:nvSpPr>
        <p:spPr>
          <a:xfrm>
            <a:off x="2670048" y="1847088"/>
            <a:ext cx="2148840" cy="329184"/>
          </a:xfrm>
          <a:prstGeom prst="rect">
            <a:avLst/>
          </a:prstGeom>
          <a:noFill/>
        </p:spPr>
        <p:txBody>
          <a:bodyPr wrap="square">
            <a:spAutoFit/>
          </a:bodyPr>
          <a:lstStyle/>
          <a:p>
            <a:pPr algn="l"/>
            <a:r>
              <a:rPr sz="1800" b="1" i="0">
                <a:solidFill>
                  <a:srgbClr val="1A1A1A"/>
                </a:solidFill>
              </a:rPr>
              <a:t>F — Frequency</a:t>
            </a:r>
          </a:p>
        </p:txBody>
      </p:sp>
      <p:sp>
        <p:nvSpPr>
          <p:cNvPr id="15" name="TextBox 14"/>
          <p:cNvSpPr txBox="1"/>
          <p:nvPr/>
        </p:nvSpPr>
        <p:spPr>
          <a:xfrm>
            <a:off x="2670048" y="2267712"/>
            <a:ext cx="2148840" cy="1600200"/>
          </a:xfrm>
          <a:prstGeom prst="rect">
            <a:avLst/>
          </a:prstGeom>
          <a:noFill/>
        </p:spPr>
        <p:txBody>
          <a:bodyPr wrap="square">
            <a:spAutoFit/>
          </a:bodyPr>
          <a:lstStyle/>
          <a:p>
            <a:pPr algn="l"/>
            <a:r>
              <a:rPr sz="1600" b="0" i="0">
                <a:solidFill>
                  <a:srgbClr val="595959"/>
                </a:solidFill>
              </a:rPr>
              <a:t>Number of purchases.
1 purchase scores 1,
5 or more scores 5.</a:t>
            </a:r>
          </a:p>
        </p:txBody>
      </p:sp>
      <p:sp>
        <p:nvSpPr>
          <p:cNvPr id="16" name="Rectangle 15"/>
          <p:cNvSpPr/>
          <p:nvPr/>
        </p:nvSpPr>
        <p:spPr>
          <a:xfrm>
            <a:off x="4974336" y="1188720"/>
            <a:ext cx="2148840" cy="64008"/>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74336" y="1353312"/>
            <a:ext cx="548640" cy="420624"/>
          </a:xfrm>
          <a:prstGeom prst="rect">
            <a:avLst/>
          </a:prstGeom>
          <a:noFill/>
        </p:spPr>
        <p:txBody>
          <a:bodyPr wrap="square">
            <a:spAutoFit/>
          </a:bodyPr>
          <a:lstStyle/>
          <a:p>
            <a:pPr algn="l"/>
            <a:r>
              <a:rPr sz="2800" b="1" i="0">
                <a:solidFill>
                  <a:srgbClr val="0070C0"/>
                </a:solidFill>
              </a:rPr>
              <a:t>3</a:t>
            </a:r>
          </a:p>
        </p:txBody>
      </p:sp>
      <p:sp>
        <p:nvSpPr>
          <p:cNvPr id="18" name="TextBox 17"/>
          <p:cNvSpPr txBox="1"/>
          <p:nvPr/>
        </p:nvSpPr>
        <p:spPr>
          <a:xfrm>
            <a:off x="4974336" y="1847088"/>
            <a:ext cx="2148840" cy="329184"/>
          </a:xfrm>
          <a:prstGeom prst="rect">
            <a:avLst/>
          </a:prstGeom>
          <a:noFill/>
        </p:spPr>
        <p:txBody>
          <a:bodyPr wrap="square">
            <a:spAutoFit/>
          </a:bodyPr>
          <a:lstStyle/>
          <a:p>
            <a:pPr algn="l"/>
            <a:r>
              <a:rPr sz="1800" b="1" i="0">
                <a:solidFill>
                  <a:srgbClr val="1A1A1A"/>
                </a:solidFill>
              </a:rPr>
              <a:t>M — Monetary</a:t>
            </a:r>
          </a:p>
        </p:txBody>
      </p:sp>
      <p:sp>
        <p:nvSpPr>
          <p:cNvPr id="19" name="TextBox 18"/>
          <p:cNvSpPr txBox="1"/>
          <p:nvPr/>
        </p:nvSpPr>
        <p:spPr>
          <a:xfrm>
            <a:off x="4974336" y="2267712"/>
            <a:ext cx="2148840" cy="1600200"/>
          </a:xfrm>
          <a:prstGeom prst="rect">
            <a:avLst/>
          </a:prstGeom>
          <a:noFill/>
        </p:spPr>
        <p:txBody>
          <a:bodyPr wrap="square">
            <a:spAutoFit/>
          </a:bodyPr>
          <a:lstStyle/>
          <a:p>
            <a:pPr algn="l"/>
            <a:r>
              <a:rPr sz="1600" b="0" i="0">
                <a:solidFill>
                  <a:srgbClr val="595959"/>
                </a:solidFill>
              </a:rPr>
              <a:t>Total spend to date.
Higher spend scores higher.
Ranked by percentile.</a:t>
            </a:r>
          </a:p>
        </p:txBody>
      </p:sp>
      <p:sp>
        <p:nvSpPr>
          <p:cNvPr id="20" name="Rectangle 19"/>
          <p:cNvSpPr/>
          <p:nvPr/>
        </p:nvSpPr>
        <p:spPr>
          <a:xfrm>
            <a:off x="7278624" y="1188720"/>
            <a:ext cx="2148840" cy="6400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78624" y="1353312"/>
            <a:ext cx="548640" cy="420624"/>
          </a:xfrm>
          <a:prstGeom prst="rect">
            <a:avLst/>
          </a:prstGeom>
          <a:noFill/>
        </p:spPr>
        <p:txBody>
          <a:bodyPr wrap="square">
            <a:spAutoFit/>
          </a:bodyPr>
          <a:lstStyle/>
          <a:p>
            <a:pPr algn="l"/>
            <a:r>
              <a:rPr sz="2800" b="1" i="0">
                <a:solidFill>
                  <a:srgbClr val="003366"/>
                </a:solidFill>
              </a:rPr>
              <a:t>4</a:t>
            </a:r>
          </a:p>
        </p:txBody>
      </p:sp>
      <p:sp>
        <p:nvSpPr>
          <p:cNvPr id="22" name="TextBox 21"/>
          <p:cNvSpPr txBox="1"/>
          <p:nvPr/>
        </p:nvSpPr>
        <p:spPr>
          <a:xfrm>
            <a:off x="7278624" y="1847088"/>
            <a:ext cx="2148840" cy="329184"/>
          </a:xfrm>
          <a:prstGeom prst="rect">
            <a:avLst/>
          </a:prstGeom>
          <a:noFill/>
        </p:spPr>
        <p:txBody>
          <a:bodyPr wrap="square">
            <a:spAutoFit/>
          </a:bodyPr>
          <a:lstStyle/>
          <a:p>
            <a:pPr algn="l"/>
            <a:r>
              <a:rPr sz="1800" b="1" i="0">
                <a:solidFill>
                  <a:srgbClr val="1A1A1A"/>
                </a:solidFill>
              </a:rPr>
              <a:t>Segmentation</a:t>
            </a:r>
          </a:p>
        </p:txBody>
      </p:sp>
      <p:sp>
        <p:nvSpPr>
          <p:cNvPr id="23" name="TextBox 22"/>
          <p:cNvSpPr txBox="1"/>
          <p:nvPr/>
        </p:nvSpPr>
        <p:spPr>
          <a:xfrm>
            <a:off x="7278624" y="2267712"/>
            <a:ext cx="2148840" cy="1600200"/>
          </a:xfrm>
          <a:prstGeom prst="rect">
            <a:avLst/>
          </a:prstGeom>
          <a:noFill/>
        </p:spPr>
        <p:txBody>
          <a:bodyPr wrap="square">
            <a:spAutoFit/>
          </a:bodyPr>
          <a:lstStyle/>
          <a:p>
            <a:pPr algn="l"/>
            <a:r>
              <a:rPr sz="1600" b="0" i="0">
                <a:solidFill>
                  <a:srgbClr val="595959"/>
                </a:solidFill>
              </a:rPr>
              <a:t>11 possible segments from
the R x F matrix, Champions
through to Lost.</a:t>
            </a:r>
          </a:p>
        </p:txBody>
      </p:sp>
      <p:sp>
        <p:nvSpPr>
          <p:cNvPr id="24" name="Rectangle 23"/>
          <p:cNvSpPr/>
          <p:nvPr/>
        </p:nvSpPr>
        <p:spPr>
          <a:xfrm>
            <a:off x="9582912" y="1188720"/>
            <a:ext cx="2148840" cy="64008"/>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582912" y="1353312"/>
            <a:ext cx="548640" cy="420624"/>
          </a:xfrm>
          <a:prstGeom prst="rect">
            <a:avLst/>
          </a:prstGeom>
          <a:noFill/>
        </p:spPr>
        <p:txBody>
          <a:bodyPr wrap="square">
            <a:spAutoFit/>
          </a:bodyPr>
          <a:lstStyle/>
          <a:p>
            <a:pPr algn="l"/>
            <a:r>
              <a:rPr sz="2800" b="1" i="0">
                <a:solidFill>
                  <a:srgbClr val="0070C0"/>
                </a:solidFill>
              </a:rPr>
              <a:t>5</a:t>
            </a:r>
          </a:p>
        </p:txBody>
      </p:sp>
      <p:sp>
        <p:nvSpPr>
          <p:cNvPr id="26" name="TextBox 25"/>
          <p:cNvSpPr txBox="1"/>
          <p:nvPr/>
        </p:nvSpPr>
        <p:spPr>
          <a:xfrm>
            <a:off x="9582912" y="1847088"/>
            <a:ext cx="2148840" cy="329184"/>
          </a:xfrm>
          <a:prstGeom prst="rect">
            <a:avLst/>
          </a:prstGeom>
          <a:noFill/>
        </p:spPr>
        <p:txBody>
          <a:bodyPr wrap="square">
            <a:spAutoFit/>
          </a:bodyPr>
          <a:lstStyle/>
          <a:p>
            <a:pPr algn="l"/>
            <a:r>
              <a:rPr sz="1800" b="1" i="0">
                <a:solidFill>
                  <a:srgbClr val="1A1A1A"/>
                </a:solidFill>
              </a:rPr>
              <a:t>CLV Estimate</a:t>
            </a:r>
          </a:p>
        </p:txBody>
      </p:sp>
      <p:sp>
        <p:nvSpPr>
          <p:cNvPr id="27" name="TextBox 26"/>
          <p:cNvSpPr txBox="1"/>
          <p:nvPr/>
        </p:nvSpPr>
        <p:spPr>
          <a:xfrm>
            <a:off x="9582912" y="2267712"/>
            <a:ext cx="2148840" cy="1600200"/>
          </a:xfrm>
          <a:prstGeom prst="rect">
            <a:avLst/>
          </a:prstGeom>
          <a:noFill/>
        </p:spPr>
        <p:txBody>
          <a:bodyPr wrap="square">
            <a:spAutoFit/>
          </a:bodyPr>
          <a:lstStyle/>
          <a:p>
            <a:pPr algn="l"/>
            <a:r>
              <a:rPr sz="1600" b="0" i="0">
                <a:solidFill>
                  <a:srgbClr val="595959"/>
                </a:solidFill>
              </a:rPr>
              <a:t>Annual profit, multiplied by
the chance they stay, over a
discounted 3-year horizon.</a:t>
            </a:r>
          </a:p>
        </p:txBody>
      </p:sp>
      <p:sp>
        <p:nvSpPr>
          <p:cNvPr id="28" name="Rectangle 27"/>
          <p:cNvSpPr/>
          <p:nvPr/>
        </p:nvSpPr>
        <p:spPr>
          <a:xfrm>
            <a:off x="365760" y="4069080"/>
            <a:ext cx="11430000" cy="36576"/>
          </a:xfrm>
          <a:prstGeom prst="rect">
            <a:avLst/>
          </a:prstGeom>
          <a:solidFill>
            <a:srgbClr val="D6D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65760" y="4279392"/>
            <a:ext cx="3657600" cy="310896"/>
          </a:xfrm>
          <a:prstGeom prst="rect">
            <a:avLst/>
          </a:prstGeom>
          <a:noFill/>
        </p:spPr>
        <p:txBody>
          <a:bodyPr wrap="square">
            <a:spAutoFit/>
          </a:bodyPr>
          <a:lstStyle/>
          <a:p>
            <a:pPr algn="l"/>
            <a:r>
              <a:rPr sz="1800" b="1" i="0">
                <a:solidFill>
                  <a:srgbClr val="003366"/>
                </a:solidFill>
              </a:rPr>
              <a:t>Configuration</a:t>
            </a:r>
          </a:p>
        </p:txBody>
      </p:sp>
      <p:sp>
        <p:nvSpPr>
          <p:cNvPr id="30" name="TextBox 29"/>
          <p:cNvSpPr txBox="1"/>
          <p:nvPr/>
        </p:nvSpPr>
        <p:spPr>
          <a:xfrm>
            <a:off x="365760" y="4681728"/>
            <a:ext cx="2194560" cy="329184"/>
          </a:xfrm>
          <a:prstGeom prst="rect">
            <a:avLst/>
          </a:prstGeom>
          <a:noFill/>
        </p:spPr>
        <p:txBody>
          <a:bodyPr wrap="square">
            <a:spAutoFit/>
          </a:bodyPr>
          <a:lstStyle/>
          <a:p>
            <a:pPr algn="l"/>
            <a:r>
              <a:rPr sz="1600" b="0" i="0">
                <a:solidFill>
                  <a:srgbClr val="595959"/>
                </a:solidFill>
              </a:rPr>
              <a:t>Input file:</a:t>
            </a:r>
          </a:p>
        </p:txBody>
      </p:sp>
      <p:sp>
        <p:nvSpPr>
          <p:cNvPr id="31" name="TextBox 30"/>
          <p:cNvSpPr txBox="1"/>
          <p:nvPr/>
        </p:nvSpPr>
        <p:spPr>
          <a:xfrm>
            <a:off x="2423160" y="4681728"/>
            <a:ext cx="1737360" cy="329184"/>
          </a:xfrm>
          <a:prstGeom prst="rect">
            <a:avLst/>
          </a:prstGeom>
          <a:noFill/>
        </p:spPr>
        <p:txBody>
          <a:bodyPr wrap="square">
            <a:spAutoFit/>
          </a:bodyPr>
          <a:lstStyle/>
          <a:p>
            <a:pPr algn="l"/>
            <a:r>
              <a:rPr sz="1600" b="1" i="0">
                <a:solidFill>
                  <a:srgbClr val="1A1A1A"/>
                </a:solidFill>
              </a:rPr>
              <a:t>rfm_mockup.csv</a:t>
            </a:r>
          </a:p>
        </p:txBody>
      </p:sp>
      <p:sp>
        <p:nvSpPr>
          <p:cNvPr id="32" name="TextBox 31"/>
          <p:cNvSpPr txBox="1"/>
          <p:nvPr/>
        </p:nvSpPr>
        <p:spPr>
          <a:xfrm>
            <a:off x="4206240" y="4681728"/>
            <a:ext cx="2194560" cy="329184"/>
          </a:xfrm>
          <a:prstGeom prst="rect">
            <a:avLst/>
          </a:prstGeom>
          <a:noFill/>
        </p:spPr>
        <p:txBody>
          <a:bodyPr wrap="square">
            <a:spAutoFit/>
          </a:bodyPr>
          <a:lstStyle/>
          <a:p>
            <a:pPr algn="l"/>
            <a:r>
              <a:rPr sz="1600" b="0" i="0">
                <a:solidFill>
                  <a:srgbClr val="595959"/>
                </a:solidFill>
              </a:rPr>
              <a:t>Customers analysed:</a:t>
            </a:r>
          </a:p>
        </p:txBody>
      </p:sp>
      <p:sp>
        <p:nvSpPr>
          <p:cNvPr id="33" name="TextBox 32"/>
          <p:cNvSpPr txBox="1"/>
          <p:nvPr/>
        </p:nvSpPr>
        <p:spPr>
          <a:xfrm>
            <a:off x="6263640" y="4681728"/>
            <a:ext cx="1737360" cy="329184"/>
          </a:xfrm>
          <a:prstGeom prst="rect">
            <a:avLst/>
          </a:prstGeom>
          <a:noFill/>
        </p:spPr>
        <p:txBody>
          <a:bodyPr wrap="square">
            <a:spAutoFit/>
          </a:bodyPr>
          <a:lstStyle/>
          <a:p>
            <a:pPr algn="l"/>
            <a:r>
              <a:rPr sz="1600" b="1" i="0">
                <a:solidFill>
                  <a:srgbClr val="1A1A1A"/>
                </a:solidFill>
              </a:rPr>
              <a:t>100</a:t>
            </a:r>
          </a:p>
        </p:txBody>
      </p:sp>
      <p:sp>
        <p:nvSpPr>
          <p:cNvPr id="34" name="TextBox 33"/>
          <p:cNvSpPr txBox="1"/>
          <p:nvPr/>
        </p:nvSpPr>
        <p:spPr>
          <a:xfrm>
            <a:off x="8046720" y="4681728"/>
            <a:ext cx="2194560" cy="329184"/>
          </a:xfrm>
          <a:prstGeom prst="rect">
            <a:avLst/>
          </a:prstGeom>
          <a:noFill/>
        </p:spPr>
        <p:txBody>
          <a:bodyPr wrap="square">
            <a:spAutoFit/>
          </a:bodyPr>
          <a:lstStyle/>
          <a:p>
            <a:pPr algn="l"/>
            <a:r>
              <a:rPr sz="1600" b="0" i="0">
                <a:solidFill>
                  <a:srgbClr val="595959"/>
                </a:solidFill>
              </a:rPr>
              <a:t>CLV lifespan:</a:t>
            </a:r>
          </a:p>
        </p:txBody>
      </p:sp>
      <p:sp>
        <p:nvSpPr>
          <p:cNvPr id="35" name="TextBox 34"/>
          <p:cNvSpPr txBox="1"/>
          <p:nvPr/>
        </p:nvSpPr>
        <p:spPr>
          <a:xfrm>
            <a:off x="10104120" y="4681728"/>
            <a:ext cx="1737360" cy="329184"/>
          </a:xfrm>
          <a:prstGeom prst="rect">
            <a:avLst/>
          </a:prstGeom>
          <a:noFill/>
        </p:spPr>
        <p:txBody>
          <a:bodyPr wrap="square">
            <a:spAutoFit/>
          </a:bodyPr>
          <a:lstStyle/>
          <a:p>
            <a:pPr algn="l"/>
            <a:r>
              <a:rPr sz="1600" b="1" i="0">
                <a:solidFill>
                  <a:srgbClr val="1A1A1A"/>
                </a:solidFill>
              </a:rPr>
              <a:t>3 years</a:t>
            </a:r>
          </a:p>
        </p:txBody>
      </p:sp>
      <p:sp>
        <p:nvSpPr>
          <p:cNvPr id="36" name="TextBox 35"/>
          <p:cNvSpPr txBox="1"/>
          <p:nvPr/>
        </p:nvSpPr>
        <p:spPr>
          <a:xfrm>
            <a:off x="365760" y="5212080"/>
            <a:ext cx="2194560" cy="329184"/>
          </a:xfrm>
          <a:prstGeom prst="rect">
            <a:avLst/>
          </a:prstGeom>
          <a:noFill/>
        </p:spPr>
        <p:txBody>
          <a:bodyPr wrap="square">
            <a:spAutoFit/>
          </a:bodyPr>
          <a:lstStyle/>
          <a:p>
            <a:pPr algn="l"/>
            <a:r>
              <a:rPr sz="1600" b="0" i="0">
                <a:solidFill>
                  <a:srgbClr val="595959"/>
                </a:solidFill>
              </a:rPr>
              <a:t>Margin assumption:</a:t>
            </a:r>
          </a:p>
        </p:txBody>
      </p:sp>
      <p:sp>
        <p:nvSpPr>
          <p:cNvPr id="37" name="TextBox 36"/>
          <p:cNvSpPr txBox="1"/>
          <p:nvPr/>
        </p:nvSpPr>
        <p:spPr>
          <a:xfrm>
            <a:off x="2423160" y="5212080"/>
            <a:ext cx="1737360" cy="329184"/>
          </a:xfrm>
          <a:prstGeom prst="rect">
            <a:avLst/>
          </a:prstGeom>
          <a:noFill/>
        </p:spPr>
        <p:txBody>
          <a:bodyPr wrap="square">
            <a:spAutoFit/>
          </a:bodyPr>
          <a:lstStyle/>
          <a:p>
            <a:pPr algn="l"/>
            <a:r>
              <a:rPr sz="1600" b="1" i="0">
                <a:solidFill>
                  <a:srgbClr val="1A1A1A"/>
                </a:solidFill>
              </a:rPr>
              <a:t>20%</a:t>
            </a:r>
          </a:p>
        </p:txBody>
      </p:sp>
      <p:sp>
        <p:nvSpPr>
          <p:cNvPr id="38" name="TextBox 37"/>
          <p:cNvSpPr txBox="1"/>
          <p:nvPr/>
        </p:nvSpPr>
        <p:spPr>
          <a:xfrm>
            <a:off x="4206240" y="5212080"/>
            <a:ext cx="2194560" cy="329184"/>
          </a:xfrm>
          <a:prstGeom prst="rect">
            <a:avLst/>
          </a:prstGeom>
          <a:noFill/>
        </p:spPr>
        <p:txBody>
          <a:bodyPr wrap="square">
            <a:spAutoFit/>
          </a:bodyPr>
          <a:lstStyle/>
          <a:p>
            <a:pPr algn="l"/>
            <a:r>
              <a:rPr sz="1600" b="0" i="0">
                <a:solidFill>
                  <a:srgbClr val="595959"/>
                </a:solidFill>
              </a:rPr>
              <a:t>Segments present:</a:t>
            </a:r>
          </a:p>
        </p:txBody>
      </p:sp>
      <p:sp>
        <p:nvSpPr>
          <p:cNvPr id="39" name="TextBox 38"/>
          <p:cNvSpPr txBox="1"/>
          <p:nvPr/>
        </p:nvSpPr>
        <p:spPr>
          <a:xfrm>
            <a:off x="6263640" y="5212080"/>
            <a:ext cx="1737360" cy="329184"/>
          </a:xfrm>
          <a:prstGeom prst="rect">
            <a:avLst/>
          </a:prstGeom>
          <a:noFill/>
        </p:spPr>
        <p:txBody>
          <a:bodyPr wrap="square">
            <a:spAutoFit/>
          </a:bodyPr>
          <a:lstStyle/>
          <a:p>
            <a:pPr algn="l"/>
            <a:r>
              <a:rPr sz="1600" b="1" i="0">
                <a:solidFill>
                  <a:srgbClr val="1A1A1A"/>
                </a:solidFill>
              </a:rPr>
              <a:t>8 of 11</a:t>
            </a:r>
          </a:p>
        </p:txBody>
      </p:sp>
      <p:sp>
        <p:nvSpPr>
          <p:cNvPr id="40" name="TextBox 39"/>
          <p:cNvSpPr txBox="1"/>
          <p:nvPr/>
        </p:nvSpPr>
        <p:spPr>
          <a:xfrm>
            <a:off x="8046720" y="5212080"/>
            <a:ext cx="2194560" cy="329184"/>
          </a:xfrm>
          <a:prstGeom prst="rect">
            <a:avLst/>
          </a:prstGeom>
          <a:noFill/>
        </p:spPr>
        <p:txBody>
          <a:bodyPr wrap="square">
            <a:spAutoFit/>
          </a:bodyPr>
          <a:lstStyle/>
          <a:p>
            <a:pPr algn="l"/>
            <a:r>
              <a:rPr sz="1600" b="0" i="0">
                <a:solidFill>
                  <a:srgbClr val="595959"/>
                </a:solidFill>
              </a:rPr>
              <a:t>Output file:</a:t>
            </a:r>
          </a:p>
        </p:txBody>
      </p:sp>
      <p:sp>
        <p:nvSpPr>
          <p:cNvPr id="41" name="TextBox 40"/>
          <p:cNvSpPr txBox="1"/>
          <p:nvPr/>
        </p:nvSpPr>
        <p:spPr>
          <a:xfrm>
            <a:off x="10104120" y="5212080"/>
            <a:ext cx="1737360" cy="329184"/>
          </a:xfrm>
          <a:prstGeom prst="rect">
            <a:avLst/>
          </a:prstGeom>
          <a:noFill/>
        </p:spPr>
        <p:txBody>
          <a:bodyPr wrap="square">
            <a:spAutoFit/>
          </a:bodyPr>
          <a:lstStyle/>
          <a:p>
            <a:pPr algn="l"/>
            <a:r>
              <a:rPr sz="1600" b="1" i="0">
                <a:solidFill>
                  <a:srgbClr val="1A1A1A"/>
                </a:solidFill>
              </a:rPr>
              <a:t>rfm_analysis.csv</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515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82296"/>
            <a:ext cx="11430000" cy="475488"/>
          </a:xfrm>
          <a:prstGeom prst="rect">
            <a:avLst/>
          </a:prstGeom>
          <a:noFill/>
        </p:spPr>
        <p:txBody>
          <a:bodyPr wrap="square">
            <a:spAutoFit/>
          </a:bodyPr>
          <a:lstStyle/>
          <a:p>
            <a:pPr algn="l"/>
            <a:r>
              <a:rPr sz="2800" b="1" i="0">
                <a:solidFill>
                  <a:srgbClr val="FFFFFF"/>
                </a:solidFill>
              </a:rPr>
              <a:t>Segment Landscape</a:t>
            </a:r>
          </a:p>
        </p:txBody>
      </p:sp>
      <p:sp>
        <p:nvSpPr>
          <p:cNvPr id="4" name="TextBox 3"/>
          <p:cNvSpPr txBox="1"/>
          <p:nvPr/>
        </p:nvSpPr>
        <p:spPr>
          <a:xfrm>
            <a:off x="365760" y="566928"/>
            <a:ext cx="11430000" cy="310896"/>
          </a:xfrm>
          <a:prstGeom prst="rect">
            <a:avLst/>
          </a:prstGeom>
          <a:noFill/>
        </p:spPr>
        <p:txBody>
          <a:bodyPr wrap="square">
            <a:spAutoFit/>
          </a:bodyPr>
          <a:lstStyle/>
          <a:p>
            <a:pPr algn="l"/>
            <a:r>
              <a:rPr sz="1500" b="0" i="0">
                <a:solidFill>
                  <a:srgbClr val="BDD7EE"/>
                </a:solidFill>
              </a:rPr>
              <a:t>100 customers across 8 active segments · $41,135 total estimated CLV</a:t>
            </a:r>
          </a:p>
        </p:txBody>
      </p:sp>
      <p:cxnSp>
        <p:nvCxnSpPr>
          <p:cNvPr id="5" name="Connector 4"/>
          <p:cNvCxnSpPr/>
          <p:nvPr/>
        </p:nvCxnSpPr>
        <p:spPr>
          <a:xfrm>
            <a:off x="365760" y="6473952"/>
            <a:ext cx="11457432" cy="0"/>
          </a:xfrm>
          <a:prstGeom prst="line">
            <a:avLst/>
          </a:prstGeom>
          <a:ln w="6350">
            <a:solidFill>
              <a:srgbClr val="D6D6D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65760" y="6510528"/>
            <a:ext cx="5486400" cy="256032"/>
          </a:xfrm>
          <a:prstGeom prst="rect">
            <a:avLst/>
          </a:prstGeom>
          <a:noFill/>
        </p:spPr>
        <p:txBody>
          <a:bodyPr wrap="square">
            <a:spAutoFit/>
          </a:bodyPr>
          <a:lstStyle/>
          <a:p>
            <a:pPr algn="l"/>
            <a:r>
              <a:rPr sz="1200" b="0" i="0">
                <a:solidFill>
                  <a:srgbClr val="595959"/>
                </a:solidFill>
              </a:rPr>
              <a:t>CONFIDENTIAL — RFM Customer Analysis</a:t>
            </a:r>
          </a:p>
        </p:txBody>
      </p:sp>
      <p:sp>
        <p:nvSpPr>
          <p:cNvPr id="7" name="TextBox 6"/>
          <p:cNvSpPr txBox="1"/>
          <p:nvPr/>
        </p:nvSpPr>
        <p:spPr>
          <a:xfrm>
            <a:off x="11612880" y="6428232"/>
            <a:ext cx="457200" cy="274320"/>
          </a:xfrm>
          <a:prstGeom prst="rect">
            <a:avLst/>
          </a:prstGeom>
          <a:noFill/>
        </p:spPr>
        <p:txBody>
          <a:bodyPr wrap="square">
            <a:spAutoFit/>
          </a:bodyPr>
          <a:lstStyle/>
          <a:p>
            <a:pPr algn="r"/>
            <a:r>
              <a:rPr sz="1200" b="0" i="0">
                <a:solidFill>
                  <a:srgbClr val="595959"/>
                </a:solidFill>
              </a:rPr>
              <a:t>4</a:t>
            </a:r>
          </a:p>
        </p:txBody>
      </p:sp>
      <p:sp>
        <p:nvSpPr>
          <p:cNvPr id="8" name="Rectangle 7"/>
          <p:cNvSpPr/>
          <p:nvPr/>
        </p:nvSpPr>
        <p:spPr>
          <a:xfrm>
            <a:off x="320040" y="1207008"/>
            <a:ext cx="11521440" cy="47548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93192" y="1298448"/>
            <a:ext cx="2788920" cy="310896"/>
          </a:xfrm>
          <a:prstGeom prst="rect">
            <a:avLst/>
          </a:prstGeom>
          <a:noFill/>
        </p:spPr>
        <p:txBody>
          <a:bodyPr wrap="square">
            <a:spAutoFit/>
          </a:bodyPr>
          <a:lstStyle/>
          <a:p>
            <a:pPr algn="l"/>
            <a:r>
              <a:rPr sz="1600" b="1" i="0">
                <a:solidFill>
                  <a:srgbClr val="FFFFFF"/>
                </a:solidFill>
              </a:rPr>
              <a:t>Segment</a:t>
            </a:r>
          </a:p>
        </p:txBody>
      </p:sp>
      <p:sp>
        <p:nvSpPr>
          <p:cNvPr id="10" name="TextBox 9"/>
          <p:cNvSpPr txBox="1"/>
          <p:nvPr/>
        </p:nvSpPr>
        <p:spPr>
          <a:xfrm>
            <a:off x="3227832" y="1298448"/>
            <a:ext cx="1371600" cy="310896"/>
          </a:xfrm>
          <a:prstGeom prst="rect">
            <a:avLst/>
          </a:prstGeom>
          <a:noFill/>
        </p:spPr>
        <p:txBody>
          <a:bodyPr wrap="square">
            <a:spAutoFit/>
          </a:bodyPr>
          <a:lstStyle/>
          <a:p>
            <a:pPr algn="l"/>
            <a:r>
              <a:rPr sz="1600" b="1" i="0">
                <a:solidFill>
                  <a:srgbClr val="FFFFFF"/>
                </a:solidFill>
              </a:rPr>
              <a:t>Customers</a:t>
            </a:r>
          </a:p>
        </p:txBody>
      </p:sp>
      <p:sp>
        <p:nvSpPr>
          <p:cNvPr id="11" name="TextBox 10"/>
          <p:cNvSpPr txBox="1"/>
          <p:nvPr/>
        </p:nvSpPr>
        <p:spPr>
          <a:xfrm>
            <a:off x="4645152" y="1298448"/>
            <a:ext cx="1554480" cy="310896"/>
          </a:xfrm>
          <a:prstGeom prst="rect">
            <a:avLst/>
          </a:prstGeom>
          <a:noFill/>
        </p:spPr>
        <p:txBody>
          <a:bodyPr wrap="square">
            <a:spAutoFit/>
          </a:bodyPr>
          <a:lstStyle/>
          <a:p>
            <a:pPr algn="l"/>
            <a:r>
              <a:rPr sz="1600" b="1" i="0">
                <a:solidFill>
                  <a:srgbClr val="FFFFFF"/>
                </a:solidFill>
              </a:rPr>
              <a:t>Avg CLV</a:t>
            </a:r>
          </a:p>
        </p:txBody>
      </p:sp>
      <p:sp>
        <p:nvSpPr>
          <p:cNvPr id="12" name="TextBox 11"/>
          <p:cNvSpPr txBox="1"/>
          <p:nvPr/>
        </p:nvSpPr>
        <p:spPr>
          <a:xfrm>
            <a:off x="6245352" y="1298448"/>
            <a:ext cx="1645920" cy="310896"/>
          </a:xfrm>
          <a:prstGeom prst="rect">
            <a:avLst/>
          </a:prstGeom>
          <a:noFill/>
        </p:spPr>
        <p:txBody>
          <a:bodyPr wrap="square">
            <a:spAutoFit/>
          </a:bodyPr>
          <a:lstStyle/>
          <a:p>
            <a:pPr algn="l"/>
            <a:r>
              <a:rPr sz="1600" b="1" i="0">
                <a:solidFill>
                  <a:srgbClr val="FFFFFF"/>
                </a:solidFill>
              </a:rPr>
              <a:t>Total CLV</a:t>
            </a:r>
          </a:p>
        </p:txBody>
      </p:sp>
      <p:sp>
        <p:nvSpPr>
          <p:cNvPr id="13" name="TextBox 12"/>
          <p:cNvSpPr txBox="1"/>
          <p:nvPr/>
        </p:nvSpPr>
        <p:spPr>
          <a:xfrm>
            <a:off x="7936992" y="1298448"/>
            <a:ext cx="1828800" cy="310896"/>
          </a:xfrm>
          <a:prstGeom prst="rect">
            <a:avLst/>
          </a:prstGeom>
          <a:noFill/>
        </p:spPr>
        <p:txBody>
          <a:bodyPr wrap="square">
            <a:spAutoFit/>
          </a:bodyPr>
          <a:lstStyle/>
          <a:p>
            <a:pPr algn="l"/>
            <a:r>
              <a:rPr sz="1600" b="1" i="0">
                <a:solidFill>
                  <a:srgbClr val="FFFFFF"/>
                </a:solidFill>
              </a:rPr>
              <a:t>Avg Recency</a:t>
            </a:r>
          </a:p>
        </p:txBody>
      </p:sp>
      <p:sp>
        <p:nvSpPr>
          <p:cNvPr id="14" name="TextBox 13"/>
          <p:cNvSpPr txBox="1"/>
          <p:nvPr/>
        </p:nvSpPr>
        <p:spPr>
          <a:xfrm>
            <a:off x="9811512" y="1298448"/>
            <a:ext cx="2057400" cy="310896"/>
          </a:xfrm>
          <a:prstGeom prst="rect">
            <a:avLst/>
          </a:prstGeom>
          <a:noFill/>
        </p:spPr>
        <p:txBody>
          <a:bodyPr wrap="square">
            <a:spAutoFit/>
          </a:bodyPr>
          <a:lstStyle/>
          <a:p>
            <a:pPr algn="l"/>
            <a:r>
              <a:rPr sz="1600" b="1" i="0">
                <a:solidFill>
                  <a:srgbClr val="FFFFFF"/>
                </a:solidFill>
              </a:rPr>
              <a:t>Priority</a:t>
            </a:r>
          </a:p>
        </p:txBody>
      </p:sp>
      <p:sp>
        <p:nvSpPr>
          <p:cNvPr id="15" name="Rectangle 14"/>
          <p:cNvSpPr/>
          <p:nvPr/>
        </p:nvSpPr>
        <p:spPr>
          <a:xfrm>
            <a:off x="320040" y="1755648"/>
            <a:ext cx="11521440" cy="5486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93192" y="1883664"/>
            <a:ext cx="2679191" cy="310896"/>
          </a:xfrm>
          <a:prstGeom prst="rect">
            <a:avLst/>
          </a:prstGeom>
          <a:noFill/>
        </p:spPr>
        <p:txBody>
          <a:bodyPr wrap="square">
            <a:spAutoFit/>
          </a:bodyPr>
          <a:lstStyle/>
          <a:p>
            <a:pPr algn="l"/>
            <a:r>
              <a:rPr sz="1600" b="1" i="0">
                <a:solidFill>
                  <a:srgbClr val="1A1A1A"/>
                </a:solidFill>
              </a:rPr>
              <a:t>Champions</a:t>
            </a:r>
          </a:p>
        </p:txBody>
      </p:sp>
      <p:sp>
        <p:nvSpPr>
          <p:cNvPr id="17" name="TextBox 16"/>
          <p:cNvSpPr txBox="1"/>
          <p:nvPr/>
        </p:nvSpPr>
        <p:spPr>
          <a:xfrm>
            <a:off x="3227832" y="1883664"/>
            <a:ext cx="1261872" cy="310896"/>
          </a:xfrm>
          <a:prstGeom prst="rect">
            <a:avLst/>
          </a:prstGeom>
          <a:noFill/>
        </p:spPr>
        <p:txBody>
          <a:bodyPr wrap="square">
            <a:spAutoFit/>
          </a:bodyPr>
          <a:lstStyle/>
          <a:p>
            <a:pPr algn="l"/>
            <a:r>
              <a:rPr sz="1600" b="0" i="0">
                <a:solidFill>
                  <a:srgbClr val="1A1A1A"/>
                </a:solidFill>
              </a:rPr>
              <a:t>7</a:t>
            </a:r>
          </a:p>
        </p:txBody>
      </p:sp>
      <p:sp>
        <p:nvSpPr>
          <p:cNvPr id="18" name="TextBox 17"/>
          <p:cNvSpPr txBox="1"/>
          <p:nvPr/>
        </p:nvSpPr>
        <p:spPr>
          <a:xfrm>
            <a:off x="4645152" y="1883664"/>
            <a:ext cx="1444752" cy="310896"/>
          </a:xfrm>
          <a:prstGeom prst="rect">
            <a:avLst/>
          </a:prstGeom>
          <a:noFill/>
        </p:spPr>
        <p:txBody>
          <a:bodyPr wrap="square">
            <a:spAutoFit/>
          </a:bodyPr>
          <a:lstStyle/>
          <a:p>
            <a:pPr algn="l"/>
            <a:r>
              <a:rPr sz="1600" b="1" i="0">
                <a:solidFill>
                  <a:srgbClr val="003366"/>
                </a:solidFill>
              </a:rPr>
              <a:t>$1,412</a:t>
            </a:r>
          </a:p>
        </p:txBody>
      </p:sp>
      <p:sp>
        <p:nvSpPr>
          <p:cNvPr id="19" name="TextBox 18"/>
          <p:cNvSpPr txBox="1"/>
          <p:nvPr/>
        </p:nvSpPr>
        <p:spPr>
          <a:xfrm>
            <a:off x="6245352" y="1883664"/>
            <a:ext cx="1536192" cy="310896"/>
          </a:xfrm>
          <a:prstGeom prst="rect">
            <a:avLst/>
          </a:prstGeom>
          <a:noFill/>
        </p:spPr>
        <p:txBody>
          <a:bodyPr wrap="square">
            <a:spAutoFit/>
          </a:bodyPr>
          <a:lstStyle/>
          <a:p>
            <a:pPr algn="l"/>
            <a:r>
              <a:rPr sz="1600" b="0" i="0">
                <a:solidFill>
                  <a:srgbClr val="003366"/>
                </a:solidFill>
              </a:rPr>
              <a:t>$9,882</a:t>
            </a:r>
          </a:p>
        </p:txBody>
      </p:sp>
      <p:sp>
        <p:nvSpPr>
          <p:cNvPr id="20" name="TextBox 19"/>
          <p:cNvSpPr txBox="1"/>
          <p:nvPr/>
        </p:nvSpPr>
        <p:spPr>
          <a:xfrm>
            <a:off x="7936992" y="1883664"/>
            <a:ext cx="1719072" cy="310896"/>
          </a:xfrm>
          <a:prstGeom prst="rect">
            <a:avLst/>
          </a:prstGeom>
          <a:noFill/>
        </p:spPr>
        <p:txBody>
          <a:bodyPr wrap="square">
            <a:spAutoFit/>
          </a:bodyPr>
          <a:lstStyle/>
          <a:p>
            <a:pPr algn="l"/>
            <a:r>
              <a:rPr sz="1600" b="0" i="0">
                <a:solidFill>
                  <a:srgbClr val="595959"/>
                </a:solidFill>
              </a:rPr>
              <a:t>30 days</a:t>
            </a:r>
          </a:p>
        </p:txBody>
      </p:sp>
      <p:sp>
        <p:nvSpPr>
          <p:cNvPr id="21" name="TextBox 20"/>
          <p:cNvSpPr txBox="1"/>
          <p:nvPr/>
        </p:nvSpPr>
        <p:spPr>
          <a:xfrm>
            <a:off x="9811512" y="1883664"/>
            <a:ext cx="1947672" cy="310896"/>
          </a:xfrm>
          <a:prstGeom prst="rect">
            <a:avLst/>
          </a:prstGeom>
          <a:noFill/>
        </p:spPr>
        <p:txBody>
          <a:bodyPr wrap="square">
            <a:spAutoFit/>
          </a:bodyPr>
          <a:lstStyle/>
          <a:p>
            <a:pPr algn="l"/>
            <a:r>
              <a:rPr sz="1600" b="1" i="0">
                <a:solidFill>
                  <a:srgbClr val="007050"/>
                </a:solidFill>
              </a:rPr>
              <a:t>Protect</a:t>
            </a:r>
          </a:p>
        </p:txBody>
      </p:sp>
      <p:sp>
        <p:nvSpPr>
          <p:cNvPr id="22" name="Rectangle 21"/>
          <p:cNvSpPr/>
          <p:nvPr/>
        </p:nvSpPr>
        <p:spPr>
          <a:xfrm>
            <a:off x="320040" y="2322576"/>
            <a:ext cx="11521440" cy="548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93192" y="2450592"/>
            <a:ext cx="2679191" cy="310896"/>
          </a:xfrm>
          <a:prstGeom prst="rect">
            <a:avLst/>
          </a:prstGeom>
          <a:noFill/>
        </p:spPr>
        <p:txBody>
          <a:bodyPr wrap="square">
            <a:spAutoFit/>
          </a:bodyPr>
          <a:lstStyle/>
          <a:p>
            <a:pPr algn="l"/>
            <a:r>
              <a:rPr sz="1600" b="1" i="0">
                <a:solidFill>
                  <a:srgbClr val="1A1A1A"/>
                </a:solidFill>
              </a:rPr>
              <a:t>Loyal</a:t>
            </a:r>
          </a:p>
        </p:txBody>
      </p:sp>
      <p:sp>
        <p:nvSpPr>
          <p:cNvPr id="24" name="TextBox 23"/>
          <p:cNvSpPr txBox="1"/>
          <p:nvPr/>
        </p:nvSpPr>
        <p:spPr>
          <a:xfrm>
            <a:off x="3227832" y="2450592"/>
            <a:ext cx="1261872" cy="310896"/>
          </a:xfrm>
          <a:prstGeom prst="rect">
            <a:avLst/>
          </a:prstGeom>
          <a:noFill/>
        </p:spPr>
        <p:txBody>
          <a:bodyPr wrap="square">
            <a:spAutoFit/>
          </a:bodyPr>
          <a:lstStyle/>
          <a:p>
            <a:pPr algn="l"/>
            <a:r>
              <a:rPr sz="1600" b="0" i="0">
                <a:solidFill>
                  <a:srgbClr val="1A1A1A"/>
                </a:solidFill>
              </a:rPr>
              <a:t>8</a:t>
            </a:r>
          </a:p>
        </p:txBody>
      </p:sp>
      <p:sp>
        <p:nvSpPr>
          <p:cNvPr id="25" name="TextBox 24"/>
          <p:cNvSpPr txBox="1"/>
          <p:nvPr/>
        </p:nvSpPr>
        <p:spPr>
          <a:xfrm>
            <a:off x="4645152" y="2450592"/>
            <a:ext cx="1444752" cy="310896"/>
          </a:xfrm>
          <a:prstGeom prst="rect">
            <a:avLst/>
          </a:prstGeom>
          <a:noFill/>
        </p:spPr>
        <p:txBody>
          <a:bodyPr wrap="square">
            <a:spAutoFit/>
          </a:bodyPr>
          <a:lstStyle/>
          <a:p>
            <a:pPr algn="l"/>
            <a:r>
              <a:rPr sz="1600" b="1" i="0">
                <a:solidFill>
                  <a:srgbClr val="003366"/>
                </a:solidFill>
              </a:rPr>
              <a:t>$832</a:t>
            </a:r>
          </a:p>
        </p:txBody>
      </p:sp>
      <p:sp>
        <p:nvSpPr>
          <p:cNvPr id="26" name="TextBox 25"/>
          <p:cNvSpPr txBox="1"/>
          <p:nvPr/>
        </p:nvSpPr>
        <p:spPr>
          <a:xfrm>
            <a:off x="6245352" y="2450592"/>
            <a:ext cx="1536192" cy="310896"/>
          </a:xfrm>
          <a:prstGeom prst="rect">
            <a:avLst/>
          </a:prstGeom>
          <a:noFill/>
        </p:spPr>
        <p:txBody>
          <a:bodyPr wrap="square">
            <a:spAutoFit/>
          </a:bodyPr>
          <a:lstStyle/>
          <a:p>
            <a:pPr algn="l"/>
            <a:r>
              <a:rPr sz="1600" b="0" i="0">
                <a:solidFill>
                  <a:srgbClr val="003366"/>
                </a:solidFill>
              </a:rPr>
              <a:t>$6,655</a:t>
            </a:r>
          </a:p>
        </p:txBody>
      </p:sp>
      <p:sp>
        <p:nvSpPr>
          <p:cNvPr id="27" name="TextBox 26"/>
          <p:cNvSpPr txBox="1"/>
          <p:nvPr/>
        </p:nvSpPr>
        <p:spPr>
          <a:xfrm>
            <a:off x="7936992" y="2450592"/>
            <a:ext cx="1719072" cy="310896"/>
          </a:xfrm>
          <a:prstGeom prst="rect">
            <a:avLst/>
          </a:prstGeom>
          <a:noFill/>
        </p:spPr>
        <p:txBody>
          <a:bodyPr wrap="square">
            <a:spAutoFit/>
          </a:bodyPr>
          <a:lstStyle/>
          <a:p>
            <a:pPr algn="l"/>
            <a:r>
              <a:rPr sz="1600" b="0" i="0">
                <a:solidFill>
                  <a:srgbClr val="595959"/>
                </a:solidFill>
              </a:rPr>
              <a:t>62 days</a:t>
            </a:r>
          </a:p>
        </p:txBody>
      </p:sp>
      <p:sp>
        <p:nvSpPr>
          <p:cNvPr id="28" name="TextBox 27"/>
          <p:cNvSpPr txBox="1"/>
          <p:nvPr/>
        </p:nvSpPr>
        <p:spPr>
          <a:xfrm>
            <a:off x="9811512" y="2450592"/>
            <a:ext cx="1947672" cy="310896"/>
          </a:xfrm>
          <a:prstGeom prst="rect">
            <a:avLst/>
          </a:prstGeom>
          <a:noFill/>
        </p:spPr>
        <p:txBody>
          <a:bodyPr wrap="square">
            <a:spAutoFit/>
          </a:bodyPr>
          <a:lstStyle/>
          <a:p>
            <a:pPr algn="l"/>
            <a:r>
              <a:rPr sz="1600" b="1" i="0">
                <a:solidFill>
                  <a:srgbClr val="007050"/>
                </a:solidFill>
              </a:rPr>
              <a:t>Reward</a:t>
            </a:r>
          </a:p>
        </p:txBody>
      </p:sp>
      <p:sp>
        <p:nvSpPr>
          <p:cNvPr id="29" name="Rectangle 28"/>
          <p:cNvSpPr/>
          <p:nvPr/>
        </p:nvSpPr>
        <p:spPr>
          <a:xfrm>
            <a:off x="320040" y="2889504"/>
            <a:ext cx="11521440" cy="5486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93192" y="3017520"/>
            <a:ext cx="2679191" cy="310896"/>
          </a:xfrm>
          <a:prstGeom prst="rect">
            <a:avLst/>
          </a:prstGeom>
          <a:noFill/>
        </p:spPr>
        <p:txBody>
          <a:bodyPr wrap="square">
            <a:spAutoFit/>
          </a:bodyPr>
          <a:lstStyle/>
          <a:p>
            <a:pPr algn="l"/>
            <a:r>
              <a:rPr sz="1600" b="1" i="0">
                <a:solidFill>
                  <a:srgbClr val="1A1A1A"/>
                </a:solidFill>
              </a:rPr>
              <a:t>Potential Loyalist</a:t>
            </a:r>
          </a:p>
        </p:txBody>
      </p:sp>
      <p:sp>
        <p:nvSpPr>
          <p:cNvPr id="31" name="TextBox 30"/>
          <p:cNvSpPr txBox="1"/>
          <p:nvPr/>
        </p:nvSpPr>
        <p:spPr>
          <a:xfrm>
            <a:off x="3227832" y="3017520"/>
            <a:ext cx="1261872" cy="310896"/>
          </a:xfrm>
          <a:prstGeom prst="rect">
            <a:avLst/>
          </a:prstGeom>
          <a:noFill/>
        </p:spPr>
        <p:txBody>
          <a:bodyPr wrap="square">
            <a:spAutoFit/>
          </a:bodyPr>
          <a:lstStyle/>
          <a:p>
            <a:pPr algn="l"/>
            <a:r>
              <a:rPr sz="1600" b="0" i="0">
                <a:solidFill>
                  <a:srgbClr val="1A1A1A"/>
                </a:solidFill>
              </a:rPr>
              <a:t>15</a:t>
            </a:r>
          </a:p>
        </p:txBody>
      </p:sp>
      <p:sp>
        <p:nvSpPr>
          <p:cNvPr id="32" name="TextBox 31"/>
          <p:cNvSpPr txBox="1"/>
          <p:nvPr/>
        </p:nvSpPr>
        <p:spPr>
          <a:xfrm>
            <a:off x="4645152" y="3017520"/>
            <a:ext cx="1444752" cy="310896"/>
          </a:xfrm>
          <a:prstGeom prst="rect">
            <a:avLst/>
          </a:prstGeom>
          <a:noFill/>
        </p:spPr>
        <p:txBody>
          <a:bodyPr wrap="square">
            <a:spAutoFit/>
          </a:bodyPr>
          <a:lstStyle/>
          <a:p>
            <a:pPr algn="l"/>
            <a:r>
              <a:rPr sz="1600" b="1" i="0">
                <a:solidFill>
                  <a:srgbClr val="003366"/>
                </a:solidFill>
              </a:rPr>
              <a:t>$599</a:t>
            </a:r>
          </a:p>
        </p:txBody>
      </p:sp>
      <p:sp>
        <p:nvSpPr>
          <p:cNvPr id="33" name="TextBox 32"/>
          <p:cNvSpPr txBox="1"/>
          <p:nvPr/>
        </p:nvSpPr>
        <p:spPr>
          <a:xfrm>
            <a:off x="6245352" y="3017520"/>
            <a:ext cx="1536192" cy="310896"/>
          </a:xfrm>
          <a:prstGeom prst="rect">
            <a:avLst/>
          </a:prstGeom>
          <a:noFill/>
        </p:spPr>
        <p:txBody>
          <a:bodyPr wrap="square">
            <a:spAutoFit/>
          </a:bodyPr>
          <a:lstStyle/>
          <a:p>
            <a:pPr algn="l"/>
            <a:r>
              <a:rPr sz="1600" b="0" i="0">
                <a:solidFill>
                  <a:srgbClr val="003366"/>
                </a:solidFill>
              </a:rPr>
              <a:t>$8,992</a:t>
            </a:r>
          </a:p>
        </p:txBody>
      </p:sp>
      <p:sp>
        <p:nvSpPr>
          <p:cNvPr id="34" name="TextBox 33"/>
          <p:cNvSpPr txBox="1"/>
          <p:nvPr/>
        </p:nvSpPr>
        <p:spPr>
          <a:xfrm>
            <a:off x="7936992" y="3017520"/>
            <a:ext cx="1719072" cy="310896"/>
          </a:xfrm>
          <a:prstGeom prst="rect">
            <a:avLst/>
          </a:prstGeom>
          <a:noFill/>
        </p:spPr>
        <p:txBody>
          <a:bodyPr wrap="square">
            <a:spAutoFit/>
          </a:bodyPr>
          <a:lstStyle/>
          <a:p>
            <a:pPr algn="l"/>
            <a:r>
              <a:rPr sz="1600" b="0" i="0">
                <a:solidFill>
                  <a:srgbClr val="595959"/>
                </a:solidFill>
              </a:rPr>
              <a:t>67 days</a:t>
            </a:r>
          </a:p>
        </p:txBody>
      </p:sp>
      <p:sp>
        <p:nvSpPr>
          <p:cNvPr id="35" name="TextBox 34"/>
          <p:cNvSpPr txBox="1"/>
          <p:nvPr/>
        </p:nvSpPr>
        <p:spPr>
          <a:xfrm>
            <a:off x="9811512" y="3017520"/>
            <a:ext cx="1947672" cy="310896"/>
          </a:xfrm>
          <a:prstGeom prst="rect">
            <a:avLst/>
          </a:prstGeom>
          <a:noFill/>
        </p:spPr>
        <p:txBody>
          <a:bodyPr wrap="square">
            <a:spAutoFit/>
          </a:bodyPr>
          <a:lstStyle/>
          <a:p>
            <a:pPr algn="l"/>
            <a:r>
              <a:rPr sz="1600" b="1" i="0">
                <a:solidFill>
                  <a:srgbClr val="0070C0"/>
                </a:solidFill>
              </a:rPr>
              <a:t>Nudge</a:t>
            </a:r>
          </a:p>
        </p:txBody>
      </p:sp>
      <p:sp>
        <p:nvSpPr>
          <p:cNvPr id="36" name="Rectangle 35"/>
          <p:cNvSpPr/>
          <p:nvPr/>
        </p:nvSpPr>
        <p:spPr>
          <a:xfrm>
            <a:off x="320040" y="3456432"/>
            <a:ext cx="11521440" cy="548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93192" y="3584448"/>
            <a:ext cx="2679191" cy="310896"/>
          </a:xfrm>
          <a:prstGeom prst="rect">
            <a:avLst/>
          </a:prstGeom>
          <a:noFill/>
        </p:spPr>
        <p:txBody>
          <a:bodyPr wrap="square">
            <a:spAutoFit/>
          </a:bodyPr>
          <a:lstStyle/>
          <a:p>
            <a:pPr algn="l"/>
            <a:r>
              <a:rPr sz="1600" b="1" i="0">
                <a:solidFill>
                  <a:srgbClr val="1A1A1A"/>
                </a:solidFill>
              </a:rPr>
              <a:t>Need Attention</a:t>
            </a:r>
          </a:p>
        </p:txBody>
      </p:sp>
      <p:sp>
        <p:nvSpPr>
          <p:cNvPr id="38" name="TextBox 37"/>
          <p:cNvSpPr txBox="1"/>
          <p:nvPr/>
        </p:nvSpPr>
        <p:spPr>
          <a:xfrm>
            <a:off x="3227832" y="3584448"/>
            <a:ext cx="1261872" cy="310896"/>
          </a:xfrm>
          <a:prstGeom prst="rect">
            <a:avLst/>
          </a:prstGeom>
          <a:noFill/>
        </p:spPr>
        <p:txBody>
          <a:bodyPr wrap="square">
            <a:spAutoFit/>
          </a:bodyPr>
          <a:lstStyle/>
          <a:p>
            <a:pPr algn="l"/>
            <a:r>
              <a:rPr sz="1600" b="0" i="0">
                <a:solidFill>
                  <a:srgbClr val="1A1A1A"/>
                </a:solidFill>
              </a:rPr>
              <a:t>5</a:t>
            </a:r>
          </a:p>
        </p:txBody>
      </p:sp>
      <p:sp>
        <p:nvSpPr>
          <p:cNvPr id="39" name="TextBox 38"/>
          <p:cNvSpPr txBox="1"/>
          <p:nvPr/>
        </p:nvSpPr>
        <p:spPr>
          <a:xfrm>
            <a:off x="4645152" y="3584448"/>
            <a:ext cx="1444752" cy="310896"/>
          </a:xfrm>
          <a:prstGeom prst="rect">
            <a:avLst/>
          </a:prstGeom>
          <a:noFill/>
        </p:spPr>
        <p:txBody>
          <a:bodyPr wrap="square">
            <a:spAutoFit/>
          </a:bodyPr>
          <a:lstStyle/>
          <a:p>
            <a:pPr algn="l"/>
            <a:r>
              <a:rPr sz="1600" b="1" i="0">
                <a:solidFill>
                  <a:srgbClr val="003366"/>
                </a:solidFill>
              </a:rPr>
              <a:t>$512</a:t>
            </a:r>
          </a:p>
        </p:txBody>
      </p:sp>
      <p:sp>
        <p:nvSpPr>
          <p:cNvPr id="40" name="TextBox 39"/>
          <p:cNvSpPr txBox="1"/>
          <p:nvPr/>
        </p:nvSpPr>
        <p:spPr>
          <a:xfrm>
            <a:off x="6245352" y="3584448"/>
            <a:ext cx="1536192" cy="310896"/>
          </a:xfrm>
          <a:prstGeom prst="rect">
            <a:avLst/>
          </a:prstGeom>
          <a:noFill/>
        </p:spPr>
        <p:txBody>
          <a:bodyPr wrap="square">
            <a:spAutoFit/>
          </a:bodyPr>
          <a:lstStyle/>
          <a:p>
            <a:pPr algn="l"/>
            <a:r>
              <a:rPr sz="1600" b="0" i="0">
                <a:solidFill>
                  <a:srgbClr val="003366"/>
                </a:solidFill>
              </a:rPr>
              <a:t>$2,562</a:t>
            </a:r>
          </a:p>
        </p:txBody>
      </p:sp>
      <p:sp>
        <p:nvSpPr>
          <p:cNvPr id="41" name="TextBox 40"/>
          <p:cNvSpPr txBox="1"/>
          <p:nvPr/>
        </p:nvSpPr>
        <p:spPr>
          <a:xfrm>
            <a:off x="7936992" y="3584448"/>
            <a:ext cx="1719072" cy="310896"/>
          </a:xfrm>
          <a:prstGeom prst="rect">
            <a:avLst/>
          </a:prstGeom>
          <a:noFill/>
        </p:spPr>
        <p:txBody>
          <a:bodyPr wrap="square">
            <a:spAutoFit/>
          </a:bodyPr>
          <a:lstStyle/>
          <a:p>
            <a:pPr algn="l"/>
            <a:r>
              <a:rPr sz="1600" b="0" i="0">
                <a:solidFill>
                  <a:srgbClr val="595959"/>
                </a:solidFill>
              </a:rPr>
              <a:t>134 days</a:t>
            </a:r>
          </a:p>
        </p:txBody>
      </p:sp>
      <p:sp>
        <p:nvSpPr>
          <p:cNvPr id="42" name="TextBox 41"/>
          <p:cNvSpPr txBox="1"/>
          <p:nvPr/>
        </p:nvSpPr>
        <p:spPr>
          <a:xfrm>
            <a:off x="9811512" y="3584448"/>
            <a:ext cx="1947672" cy="310896"/>
          </a:xfrm>
          <a:prstGeom prst="rect">
            <a:avLst/>
          </a:prstGeom>
          <a:noFill/>
        </p:spPr>
        <p:txBody>
          <a:bodyPr wrap="square">
            <a:spAutoFit/>
          </a:bodyPr>
          <a:lstStyle/>
          <a:p>
            <a:pPr algn="l"/>
            <a:r>
              <a:rPr sz="1600" b="1" i="0">
                <a:solidFill>
                  <a:srgbClr val="8A6800"/>
                </a:solidFill>
              </a:rPr>
              <a:t>Review</a:t>
            </a:r>
          </a:p>
        </p:txBody>
      </p:sp>
      <p:sp>
        <p:nvSpPr>
          <p:cNvPr id="43" name="Rectangle 42"/>
          <p:cNvSpPr/>
          <p:nvPr/>
        </p:nvSpPr>
        <p:spPr>
          <a:xfrm>
            <a:off x="320040" y="4023360"/>
            <a:ext cx="11521440" cy="5486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93192" y="4151376"/>
            <a:ext cx="2679191" cy="310896"/>
          </a:xfrm>
          <a:prstGeom prst="rect">
            <a:avLst/>
          </a:prstGeom>
          <a:noFill/>
        </p:spPr>
        <p:txBody>
          <a:bodyPr wrap="square">
            <a:spAutoFit/>
          </a:bodyPr>
          <a:lstStyle/>
          <a:p>
            <a:pPr algn="l"/>
            <a:r>
              <a:rPr sz="1600" b="1" i="0">
                <a:solidFill>
                  <a:srgbClr val="1A1A1A"/>
                </a:solidFill>
              </a:rPr>
              <a:t>New Customer</a:t>
            </a:r>
          </a:p>
        </p:txBody>
      </p:sp>
      <p:sp>
        <p:nvSpPr>
          <p:cNvPr id="45" name="TextBox 44"/>
          <p:cNvSpPr txBox="1"/>
          <p:nvPr/>
        </p:nvSpPr>
        <p:spPr>
          <a:xfrm>
            <a:off x="3227832" y="4151376"/>
            <a:ext cx="1261872" cy="310896"/>
          </a:xfrm>
          <a:prstGeom prst="rect">
            <a:avLst/>
          </a:prstGeom>
          <a:noFill/>
        </p:spPr>
        <p:txBody>
          <a:bodyPr wrap="square">
            <a:spAutoFit/>
          </a:bodyPr>
          <a:lstStyle/>
          <a:p>
            <a:pPr algn="l"/>
            <a:r>
              <a:rPr sz="1600" b="0" i="0">
                <a:solidFill>
                  <a:srgbClr val="1A1A1A"/>
                </a:solidFill>
              </a:rPr>
              <a:t>10</a:t>
            </a:r>
          </a:p>
        </p:txBody>
      </p:sp>
      <p:sp>
        <p:nvSpPr>
          <p:cNvPr id="46" name="TextBox 45"/>
          <p:cNvSpPr txBox="1"/>
          <p:nvPr/>
        </p:nvSpPr>
        <p:spPr>
          <a:xfrm>
            <a:off x="4645152" y="4151376"/>
            <a:ext cx="1444752" cy="310896"/>
          </a:xfrm>
          <a:prstGeom prst="rect">
            <a:avLst/>
          </a:prstGeom>
          <a:noFill/>
        </p:spPr>
        <p:txBody>
          <a:bodyPr wrap="square">
            <a:spAutoFit/>
          </a:bodyPr>
          <a:lstStyle/>
          <a:p>
            <a:pPr algn="l"/>
            <a:r>
              <a:rPr sz="1600" b="1" i="0">
                <a:solidFill>
                  <a:srgbClr val="003366"/>
                </a:solidFill>
              </a:rPr>
              <a:t>$271</a:t>
            </a:r>
          </a:p>
        </p:txBody>
      </p:sp>
      <p:sp>
        <p:nvSpPr>
          <p:cNvPr id="47" name="TextBox 46"/>
          <p:cNvSpPr txBox="1"/>
          <p:nvPr/>
        </p:nvSpPr>
        <p:spPr>
          <a:xfrm>
            <a:off x="6245352" y="4151376"/>
            <a:ext cx="1536192" cy="310896"/>
          </a:xfrm>
          <a:prstGeom prst="rect">
            <a:avLst/>
          </a:prstGeom>
          <a:noFill/>
        </p:spPr>
        <p:txBody>
          <a:bodyPr wrap="square">
            <a:spAutoFit/>
          </a:bodyPr>
          <a:lstStyle/>
          <a:p>
            <a:pPr algn="l"/>
            <a:r>
              <a:rPr sz="1600" b="0" i="0">
                <a:solidFill>
                  <a:srgbClr val="003366"/>
                </a:solidFill>
              </a:rPr>
              <a:t>$2,706</a:t>
            </a:r>
          </a:p>
        </p:txBody>
      </p:sp>
      <p:sp>
        <p:nvSpPr>
          <p:cNvPr id="48" name="TextBox 47"/>
          <p:cNvSpPr txBox="1"/>
          <p:nvPr/>
        </p:nvSpPr>
        <p:spPr>
          <a:xfrm>
            <a:off x="7936992" y="4151376"/>
            <a:ext cx="1719072" cy="310896"/>
          </a:xfrm>
          <a:prstGeom prst="rect">
            <a:avLst/>
          </a:prstGeom>
          <a:noFill/>
        </p:spPr>
        <p:txBody>
          <a:bodyPr wrap="square">
            <a:spAutoFit/>
          </a:bodyPr>
          <a:lstStyle/>
          <a:p>
            <a:pPr algn="l"/>
            <a:r>
              <a:rPr sz="1600" b="0" i="0">
                <a:solidFill>
                  <a:srgbClr val="595959"/>
                </a:solidFill>
              </a:rPr>
              <a:t>88 days</a:t>
            </a:r>
          </a:p>
        </p:txBody>
      </p:sp>
      <p:sp>
        <p:nvSpPr>
          <p:cNvPr id="49" name="TextBox 48"/>
          <p:cNvSpPr txBox="1"/>
          <p:nvPr/>
        </p:nvSpPr>
        <p:spPr>
          <a:xfrm>
            <a:off x="9811512" y="4151376"/>
            <a:ext cx="1947672" cy="310896"/>
          </a:xfrm>
          <a:prstGeom prst="rect">
            <a:avLst/>
          </a:prstGeom>
          <a:noFill/>
        </p:spPr>
        <p:txBody>
          <a:bodyPr wrap="square">
            <a:spAutoFit/>
          </a:bodyPr>
          <a:lstStyle/>
          <a:p>
            <a:pPr algn="l"/>
            <a:r>
              <a:rPr sz="1600" b="1" i="0">
                <a:solidFill>
                  <a:srgbClr val="0070C0"/>
                </a:solidFill>
              </a:rPr>
              <a:t>Welcome</a:t>
            </a:r>
          </a:p>
        </p:txBody>
      </p:sp>
      <p:sp>
        <p:nvSpPr>
          <p:cNvPr id="50" name="Rectangle 49"/>
          <p:cNvSpPr/>
          <p:nvPr/>
        </p:nvSpPr>
        <p:spPr>
          <a:xfrm>
            <a:off x="320040" y="4590288"/>
            <a:ext cx="11521440" cy="548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93192" y="4718303"/>
            <a:ext cx="2679191" cy="310896"/>
          </a:xfrm>
          <a:prstGeom prst="rect">
            <a:avLst/>
          </a:prstGeom>
          <a:noFill/>
        </p:spPr>
        <p:txBody>
          <a:bodyPr wrap="square">
            <a:spAutoFit/>
          </a:bodyPr>
          <a:lstStyle/>
          <a:p>
            <a:pPr algn="l"/>
            <a:r>
              <a:rPr sz="1600" b="1" i="0">
                <a:solidFill>
                  <a:srgbClr val="1A1A1A"/>
                </a:solidFill>
              </a:rPr>
              <a:t>Promising</a:t>
            </a:r>
          </a:p>
        </p:txBody>
      </p:sp>
      <p:sp>
        <p:nvSpPr>
          <p:cNvPr id="52" name="TextBox 51"/>
          <p:cNvSpPr txBox="1"/>
          <p:nvPr/>
        </p:nvSpPr>
        <p:spPr>
          <a:xfrm>
            <a:off x="3227832" y="4718303"/>
            <a:ext cx="1261872" cy="310896"/>
          </a:xfrm>
          <a:prstGeom prst="rect">
            <a:avLst/>
          </a:prstGeom>
          <a:noFill/>
        </p:spPr>
        <p:txBody>
          <a:bodyPr wrap="square">
            <a:spAutoFit/>
          </a:bodyPr>
          <a:lstStyle/>
          <a:p>
            <a:pPr algn="l"/>
            <a:r>
              <a:rPr sz="1600" b="0" i="0">
                <a:solidFill>
                  <a:srgbClr val="1A1A1A"/>
                </a:solidFill>
              </a:rPr>
              <a:t>15</a:t>
            </a:r>
          </a:p>
        </p:txBody>
      </p:sp>
      <p:sp>
        <p:nvSpPr>
          <p:cNvPr id="53" name="TextBox 52"/>
          <p:cNvSpPr txBox="1"/>
          <p:nvPr/>
        </p:nvSpPr>
        <p:spPr>
          <a:xfrm>
            <a:off x="4645152" y="4718303"/>
            <a:ext cx="1444752" cy="310896"/>
          </a:xfrm>
          <a:prstGeom prst="rect">
            <a:avLst/>
          </a:prstGeom>
          <a:noFill/>
        </p:spPr>
        <p:txBody>
          <a:bodyPr wrap="square">
            <a:spAutoFit/>
          </a:bodyPr>
          <a:lstStyle/>
          <a:p>
            <a:pPr algn="l"/>
            <a:r>
              <a:rPr sz="1600" b="1" i="0">
                <a:solidFill>
                  <a:srgbClr val="003366"/>
                </a:solidFill>
              </a:rPr>
              <a:t>$244</a:t>
            </a:r>
          </a:p>
        </p:txBody>
      </p:sp>
      <p:sp>
        <p:nvSpPr>
          <p:cNvPr id="54" name="TextBox 53"/>
          <p:cNvSpPr txBox="1"/>
          <p:nvPr/>
        </p:nvSpPr>
        <p:spPr>
          <a:xfrm>
            <a:off x="6245352" y="4718303"/>
            <a:ext cx="1536192" cy="310896"/>
          </a:xfrm>
          <a:prstGeom prst="rect">
            <a:avLst/>
          </a:prstGeom>
          <a:noFill/>
        </p:spPr>
        <p:txBody>
          <a:bodyPr wrap="square">
            <a:spAutoFit/>
          </a:bodyPr>
          <a:lstStyle/>
          <a:p>
            <a:pPr algn="l"/>
            <a:r>
              <a:rPr sz="1600" b="0" i="0">
                <a:solidFill>
                  <a:srgbClr val="003366"/>
                </a:solidFill>
              </a:rPr>
              <a:t>$3,654</a:t>
            </a:r>
          </a:p>
        </p:txBody>
      </p:sp>
      <p:sp>
        <p:nvSpPr>
          <p:cNvPr id="55" name="TextBox 54"/>
          <p:cNvSpPr txBox="1"/>
          <p:nvPr/>
        </p:nvSpPr>
        <p:spPr>
          <a:xfrm>
            <a:off x="7936992" y="4718303"/>
            <a:ext cx="1719072" cy="310896"/>
          </a:xfrm>
          <a:prstGeom prst="rect">
            <a:avLst/>
          </a:prstGeom>
          <a:noFill/>
        </p:spPr>
        <p:txBody>
          <a:bodyPr wrap="square">
            <a:spAutoFit/>
          </a:bodyPr>
          <a:lstStyle/>
          <a:p>
            <a:pPr algn="l"/>
            <a:r>
              <a:rPr sz="1600" b="0" i="0">
                <a:solidFill>
                  <a:srgbClr val="595959"/>
                </a:solidFill>
              </a:rPr>
              <a:t>147 days</a:t>
            </a:r>
          </a:p>
        </p:txBody>
      </p:sp>
      <p:sp>
        <p:nvSpPr>
          <p:cNvPr id="56" name="TextBox 55"/>
          <p:cNvSpPr txBox="1"/>
          <p:nvPr/>
        </p:nvSpPr>
        <p:spPr>
          <a:xfrm>
            <a:off x="9811512" y="4718303"/>
            <a:ext cx="1947672" cy="310896"/>
          </a:xfrm>
          <a:prstGeom prst="rect">
            <a:avLst/>
          </a:prstGeom>
          <a:noFill/>
        </p:spPr>
        <p:txBody>
          <a:bodyPr wrap="square">
            <a:spAutoFit/>
          </a:bodyPr>
          <a:lstStyle/>
          <a:p>
            <a:pPr algn="l"/>
            <a:r>
              <a:rPr sz="1600" b="1" i="0">
                <a:solidFill>
                  <a:srgbClr val="0070C0"/>
                </a:solidFill>
              </a:rPr>
              <a:t>Onboard</a:t>
            </a:r>
          </a:p>
        </p:txBody>
      </p:sp>
      <p:sp>
        <p:nvSpPr>
          <p:cNvPr id="57" name="Rectangle 56"/>
          <p:cNvSpPr/>
          <p:nvPr/>
        </p:nvSpPr>
        <p:spPr>
          <a:xfrm>
            <a:off x="320040" y="5157216"/>
            <a:ext cx="11521440" cy="54864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393192" y="5285231"/>
            <a:ext cx="2679191" cy="310896"/>
          </a:xfrm>
          <a:prstGeom prst="rect">
            <a:avLst/>
          </a:prstGeom>
          <a:noFill/>
        </p:spPr>
        <p:txBody>
          <a:bodyPr wrap="square">
            <a:spAutoFit/>
          </a:bodyPr>
          <a:lstStyle/>
          <a:p>
            <a:pPr algn="l"/>
            <a:r>
              <a:rPr sz="1600" b="1" i="0">
                <a:solidFill>
                  <a:srgbClr val="1A1A1A"/>
                </a:solidFill>
              </a:rPr>
              <a:t>Hibernating</a:t>
            </a:r>
          </a:p>
        </p:txBody>
      </p:sp>
      <p:sp>
        <p:nvSpPr>
          <p:cNvPr id="59" name="TextBox 58"/>
          <p:cNvSpPr txBox="1"/>
          <p:nvPr/>
        </p:nvSpPr>
        <p:spPr>
          <a:xfrm>
            <a:off x="3227832" y="5285231"/>
            <a:ext cx="1261872" cy="310896"/>
          </a:xfrm>
          <a:prstGeom prst="rect">
            <a:avLst/>
          </a:prstGeom>
          <a:noFill/>
        </p:spPr>
        <p:txBody>
          <a:bodyPr wrap="square">
            <a:spAutoFit/>
          </a:bodyPr>
          <a:lstStyle/>
          <a:p>
            <a:pPr algn="l"/>
            <a:r>
              <a:rPr sz="1600" b="0" i="0">
                <a:solidFill>
                  <a:srgbClr val="1A1A1A"/>
                </a:solidFill>
              </a:rPr>
              <a:t>20</a:t>
            </a:r>
          </a:p>
        </p:txBody>
      </p:sp>
      <p:sp>
        <p:nvSpPr>
          <p:cNvPr id="60" name="TextBox 59"/>
          <p:cNvSpPr txBox="1"/>
          <p:nvPr/>
        </p:nvSpPr>
        <p:spPr>
          <a:xfrm>
            <a:off x="4645152" y="5285231"/>
            <a:ext cx="1444752" cy="310896"/>
          </a:xfrm>
          <a:prstGeom prst="rect">
            <a:avLst/>
          </a:prstGeom>
          <a:noFill/>
        </p:spPr>
        <p:txBody>
          <a:bodyPr wrap="square">
            <a:spAutoFit/>
          </a:bodyPr>
          <a:lstStyle/>
          <a:p>
            <a:pPr algn="l"/>
            <a:r>
              <a:rPr sz="1600" b="1" i="0">
                <a:solidFill>
                  <a:srgbClr val="003366"/>
                </a:solidFill>
              </a:rPr>
              <a:t>$192</a:t>
            </a:r>
          </a:p>
        </p:txBody>
      </p:sp>
      <p:sp>
        <p:nvSpPr>
          <p:cNvPr id="61" name="TextBox 60"/>
          <p:cNvSpPr txBox="1"/>
          <p:nvPr/>
        </p:nvSpPr>
        <p:spPr>
          <a:xfrm>
            <a:off x="6245352" y="5285231"/>
            <a:ext cx="1536192" cy="310896"/>
          </a:xfrm>
          <a:prstGeom prst="rect">
            <a:avLst/>
          </a:prstGeom>
          <a:noFill/>
        </p:spPr>
        <p:txBody>
          <a:bodyPr wrap="square">
            <a:spAutoFit/>
          </a:bodyPr>
          <a:lstStyle/>
          <a:p>
            <a:pPr algn="l"/>
            <a:r>
              <a:rPr sz="1600" b="0" i="0">
                <a:solidFill>
                  <a:srgbClr val="003366"/>
                </a:solidFill>
              </a:rPr>
              <a:t>$3,842</a:t>
            </a:r>
          </a:p>
        </p:txBody>
      </p:sp>
      <p:sp>
        <p:nvSpPr>
          <p:cNvPr id="62" name="TextBox 61"/>
          <p:cNvSpPr txBox="1"/>
          <p:nvPr/>
        </p:nvSpPr>
        <p:spPr>
          <a:xfrm>
            <a:off x="7936992" y="5285231"/>
            <a:ext cx="1719072" cy="310896"/>
          </a:xfrm>
          <a:prstGeom prst="rect">
            <a:avLst/>
          </a:prstGeom>
          <a:noFill/>
        </p:spPr>
        <p:txBody>
          <a:bodyPr wrap="square">
            <a:spAutoFit/>
          </a:bodyPr>
          <a:lstStyle/>
          <a:p>
            <a:pPr algn="l"/>
            <a:r>
              <a:rPr sz="1600" b="0" i="0">
                <a:solidFill>
                  <a:srgbClr val="595959"/>
                </a:solidFill>
              </a:rPr>
              <a:t>230 days</a:t>
            </a:r>
          </a:p>
        </p:txBody>
      </p:sp>
      <p:sp>
        <p:nvSpPr>
          <p:cNvPr id="63" name="TextBox 62"/>
          <p:cNvSpPr txBox="1"/>
          <p:nvPr/>
        </p:nvSpPr>
        <p:spPr>
          <a:xfrm>
            <a:off x="9811512" y="5285231"/>
            <a:ext cx="1947672" cy="310896"/>
          </a:xfrm>
          <a:prstGeom prst="rect">
            <a:avLst/>
          </a:prstGeom>
          <a:noFill/>
        </p:spPr>
        <p:txBody>
          <a:bodyPr wrap="square">
            <a:spAutoFit/>
          </a:bodyPr>
          <a:lstStyle/>
          <a:p>
            <a:pPr algn="l"/>
            <a:r>
              <a:rPr sz="1600" b="1" i="0">
                <a:solidFill>
                  <a:srgbClr val="C00000"/>
                </a:solidFill>
              </a:rPr>
              <a:t>Re-engage</a:t>
            </a:r>
          </a:p>
        </p:txBody>
      </p:sp>
      <p:sp>
        <p:nvSpPr>
          <p:cNvPr id="64" name="Rectangle 63"/>
          <p:cNvSpPr/>
          <p:nvPr/>
        </p:nvSpPr>
        <p:spPr>
          <a:xfrm>
            <a:off x="320040" y="5724144"/>
            <a:ext cx="11521440" cy="548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93192" y="5852159"/>
            <a:ext cx="2679191" cy="310896"/>
          </a:xfrm>
          <a:prstGeom prst="rect">
            <a:avLst/>
          </a:prstGeom>
          <a:noFill/>
        </p:spPr>
        <p:txBody>
          <a:bodyPr wrap="square">
            <a:spAutoFit/>
          </a:bodyPr>
          <a:lstStyle/>
          <a:p>
            <a:pPr algn="l"/>
            <a:r>
              <a:rPr sz="1600" b="1" i="0">
                <a:solidFill>
                  <a:srgbClr val="1A1A1A"/>
                </a:solidFill>
              </a:rPr>
              <a:t>Lost</a:t>
            </a:r>
          </a:p>
        </p:txBody>
      </p:sp>
      <p:sp>
        <p:nvSpPr>
          <p:cNvPr id="66" name="TextBox 65"/>
          <p:cNvSpPr txBox="1"/>
          <p:nvPr/>
        </p:nvSpPr>
        <p:spPr>
          <a:xfrm>
            <a:off x="3227832" y="5852159"/>
            <a:ext cx="1261872" cy="310896"/>
          </a:xfrm>
          <a:prstGeom prst="rect">
            <a:avLst/>
          </a:prstGeom>
          <a:noFill/>
        </p:spPr>
        <p:txBody>
          <a:bodyPr wrap="square">
            <a:spAutoFit/>
          </a:bodyPr>
          <a:lstStyle/>
          <a:p>
            <a:pPr algn="l"/>
            <a:r>
              <a:rPr sz="1600" b="0" i="0">
                <a:solidFill>
                  <a:srgbClr val="1A1A1A"/>
                </a:solidFill>
              </a:rPr>
              <a:t>20</a:t>
            </a:r>
          </a:p>
        </p:txBody>
      </p:sp>
      <p:sp>
        <p:nvSpPr>
          <p:cNvPr id="67" name="TextBox 66"/>
          <p:cNvSpPr txBox="1"/>
          <p:nvPr/>
        </p:nvSpPr>
        <p:spPr>
          <a:xfrm>
            <a:off x="4645152" y="5852159"/>
            <a:ext cx="1444752" cy="310896"/>
          </a:xfrm>
          <a:prstGeom prst="rect">
            <a:avLst/>
          </a:prstGeom>
          <a:noFill/>
        </p:spPr>
        <p:txBody>
          <a:bodyPr wrap="square">
            <a:spAutoFit/>
          </a:bodyPr>
          <a:lstStyle/>
          <a:p>
            <a:pPr algn="l"/>
            <a:r>
              <a:rPr sz="1600" b="1" i="0">
                <a:solidFill>
                  <a:srgbClr val="003366"/>
                </a:solidFill>
              </a:rPr>
              <a:t>$142</a:t>
            </a:r>
          </a:p>
        </p:txBody>
      </p:sp>
      <p:sp>
        <p:nvSpPr>
          <p:cNvPr id="68" name="TextBox 67"/>
          <p:cNvSpPr txBox="1"/>
          <p:nvPr/>
        </p:nvSpPr>
        <p:spPr>
          <a:xfrm>
            <a:off x="6245352" y="5852159"/>
            <a:ext cx="1536192" cy="310896"/>
          </a:xfrm>
          <a:prstGeom prst="rect">
            <a:avLst/>
          </a:prstGeom>
          <a:noFill/>
        </p:spPr>
        <p:txBody>
          <a:bodyPr wrap="square">
            <a:spAutoFit/>
          </a:bodyPr>
          <a:lstStyle/>
          <a:p>
            <a:pPr algn="l"/>
            <a:r>
              <a:rPr sz="1600" b="0" i="0">
                <a:solidFill>
                  <a:srgbClr val="003366"/>
                </a:solidFill>
              </a:rPr>
              <a:t>$2,843</a:t>
            </a:r>
          </a:p>
        </p:txBody>
      </p:sp>
      <p:sp>
        <p:nvSpPr>
          <p:cNvPr id="69" name="TextBox 68"/>
          <p:cNvSpPr txBox="1"/>
          <p:nvPr/>
        </p:nvSpPr>
        <p:spPr>
          <a:xfrm>
            <a:off x="7936992" y="5852159"/>
            <a:ext cx="1719072" cy="310896"/>
          </a:xfrm>
          <a:prstGeom prst="rect">
            <a:avLst/>
          </a:prstGeom>
          <a:noFill/>
        </p:spPr>
        <p:txBody>
          <a:bodyPr wrap="square">
            <a:spAutoFit/>
          </a:bodyPr>
          <a:lstStyle/>
          <a:p>
            <a:pPr algn="l"/>
            <a:r>
              <a:rPr sz="1600" b="0" i="0">
                <a:solidFill>
                  <a:srgbClr val="595959"/>
                </a:solidFill>
              </a:rPr>
              <a:t>333 days</a:t>
            </a:r>
          </a:p>
        </p:txBody>
      </p:sp>
      <p:sp>
        <p:nvSpPr>
          <p:cNvPr id="70" name="TextBox 69"/>
          <p:cNvSpPr txBox="1"/>
          <p:nvPr/>
        </p:nvSpPr>
        <p:spPr>
          <a:xfrm>
            <a:off x="9811512" y="5852159"/>
            <a:ext cx="1947672" cy="310896"/>
          </a:xfrm>
          <a:prstGeom prst="rect">
            <a:avLst/>
          </a:prstGeom>
          <a:noFill/>
        </p:spPr>
        <p:txBody>
          <a:bodyPr wrap="square">
            <a:spAutoFit/>
          </a:bodyPr>
          <a:lstStyle/>
          <a:p>
            <a:pPr algn="l"/>
            <a:r>
              <a:rPr sz="1600" b="1" i="0">
                <a:solidFill>
                  <a:srgbClr val="C00000"/>
                </a:solidFill>
              </a:rPr>
              <a:t>Win back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515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82296"/>
            <a:ext cx="11430000" cy="475488"/>
          </a:xfrm>
          <a:prstGeom prst="rect">
            <a:avLst/>
          </a:prstGeom>
          <a:noFill/>
        </p:spPr>
        <p:txBody>
          <a:bodyPr wrap="square">
            <a:spAutoFit/>
          </a:bodyPr>
          <a:lstStyle/>
          <a:p>
            <a:pPr algn="l"/>
            <a:r>
              <a:rPr sz="2800" b="1" i="0">
                <a:solidFill>
                  <a:srgbClr val="FFFFFF"/>
                </a:solidFill>
              </a:rPr>
              <a:t>Where the Value Is Concentrated</a:t>
            </a:r>
          </a:p>
        </p:txBody>
      </p:sp>
      <p:sp>
        <p:nvSpPr>
          <p:cNvPr id="4" name="TextBox 3"/>
          <p:cNvSpPr txBox="1"/>
          <p:nvPr/>
        </p:nvSpPr>
        <p:spPr>
          <a:xfrm>
            <a:off x="365760" y="566928"/>
            <a:ext cx="11430000" cy="310896"/>
          </a:xfrm>
          <a:prstGeom prst="rect">
            <a:avLst/>
          </a:prstGeom>
          <a:noFill/>
        </p:spPr>
        <p:txBody>
          <a:bodyPr wrap="square">
            <a:spAutoFit/>
          </a:bodyPr>
          <a:lstStyle/>
          <a:p>
            <a:pPr algn="l"/>
            <a:r>
              <a:rPr sz="1500" b="0" i="0">
                <a:solidFill>
                  <a:srgbClr val="BDD7EE"/>
                </a:solidFill>
              </a:rPr>
              <a:t>Champions and Loyal are 15% of the base and 40% of portfolio CLV — an asset and a risk at once</a:t>
            </a:r>
          </a:p>
        </p:txBody>
      </p:sp>
      <p:cxnSp>
        <p:nvCxnSpPr>
          <p:cNvPr id="5" name="Connector 4"/>
          <p:cNvCxnSpPr/>
          <p:nvPr/>
        </p:nvCxnSpPr>
        <p:spPr>
          <a:xfrm>
            <a:off x="365760" y="6473952"/>
            <a:ext cx="11457432" cy="0"/>
          </a:xfrm>
          <a:prstGeom prst="line">
            <a:avLst/>
          </a:prstGeom>
          <a:ln w="6350">
            <a:solidFill>
              <a:srgbClr val="D6D6D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65760" y="6510528"/>
            <a:ext cx="5486400" cy="256032"/>
          </a:xfrm>
          <a:prstGeom prst="rect">
            <a:avLst/>
          </a:prstGeom>
          <a:noFill/>
        </p:spPr>
        <p:txBody>
          <a:bodyPr wrap="square">
            <a:spAutoFit/>
          </a:bodyPr>
          <a:lstStyle/>
          <a:p>
            <a:pPr algn="l"/>
            <a:r>
              <a:rPr sz="1200" b="0" i="0">
                <a:solidFill>
                  <a:srgbClr val="595959"/>
                </a:solidFill>
              </a:rPr>
              <a:t>CONFIDENTIAL — RFM Customer Analysis</a:t>
            </a:r>
          </a:p>
        </p:txBody>
      </p:sp>
      <p:sp>
        <p:nvSpPr>
          <p:cNvPr id="7" name="TextBox 6"/>
          <p:cNvSpPr txBox="1"/>
          <p:nvPr/>
        </p:nvSpPr>
        <p:spPr>
          <a:xfrm>
            <a:off x="11612880" y="6428232"/>
            <a:ext cx="457200" cy="274320"/>
          </a:xfrm>
          <a:prstGeom prst="rect">
            <a:avLst/>
          </a:prstGeom>
          <a:noFill/>
        </p:spPr>
        <p:txBody>
          <a:bodyPr wrap="square">
            <a:spAutoFit/>
          </a:bodyPr>
          <a:lstStyle/>
          <a:p>
            <a:pPr algn="r"/>
            <a:r>
              <a:rPr sz="1200" b="0" i="0">
                <a:solidFill>
                  <a:srgbClr val="595959"/>
                </a:solidFill>
              </a:rPr>
              <a:t>5</a:t>
            </a:r>
          </a:p>
        </p:txBody>
      </p:sp>
      <p:sp>
        <p:nvSpPr>
          <p:cNvPr id="8" name="Rectangle 7"/>
          <p:cNvSpPr/>
          <p:nvPr/>
        </p:nvSpPr>
        <p:spPr>
          <a:xfrm>
            <a:off x="365760" y="1143000"/>
            <a:ext cx="2743200" cy="17830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0352" y="1252728"/>
            <a:ext cx="2414016" cy="420624"/>
          </a:xfrm>
          <a:prstGeom prst="rect">
            <a:avLst/>
          </a:prstGeom>
          <a:noFill/>
        </p:spPr>
        <p:txBody>
          <a:bodyPr wrap="square">
            <a:spAutoFit/>
          </a:bodyPr>
          <a:lstStyle/>
          <a:p>
            <a:pPr algn="l"/>
            <a:r>
              <a:rPr sz="1500" b="0" i="0">
                <a:solidFill>
                  <a:srgbClr val="595959"/>
                </a:solidFill>
              </a:rPr>
              <a:t>Champions — Avg CLV</a:t>
            </a:r>
          </a:p>
        </p:txBody>
      </p:sp>
      <p:sp>
        <p:nvSpPr>
          <p:cNvPr id="10" name="TextBox 9"/>
          <p:cNvSpPr txBox="1"/>
          <p:nvPr/>
        </p:nvSpPr>
        <p:spPr>
          <a:xfrm>
            <a:off x="530352" y="1709928"/>
            <a:ext cx="2414016" cy="713232"/>
          </a:xfrm>
          <a:prstGeom prst="rect">
            <a:avLst/>
          </a:prstGeom>
          <a:noFill/>
        </p:spPr>
        <p:txBody>
          <a:bodyPr wrap="square">
            <a:spAutoFit/>
          </a:bodyPr>
          <a:lstStyle/>
          <a:p>
            <a:pPr algn="l"/>
            <a:r>
              <a:rPr sz="4000" b="1" i="0">
                <a:solidFill>
                  <a:srgbClr val="003366"/>
                </a:solidFill>
              </a:rPr>
              <a:t>$1,412</a:t>
            </a:r>
          </a:p>
        </p:txBody>
      </p:sp>
      <p:sp>
        <p:nvSpPr>
          <p:cNvPr id="11" name="TextBox 10"/>
          <p:cNvSpPr txBox="1"/>
          <p:nvPr/>
        </p:nvSpPr>
        <p:spPr>
          <a:xfrm>
            <a:off x="530352" y="2459736"/>
            <a:ext cx="2414016" cy="365760"/>
          </a:xfrm>
          <a:prstGeom prst="rect">
            <a:avLst/>
          </a:prstGeom>
          <a:noFill/>
        </p:spPr>
        <p:txBody>
          <a:bodyPr wrap="square">
            <a:spAutoFit/>
          </a:bodyPr>
          <a:lstStyle/>
          <a:p>
            <a:pPr algn="l"/>
            <a:r>
              <a:rPr sz="1300" b="0" i="0">
                <a:solidFill>
                  <a:srgbClr val="595959"/>
                </a:solidFill>
              </a:rPr>
              <a:t>7 customers  |  avg recency 30 days</a:t>
            </a:r>
          </a:p>
        </p:txBody>
      </p:sp>
      <p:sp>
        <p:nvSpPr>
          <p:cNvPr id="12" name="Rectangle 11"/>
          <p:cNvSpPr/>
          <p:nvPr/>
        </p:nvSpPr>
        <p:spPr>
          <a:xfrm>
            <a:off x="3246120" y="1143000"/>
            <a:ext cx="2743200" cy="17830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10712" y="1252728"/>
            <a:ext cx="2414016" cy="420624"/>
          </a:xfrm>
          <a:prstGeom prst="rect">
            <a:avLst/>
          </a:prstGeom>
          <a:noFill/>
        </p:spPr>
        <p:txBody>
          <a:bodyPr wrap="square">
            <a:spAutoFit/>
          </a:bodyPr>
          <a:lstStyle/>
          <a:p>
            <a:pPr algn="l"/>
            <a:r>
              <a:rPr sz="1500" b="0" i="0">
                <a:solidFill>
                  <a:srgbClr val="595959"/>
                </a:solidFill>
              </a:rPr>
              <a:t>Loyal — Avg CLV</a:t>
            </a:r>
          </a:p>
        </p:txBody>
      </p:sp>
      <p:sp>
        <p:nvSpPr>
          <p:cNvPr id="14" name="TextBox 13"/>
          <p:cNvSpPr txBox="1"/>
          <p:nvPr/>
        </p:nvSpPr>
        <p:spPr>
          <a:xfrm>
            <a:off x="3410712" y="1709928"/>
            <a:ext cx="2414016" cy="713232"/>
          </a:xfrm>
          <a:prstGeom prst="rect">
            <a:avLst/>
          </a:prstGeom>
          <a:noFill/>
        </p:spPr>
        <p:txBody>
          <a:bodyPr wrap="square">
            <a:spAutoFit/>
          </a:bodyPr>
          <a:lstStyle/>
          <a:p>
            <a:pPr algn="l"/>
            <a:r>
              <a:rPr sz="4000" b="1" i="0">
                <a:solidFill>
                  <a:srgbClr val="003366"/>
                </a:solidFill>
              </a:rPr>
              <a:t>$832</a:t>
            </a:r>
          </a:p>
        </p:txBody>
      </p:sp>
      <p:sp>
        <p:nvSpPr>
          <p:cNvPr id="15" name="TextBox 14"/>
          <p:cNvSpPr txBox="1"/>
          <p:nvPr/>
        </p:nvSpPr>
        <p:spPr>
          <a:xfrm>
            <a:off x="3410712" y="2459736"/>
            <a:ext cx="2414016" cy="365760"/>
          </a:xfrm>
          <a:prstGeom prst="rect">
            <a:avLst/>
          </a:prstGeom>
          <a:noFill/>
        </p:spPr>
        <p:txBody>
          <a:bodyPr wrap="square">
            <a:spAutoFit/>
          </a:bodyPr>
          <a:lstStyle/>
          <a:p>
            <a:pPr algn="l"/>
            <a:r>
              <a:rPr sz="1300" b="0" i="0">
                <a:solidFill>
                  <a:srgbClr val="595959"/>
                </a:solidFill>
              </a:rPr>
              <a:t>8 customers  |  avg recency 62 days</a:t>
            </a:r>
          </a:p>
        </p:txBody>
      </p:sp>
      <p:sp>
        <p:nvSpPr>
          <p:cNvPr id="16" name="Rectangle 15"/>
          <p:cNvSpPr/>
          <p:nvPr/>
        </p:nvSpPr>
        <p:spPr>
          <a:xfrm>
            <a:off x="6126480" y="1143000"/>
            <a:ext cx="2743200" cy="17830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1072" y="1252728"/>
            <a:ext cx="2414016" cy="420624"/>
          </a:xfrm>
          <a:prstGeom prst="rect">
            <a:avLst/>
          </a:prstGeom>
          <a:noFill/>
        </p:spPr>
        <p:txBody>
          <a:bodyPr wrap="square">
            <a:spAutoFit/>
          </a:bodyPr>
          <a:lstStyle/>
          <a:p>
            <a:pPr algn="l"/>
            <a:r>
              <a:rPr sz="1500" b="0" i="0">
                <a:solidFill>
                  <a:srgbClr val="595959"/>
                </a:solidFill>
              </a:rPr>
              <a:t>Portfolio Total CLV</a:t>
            </a:r>
          </a:p>
        </p:txBody>
      </p:sp>
      <p:sp>
        <p:nvSpPr>
          <p:cNvPr id="18" name="TextBox 17"/>
          <p:cNvSpPr txBox="1"/>
          <p:nvPr/>
        </p:nvSpPr>
        <p:spPr>
          <a:xfrm>
            <a:off x="6291072" y="1709928"/>
            <a:ext cx="2414016" cy="713232"/>
          </a:xfrm>
          <a:prstGeom prst="rect">
            <a:avLst/>
          </a:prstGeom>
          <a:noFill/>
        </p:spPr>
        <p:txBody>
          <a:bodyPr wrap="square">
            <a:spAutoFit/>
          </a:bodyPr>
          <a:lstStyle/>
          <a:p>
            <a:pPr algn="l"/>
            <a:r>
              <a:rPr sz="4000" b="1" i="0">
                <a:solidFill>
                  <a:srgbClr val="003366"/>
                </a:solidFill>
              </a:rPr>
              <a:t>$41,135</a:t>
            </a:r>
          </a:p>
        </p:txBody>
      </p:sp>
      <p:sp>
        <p:nvSpPr>
          <p:cNvPr id="19" name="TextBox 18"/>
          <p:cNvSpPr txBox="1"/>
          <p:nvPr/>
        </p:nvSpPr>
        <p:spPr>
          <a:xfrm>
            <a:off x="6291072" y="2459736"/>
            <a:ext cx="2414016" cy="365760"/>
          </a:xfrm>
          <a:prstGeom prst="rect">
            <a:avLst/>
          </a:prstGeom>
          <a:noFill/>
        </p:spPr>
        <p:txBody>
          <a:bodyPr wrap="square">
            <a:spAutoFit/>
          </a:bodyPr>
          <a:lstStyle/>
          <a:p>
            <a:pPr algn="l"/>
            <a:r>
              <a:rPr sz="1300" b="0" i="0">
                <a:solidFill>
                  <a:srgbClr val="595959"/>
                </a:solidFill>
              </a:rPr>
              <a:t>Across all 100 customers</a:t>
            </a:r>
          </a:p>
        </p:txBody>
      </p:sp>
      <p:sp>
        <p:nvSpPr>
          <p:cNvPr id="20" name="Rectangle 19"/>
          <p:cNvSpPr/>
          <p:nvPr/>
        </p:nvSpPr>
        <p:spPr>
          <a:xfrm>
            <a:off x="9006840" y="1143000"/>
            <a:ext cx="2743200" cy="17830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71432" y="1252728"/>
            <a:ext cx="2414016" cy="420624"/>
          </a:xfrm>
          <a:prstGeom prst="rect">
            <a:avLst/>
          </a:prstGeom>
          <a:noFill/>
        </p:spPr>
        <p:txBody>
          <a:bodyPr wrap="square">
            <a:spAutoFit/>
          </a:bodyPr>
          <a:lstStyle/>
          <a:p>
            <a:pPr algn="l"/>
            <a:r>
              <a:rPr sz="1500" b="0" i="0">
                <a:solidFill>
                  <a:srgbClr val="595959"/>
                </a:solidFill>
              </a:rPr>
              <a:t>Value Seg. CLV Share</a:t>
            </a:r>
          </a:p>
        </p:txBody>
      </p:sp>
      <p:sp>
        <p:nvSpPr>
          <p:cNvPr id="22" name="TextBox 21"/>
          <p:cNvSpPr txBox="1"/>
          <p:nvPr/>
        </p:nvSpPr>
        <p:spPr>
          <a:xfrm>
            <a:off x="9171432" y="1709928"/>
            <a:ext cx="2414016" cy="713232"/>
          </a:xfrm>
          <a:prstGeom prst="rect">
            <a:avLst/>
          </a:prstGeom>
          <a:noFill/>
        </p:spPr>
        <p:txBody>
          <a:bodyPr wrap="square">
            <a:spAutoFit/>
          </a:bodyPr>
          <a:lstStyle/>
          <a:p>
            <a:pPr algn="l"/>
            <a:r>
              <a:rPr sz="4000" b="1" i="0">
                <a:solidFill>
                  <a:srgbClr val="003366"/>
                </a:solidFill>
              </a:rPr>
              <a:t>40%</a:t>
            </a:r>
          </a:p>
        </p:txBody>
      </p:sp>
      <p:sp>
        <p:nvSpPr>
          <p:cNvPr id="23" name="TextBox 22"/>
          <p:cNvSpPr txBox="1"/>
          <p:nvPr/>
        </p:nvSpPr>
        <p:spPr>
          <a:xfrm>
            <a:off x="9171432" y="2459736"/>
            <a:ext cx="2414016" cy="365760"/>
          </a:xfrm>
          <a:prstGeom prst="rect">
            <a:avLst/>
          </a:prstGeom>
          <a:noFill/>
        </p:spPr>
        <p:txBody>
          <a:bodyPr wrap="square">
            <a:spAutoFit/>
          </a:bodyPr>
          <a:lstStyle/>
          <a:p>
            <a:pPr algn="l"/>
            <a:r>
              <a:rPr sz="1300" b="0" i="0">
                <a:solidFill>
                  <a:srgbClr val="595959"/>
                </a:solidFill>
              </a:rPr>
              <a:t>Delivered by 15% of customers</a:t>
            </a:r>
          </a:p>
        </p:txBody>
      </p:sp>
      <p:sp>
        <p:nvSpPr>
          <p:cNvPr id="24" name="Rectangle 23"/>
          <p:cNvSpPr/>
          <p:nvPr/>
        </p:nvSpPr>
        <p:spPr>
          <a:xfrm>
            <a:off x="365760" y="3017520"/>
            <a:ext cx="11430000" cy="36576"/>
          </a:xfrm>
          <a:prstGeom prst="rect">
            <a:avLst/>
          </a:prstGeom>
          <a:solidFill>
            <a:srgbClr val="D6D6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5760" y="3108960"/>
            <a:ext cx="5486400" cy="310896"/>
          </a:xfrm>
          <a:prstGeom prst="rect">
            <a:avLst/>
          </a:prstGeom>
          <a:noFill/>
        </p:spPr>
        <p:txBody>
          <a:bodyPr wrap="square">
            <a:spAutoFit/>
          </a:bodyPr>
          <a:lstStyle/>
          <a:p>
            <a:pPr algn="l"/>
            <a:r>
              <a:rPr sz="1800" b="1" i="0">
                <a:solidFill>
                  <a:srgbClr val="003366"/>
                </a:solidFill>
              </a:rPr>
              <a:t>Total CLV by Segment</a:t>
            </a:r>
          </a:p>
        </p:txBody>
      </p:sp>
      <p:sp>
        <p:nvSpPr>
          <p:cNvPr id="26" name="TextBox 25"/>
          <p:cNvSpPr txBox="1"/>
          <p:nvPr/>
        </p:nvSpPr>
        <p:spPr>
          <a:xfrm>
            <a:off x="365760" y="3511296"/>
            <a:ext cx="2194560" cy="310896"/>
          </a:xfrm>
          <a:prstGeom prst="rect">
            <a:avLst/>
          </a:prstGeom>
          <a:noFill/>
        </p:spPr>
        <p:txBody>
          <a:bodyPr wrap="square">
            <a:spAutoFit/>
          </a:bodyPr>
          <a:lstStyle/>
          <a:p>
            <a:pPr algn="l"/>
            <a:r>
              <a:rPr sz="1600" b="0" i="0">
                <a:solidFill>
                  <a:srgbClr val="1A1A1A"/>
                </a:solidFill>
              </a:rPr>
              <a:t>Champions</a:t>
            </a:r>
          </a:p>
        </p:txBody>
      </p:sp>
      <p:sp>
        <p:nvSpPr>
          <p:cNvPr id="27" name="Rectangle 26"/>
          <p:cNvSpPr/>
          <p:nvPr/>
        </p:nvSpPr>
        <p:spPr>
          <a:xfrm>
            <a:off x="2606040" y="3547872"/>
            <a:ext cx="6858000" cy="256032"/>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73767" y="3511296"/>
            <a:ext cx="1645920" cy="310896"/>
          </a:xfrm>
          <a:prstGeom prst="rect">
            <a:avLst/>
          </a:prstGeom>
          <a:noFill/>
        </p:spPr>
        <p:txBody>
          <a:bodyPr wrap="square">
            <a:spAutoFit/>
          </a:bodyPr>
          <a:lstStyle/>
          <a:p>
            <a:pPr algn="l"/>
            <a:r>
              <a:rPr sz="1600" b="0" i="0">
                <a:solidFill>
                  <a:srgbClr val="1A1A1A"/>
                </a:solidFill>
              </a:rPr>
              <a:t>$9,882</a:t>
            </a:r>
          </a:p>
        </p:txBody>
      </p:sp>
      <p:sp>
        <p:nvSpPr>
          <p:cNvPr id="29" name="TextBox 28"/>
          <p:cNvSpPr txBox="1"/>
          <p:nvPr/>
        </p:nvSpPr>
        <p:spPr>
          <a:xfrm>
            <a:off x="365760" y="3877056"/>
            <a:ext cx="2194560" cy="310896"/>
          </a:xfrm>
          <a:prstGeom prst="rect">
            <a:avLst/>
          </a:prstGeom>
          <a:noFill/>
        </p:spPr>
        <p:txBody>
          <a:bodyPr wrap="square">
            <a:spAutoFit/>
          </a:bodyPr>
          <a:lstStyle/>
          <a:p>
            <a:pPr algn="l"/>
            <a:r>
              <a:rPr sz="1600" b="0" i="0">
                <a:solidFill>
                  <a:srgbClr val="1A1A1A"/>
                </a:solidFill>
              </a:rPr>
              <a:t>Loyal</a:t>
            </a:r>
          </a:p>
        </p:txBody>
      </p:sp>
      <p:sp>
        <p:nvSpPr>
          <p:cNvPr id="30" name="Rectangle 29"/>
          <p:cNvSpPr/>
          <p:nvPr/>
        </p:nvSpPr>
        <p:spPr>
          <a:xfrm>
            <a:off x="2606040" y="3913632"/>
            <a:ext cx="4618497" cy="256032"/>
          </a:xfrm>
          <a:prstGeom prst="rect">
            <a:avLst/>
          </a:prstGeom>
          <a:solidFill>
            <a:srgbClr val="007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34265" y="3877056"/>
            <a:ext cx="1645920" cy="310896"/>
          </a:xfrm>
          <a:prstGeom prst="rect">
            <a:avLst/>
          </a:prstGeom>
          <a:noFill/>
        </p:spPr>
        <p:txBody>
          <a:bodyPr wrap="square">
            <a:spAutoFit/>
          </a:bodyPr>
          <a:lstStyle/>
          <a:p>
            <a:pPr algn="l"/>
            <a:r>
              <a:rPr sz="1600" b="0" i="0">
                <a:solidFill>
                  <a:srgbClr val="1A1A1A"/>
                </a:solidFill>
              </a:rPr>
              <a:t>$6,655</a:t>
            </a:r>
          </a:p>
        </p:txBody>
      </p:sp>
      <p:sp>
        <p:nvSpPr>
          <p:cNvPr id="32" name="TextBox 31"/>
          <p:cNvSpPr txBox="1"/>
          <p:nvPr/>
        </p:nvSpPr>
        <p:spPr>
          <a:xfrm>
            <a:off x="365760" y="4242816"/>
            <a:ext cx="2194560" cy="310896"/>
          </a:xfrm>
          <a:prstGeom prst="rect">
            <a:avLst/>
          </a:prstGeom>
          <a:noFill/>
        </p:spPr>
        <p:txBody>
          <a:bodyPr wrap="square">
            <a:spAutoFit/>
          </a:bodyPr>
          <a:lstStyle/>
          <a:p>
            <a:pPr algn="l"/>
            <a:r>
              <a:rPr sz="1600" b="0" i="0">
                <a:solidFill>
                  <a:srgbClr val="1A1A1A"/>
                </a:solidFill>
              </a:rPr>
              <a:t>Potential Loyalist</a:t>
            </a:r>
          </a:p>
        </p:txBody>
      </p:sp>
      <p:sp>
        <p:nvSpPr>
          <p:cNvPr id="33" name="Rectangle 32"/>
          <p:cNvSpPr/>
          <p:nvPr/>
        </p:nvSpPr>
        <p:spPr>
          <a:xfrm>
            <a:off x="2606040" y="4279392"/>
            <a:ext cx="6240349" cy="256032"/>
          </a:xfrm>
          <a:prstGeom prst="rect">
            <a:avLst/>
          </a:prstGeom>
          <a:solidFill>
            <a:srgbClr val="8A6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56117" y="4242816"/>
            <a:ext cx="1645920" cy="310896"/>
          </a:xfrm>
          <a:prstGeom prst="rect">
            <a:avLst/>
          </a:prstGeom>
          <a:noFill/>
        </p:spPr>
        <p:txBody>
          <a:bodyPr wrap="square">
            <a:spAutoFit/>
          </a:bodyPr>
          <a:lstStyle/>
          <a:p>
            <a:pPr algn="l"/>
            <a:r>
              <a:rPr sz="1600" b="0" i="0">
                <a:solidFill>
                  <a:srgbClr val="1A1A1A"/>
                </a:solidFill>
              </a:rPr>
              <a:t>$8,992</a:t>
            </a:r>
          </a:p>
        </p:txBody>
      </p:sp>
      <p:sp>
        <p:nvSpPr>
          <p:cNvPr id="35" name="TextBox 34"/>
          <p:cNvSpPr txBox="1"/>
          <p:nvPr/>
        </p:nvSpPr>
        <p:spPr>
          <a:xfrm>
            <a:off x="365760" y="4608576"/>
            <a:ext cx="2194560" cy="310896"/>
          </a:xfrm>
          <a:prstGeom prst="rect">
            <a:avLst/>
          </a:prstGeom>
          <a:noFill/>
        </p:spPr>
        <p:txBody>
          <a:bodyPr wrap="square">
            <a:spAutoFit/>
          </a:bodyPr>
          <a:lstStyle/>
          <a:p>
            <a:pPr algn="l"/>
            <a:r>
              <a:rPr sz="1600" b="0" i="0">
                <a:solidFill>
                  <a:srgbClr val="1A1A1A"/>
                </a:solidFill>
              </a:rPr>
              <a:t>Need Attention</a:t>
            </a:r>
          </a:p>
        </p:txBody>
      </p:sp>
      <p:sp>
        <p:nvSpPr>
          <p:cNvPr id="36" name="Rectangle 35"/>
          <p:cNvSpPr/>
          <p:nvPr/>
        </p:nvSpPr>
        <p:spPr>
          <a:xfrm>
            <a:off x="2606040" y="4645152"/>
            <a:ext cx="1778000" cy="256032"/>
          </a:xfrm>
          <a:prstGeom prst="rect">
            <a:avLst/>
          </a:prstGeom>
          <a:solidFill>
            <a:srgbClr val="7B6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493768" y="4608576"/>
            <a:ext cx="1645920" cy="310896"/>
          </a:xfrm>
          <a:prstGeom prst="rect">
            <a:avLst/>
          </a:prstGeom>
          <a:noFill/>
        </p:spPr>
        <p:txBody>
          <a:bodyPr wrap="square">
            <a:spAutoFit/>
          </a:bodyPr>
          <a:lstStyle/>
          <a:p>
            <a:pPr algn="l"/>
            <a:r>
              <a:rPr sz="1600" b="0" i="0">
                <a:solidFill>
                  <a:srgbClr val="1A1A1A"/>
                </a:solidFill>
              </a:rPr>
              <a:t>$2,562</a:t>
            </a:r>
          </a:p>
        </p:txBody>
      </p:sp>
      <p:sp>
        <p:nvSpPr>
          <p:cNvPr id="38" name="TextBox 37"/>
          <p:cNvSpPr txBox="1"/>
          <p:nvPr/>
        </p:nvSpPr>
        <p:spPr>
          <a:xfrm>
            <a:off x="365760" y="4974336"/>
            <a:ext cx="2194560" cy="310896"/>
          </a:xfrm>
          <a:prstGeom prst="rect">
            <a:avLst/>
          </a:prstGeom>
          <a:noFill/>
        </p:spPr>
        <p:txBody>
          <a:bodyPr wrap="square">
            <a:spAutoFit/>
          </a:bodyPr>
          <a:lstStyle/>
          <a:p>
            <a:pPr algn="l"/>
            <a:r>
              <a:rPr sz="1600" b="0" i="0">
                <a:solidFill>
                  <a:srgbClr val="1A1A1A"/>
                </a:solidFill>
              </a:rPr>
              <a:t>New Customer</a:t>
            </a:r>
          </a:p>
        </p:txBody>
      </p:sp>
      <p:sp>
        <p:nvSpPr>
          <p:cNvPr id="39" name="Rectangle 38"/>
          <p:cNvSpPr/>
          <p:nvPr/>
        </p:nvSpPr>
        <p:spPr>
          <a:xfrm>
            <a:off x="2606040" y="5010912"/>
            <a:ext cx="1877934" cy="256032"/>
          </a:xfrm>
          <a:prstGeom prst="rect">
            <a:avLst/>
          </a:prstGeom>
          <a:solidFill>
            <a:srgbClr val="005F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93702" y="4974336"/>
            <a:ext cx="1645920" cy="310896"/>
          </a:xfrm>
          <a:prstGeom prst="rect">
            <a:avLst/>
          </a:prstGeom>
          <a:noFill/>
        </p:spPr>
        <p:txBody>
          <a:bodyPr wrap="square">
            <a:spAutoFit/>
          </a:bodyPr>
          <a:lstStyle/>
          <a:p>
            <a:pPr algn="l"/>
            <a:r>
              <a:rPr sz="1600" b="0" i="0">
                <a:solidFill>
                  <a:srgbClr val="1A1A1A"/>
                </a:solidFill>
              </a:rPr>
              <a:t>$2,706</a:t>
            </a:r>
          </a:p>
        </p:txBody>
      </p:sp>
      <p:sp>
        <p:nvSpPr>
          <p:cNvPr id="41" name="TextBox 40"/>
          <p:cNvSpPr txBox="1"/>
          <p:nvPr/>
        </p:nvSpPr>
        <p:spPr>
          <a:xfrm>
            <a:off x="365760" y="5340096"/>
            <a:ext cx="2194560" cy="310896"/>
          </a:xfrm>
          <a:prstGeom prst="rect">
            <a:avLst/>
          </a:prstGeom>
          <a:noFill/>
        </p:spPr>
        <p:txBody>
          <a:bodyPr wrap="square">
            <a:spAutoFit/>
          </a:bodyPr>
          <a:lstStyle/>
          <a:p>
            <a:pPr algn="l"/>
            <a:r>
              <a:rPr sz="1600" b="0" i="0">
                <a:solidFill>
                  <a:srgbClr val="1A1A1A"/>
                </a:solidFill>
              </a:rPr>
              <a:t>Promising</a:t>
            </a:r>
          </a:p>
        </p:txBody>
      </p:sp>
      <p:sp>
        <p:nvSpPr>
          <p:cNvPr id="42" name="Rectangle 41"/>
          <p:cNvSpPr/>
          <p:nvPr/>
        </p:nvSpPr>
        <p:spPr>
          <a:xfrm>
            <a:off x="2606040" y="5376672"/>
            <a:ext cx="2535836" cy="256032"/>
          </a:xfrm>
          <a:prstGeom prst="rect">
            <a:avLst/>
          </a:prstGeom>
          <a:solidFill>
            <a:srgbClr val="007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251604" y="5340096"/>
            <a:ext cx="1645920" cy="310896"/>
          </a:xfrm>
          <a:prstGeom prst="rect">
            <a:avLst/>
          </a:prstGeom>
          <a:noFill/>
        </p:spPr>
        <p:txBody>
          <a:bodyPr wrap="square">
            <a:spAutoFit/>
          </a:bodyPr>
          <a:lstStyle/>
          <a:p>
            <a:pPr algn="l"/>
            <a:r>
              <a:rPr sz="1600" b="0" i="0">
                <a:solidFill>
                  <a:srgbClr val="1A1A1A"/>
                </a:solidFill>
              </a:rPr>
              <a:t>$3,654</a:t>
            </a:r>
          </a:p>
        </p:txBody>
      </p:sp>
      <p:sp>
        <p:nvSpPr>
          <p:cNvPr id="44" name="TextBox 43"/>
          <p:cNvSpPr txBox="1"/>
          <p:nvPr/>
        </p:nvSpPr>
        <p:spPr>
          <a:xfrm>
            <a:off x="365760" y="5705856"/>
            <a:ext cx="2194560" cy="310896"/>
          </a:xfrm>
          <a:prstGeom prst="rect">
            <a:avLst/>
          </a:prstGeom>
          <a:noFill/>
        </p:spPr>
        <p:txBody>
          <a:bodyPr wrap="square">
            <a:spAutoFit/>
          </a:bodyPr>
          <a:lstStyle/>
          <a:p>
            <a:pPr algn="l"/>
            <a:r>
              <a:rPr sz="1600" b="0" i="0">
                <a:solidFill>
                  <a:srgbClr val="1A1A1A"/>
                </a:solidFill>
              </a:rPr>
              <a:t>Hibernating</a:t>
            </a:r>
          </a:p>
        </p:txBody>
      </p:sp>
      <p:sp>
        <p:nvSpPr>
          <p:cNvPr id="45" name="Rectangle 44"/>
          <p:cNvSpPr/>
          <p:nvPr/>
        </p:nvSpPr>
        <p:spPr>
          <a:xfrm>
            <a:off x="2606040" y="5742432"/>
            <a:ext cx="2666306" cy="256032"/>
          </a:xfrm>
          <a:prstGeom prst="rect">
            <a:avLst/>
          </a:prstGeom>
          <a:solidFill>
            <a:srgbClr val="CC79A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382074" y="5705856"/>
            <a:ext cx="1645920" cy="310896"/>
          </a:xfrm>
          <a:prstGeom prst="rect">
            <a:avLst/>
          </a:prstGeom>
          <a:noFill/>
        </p:spPr>
        <p:txBody>
          <a:bodyPr wrap="square">
            <a:spAutoFit/>
          </a:bodyPr>
          <a:lstStyle/>
          <a:p>
            <a:pPr algn="l"/>
            <a:r>
              <a:rPr sz="1600" b="0" i="0">
                <a:solidFill>
                  <a:srgbClr val="1A1A1A"/>
                </a:solidFill>
              </a:rPr>
              <a:t>$3,842</a:t>
            </a:r>
          </a:p>
        </p:txBody>
      </p:sp>
      <p:sp>
        <p:nvSpPr>
          <p:cNvPr id="47" name="TextBox 46"/>
          <p:cNvSpPr txBox="1"/>
          <p:nvPr/>
        </p:nvSpPr>
        <p:spPr>
          <a:xfrm>
            <a:off x="365760" y="6071616"/>
            <a:ext cx="2194560" cy="310896"/>
          </a:xfrm>
          <a:prstGeom prst="rect">
            <a:avLst/>
          </a:prstGeom>
          <a:noFill/>
        </p:spPr>
        <p:txBody>
          <a:bodyPr wrap="square">
            <a:spAutoFit/>
          </a:bodyPr>
          <a:lstStyle/>
          <a:p>
            <a:pPr algn="l"/>
            <a:r>
              <a:rPr sz="1600" b="0" i="0">
                <a:solidFill>
                  <a:srgbClr val="1A1A1A"/>
                </a:solidFill>
              </a:rPr>
              <a:t>Lost</a:t>
            </a:r>
          </a:p>
        </p:txBody>
      </p:sp>
      <p:sp>
        <p:nvSpPr>
          <p:cNvPr id="48" name="Rectangle 47"/>
          <p:cNvSpPr/>
          <p:nvPr/>
        </p:nvSpPr>
        <p:spPr>
          <a:xfrm>
            <a:off x="2606040" y="6108192"/>
            <a:ext cx="1973010" cy="256032"/>
          </a:xfrm>
          <a:prstGeom prst="rect">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688778" y="6071616"/>
            <a:ext cx="1645920" cy="310896"/>
          </a:xfrm>
          <a:prstGeom prst="rect">
            <a:avLst/>
          </a:prstGeom>
          <a:noFill/>
        </p:spPr>
        <p:txBody>
          <a:bodyPr wrap="square">
            <a:spAutoFit/>
          </a:bodyPr>
          <a:lstStyle/>
          <a:p>
            <a:pPr algn="l"/>
            <a:r>
              <a:rPr sz="1600" b="0" i="0">
                <a:solidFill>
                  <a:srgbClr val="1A1A1A"/>
                </a:solidFill>
              </a:rPr>
              <a:t>$2,843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515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82296"/>
            <a:ext cx="11430000" cy="475488"/>
          </a:xfrm>
          <a:prstGeom prst="rect">
            <a:avLst/>
          </a:prstGeom>
          <a:noFill/>
        </p:spPr>
        <p:txBody>
          <a:bodyPr wrap="square">
            <a:spAutoFit/>
          </a:bodyPr>
          <a:lstStyle/>
          <a:p>
            <a:pPr algn="l"/>
            <a:r>
              <a:rPr sz="2800" b="1" i="0">
                <a:solidFill>
                  <a:srgbClr val="FFFFFF"/>
                </a:solidFill>
              </a:rPr>
              <a:t>The Lapsing Cohort</a:t>
            </a:r>
          </a:p>
        </p:txBody>
      </p:sp>
      <p:sp>
        <p:nvSpPr>
          <p:cNvPr id="4" name="TextBox 3"/>
          <p:cNvSpPr txBox="1"/>
          <p:nvPr/>
        </p:nvSpPr>
        <p:spPr>
          <a:xfrm>
            <a:off x="365760" y="566928"/>
            <a:ext cx="11430000" cy="310896"/>
          </a:xfrm>
          <a:prstGeom prst="rect">
            <a:avLst/>
          </a:prstGeom>
          <a:noFill/>
        </p:spPr>
        <p:txBody>
          <a:bodyPr wrap="square">
            <a:spAutoFit/>
          </a:bodyPr>
          <a:lstStyle/>
          <a:p>
            <a:pPr algn="l"/>
            <a:r>
              <a:rPr sz="1500" b="0" i="0">
                <a:solidFill>
                  <a:srgbClr val="BDD7EE"/>
                </a:solidFill>
              </a:rPr>
              <a:t>40% of customers are drifting and $6,685 of CLV is at risk — the window for intervention is closing</a:t>
            </a:r>
          </a:p>
        </p:txBody>
      </p:sp>
      <p:cxnSp>
        <p:nvCxnSpPr>
          <p:cNvPr id="5" name="Connector 4"/>
          <p:cNvCxnSpPr/>
          <p:nvPr/>
        </p:nvCxnSpPr>
        <p:spPr>
          <a:xfrm>
            <a:off x="365760" y="6473952"/>
            <a:ext cx="11457432" cy="0"/>
          </a:xfrm>
          <a:prstGeom prst="line">
            <a:avLst/>
          </a:prstGeom>
          <a:ln w="6350">
            <a:solidFill>
              <a:srgbClr val="D6D6D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65760" y="6510528"/>
            <a:ext cx="5486400" cy="256032"/>
          </a:xfrm>
          <a:prstGeom prst="rect">
            <a:avLst/>
          </a:prstGeom>
          <a:noFill/>
        </p:spPr>
        <p:txBody>
          <a:bodyPr wrap="square">
            <a:spAutoFit/>
          </a:bodyPr>
          <a:lstStyle/>
          <a:p>
            <a:pPr algn="l"/>
            <a:r>
              <a:rPr sz="1200" b="0" i="0">
                <a:solidFill>
                  <a:srgbClr val="595959"/>
                </a:solidFill>
              </a:rPr>
              <a:t>CONFIDENTIAL — RFM Customer Analysis</a:t>
            </a:r>
          </a:p>
        </p:txBody>
      </p:sp>
      <p:sp>
        <p:nvSpPr>
          <p:cNvPr id="7" name="TextBox 6"/>
          <p:cNvSpPr txBox="1"/>
          <p:nvPr/>
        </p:nvSpPr>
        <p:spPr>
          <a:xfrm>
            <a:off x="11612880" y="6428232"/>
            <a:ext cx="457200" cy="274320"/>
          </a:xfrm>
          <a:prstGeom prst="rect">
            <a:avLst/>
          </a:prstGeom>
          <a:noFill/>
        </p:spPr>
        <p:txBody>
          <a:bodyPr wrap="square">
            <a:spAutoFit/>
          </a:bodyPr>
          <a:lstStyle/>
          <a:p>
            <a:pPr algn="r"/>
            <a:r>
              <a:rPr sz="1200" b="0" i="0">
                <a:solidFill>
                  <a:srgbClr val="595959"/>
                </a:solidFill>
              </a:rPr>
              <a:t>6</a:t>
            </a:r>
          </a:p>
        </p:txBody>
      </p:sp>
      <p:sp>
        <p:nvSpPr>
          <p:cNvPr id="8" name="Rectangle 7"/>
          <p:cNvSpPr/>
          <p:nvPr/>
        </p:nvSpPr>
        <p:spPr>
          <a:xfrm>
            <a:off x="365760" y="1143000"/>
            <a:ext cx="548640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143000"/>
            <a:ext cx="73152" cy="411480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234440"/>
            <a:ext cx="5029200" cy="347472"/>
          </a:xfrm>
          <a:prstGeom prst="rect">
            <a:avLst/>
          </a:prstGeom>
          <a:noFill/>
        </p:spPr>
        <p:txBody>
          <a:bodyPr wrap="square">
            <a:spAutoFit/>
          </a:bodyPr>
          <a:lstStyle/>
          <a:p>
            <a:pPr algn="l"/>
            <a:r>
              <a:rPr sz="2200" b="1" i="0">
                <a:solidFill>
                  <a:srgbClr val="1A1A1A"/>
                </a:solidFill>
              </a:rPr>
              <a:t>Hibernating</a:t>
            </a:r>
          </a:p>
        </p:txBody>
      </p:sp>
      <p:sp>
        <p:nvSpPr>
          <p:cNvPr id="11" name="TextBox 10"/>
          <p:cNvSpPr txBox="1"/>
          <p:nvPr/>
        </p:nvSpPr>
        <p:spPr>
          <a:xfrm>
            <a:off x="594360" y="1627632"/>
            <a:ext cx="5029200" cy="274320"/>
          </a:xfrm>
          <a:prstGeom prst="rect">
            <a:avLst/>
          </a:prstGeom>
          <a:noFill/>
        </p:spPr>
        <p:txBody>
          <a:bodyPr wrap="square">
            <a:spAutoFit/>
          </a:bodyPr>
          <a:lstStyle/>
          <a:p>
            <a:pPr algn="l"/>
            <a:r>
              <a:rPr sz="1800" b="0" i="0">
                <a:solidFill>
                  <a:srgbClr val="595959"/>
                </a:solidFill>
              </a:rPr>
              <a:t>20 customers</a:t>
            </a:r>
          </a:p>
        </p:txBody>
      </p:sp>
      <p:sp>
        <p:nvSpPr>
          <p:cNvPr id="12" name="TextBox 11"/>
          <p:cNvSpPr txBox="1"/>
          <p:nvPr/>
        </p:nvSpPr>
        <p:spPr>
          <a:xfrm>
            <a:off x="594360" y="1901952"/>
            <a:ext cx="2286000" cy="320040"/>
          </a:xfrm>
          <a:prstGeom prst="rect">
            <a:avLst/>
          </a:prstGeom>
          <a:noFill/>
        </p:spPr>
        <p:txBody>
          <a:bodyPr wrap="square">
            <a:spAutoFit/>
          </a:bodyPr>
          <a:lstStyle/>
          <a:p>
            <a:pPr algn="l"/>
            <a:r>
              <a:rPr sz="2200" b="1" i="0">
                <a:solidFill>
                  <a:srgbClr val="C00000"/>
                </a:solidFill>
              </a:rPr>
              <a:t>Avg CLV: $192</a:t>
            </a:r>
          </a:p>
        </p:txBody>
      </p:sp>
      <p:sp>
        <p:nvSpPr>
          <p:cNvPr id="13" name="TextBox 12"/>
          <p:cNvSpPr txBox="1"/>
          <p:nvPr/>
        </p:nvSpPr>
        <p:spPr>
          <a:xfrm>
            <a:off x="594360" y="2267712"/>
            <a:ext cx="5029200" cy="274320"/>
          </a:xfrm>
          <a:prstGeom prst="rect">
            <a:avLst/>
          </a:prstGeom>
          <a:noFill/>
        </p:spPr>
        <p:txBody>
          <a:bodyPr wrap="square">
            <a:spAutoFit/>
          </a:bodyPr>
          <a:lstStyle/>
          <a:p>
            <a:pPr algn="l"/>
            <a:r>
              <a:rPr sz="1600" b="0" i="0">
                <a:solidFill>
                  <a:srgbClr val="1A1A1A"/>
                </a:solidFill>
              </a:rPr>
              <a:t>Total CLV at risk: $3,842</a:t>
            </a:r>
          </a:p>
        </p:txBody>
      </p:sp>
      <p:sp>
        <p:nvSpPr>
          <p:cNvPr id="14" name="TextBox 13"/>
          <p:cNvSpPr txBox="1"/>
          <p:nvPr/>
        </p:nvSpPr>
        <p:spPr>
          <a:xfrm>
            <a:off x="594360" y="2578608"/>
            <a:ext cx="5029200" cy="274320"/>
          </a:xfrm>
          <a:prstGeom prst="rect">
            <a:avLst/>
          </a:prstGeom>
          <a:noFill/>
        </p:spPr>
        <p:txBody>
          <a:bodyPr wrap="square">
            <a:spAutoFit/>
          </a:bodyPr>
          <a:lstStyle/>
          <a:p>
            <a:pPr algn="l"/>
            <a:r>
              <a:rPr sz="1600" b="0" i="0">
                <a:solidFill>
                  <a:srgbClr val="1A1A1A"/>
                </a:solidFill>
              </a:rPr>
              <a:t>Avg recency: 230.0 days</a:t>
            </a:r>
          </a:p>
        </p:txBody>
      </p:sp>
      <p:sp>
        <p:nvSpPr>
          <p:cNvPr id="15" name="TextBox 14"/>
          <p:cNvSpPr txBox="1"/>
          <p:nvPr/>
        </p:nvSpPr>
        <p:spPr>
          <a:xfrm>
            <a:off x="594360" y="2971800"/>
            <a:ext cx="5029200" cy="822960"/>
          </a:xfrm>
          <a:prstGeom prst="rect">
            <a:avLst/>
          </a:prstGeom>
          <a:noFill/>
        </p:spPr>
        <p:txBody>
          <a:bodyPr wrap="square">
            <a:spAutoFit/>
          </a:bodyPr>
          <a:lstStyle/>
          <a:p>
            <a:pPr algn="l"/>
            <a:r>
              <a:rPr sz="1600" b="0" i="0">
                <a:solidFill>
                  <a:srgbClr val="595959"/>
                </a:solidFill>
              </a:rPr>
              <a:t>Last purchase 193–280 days ago. Single-purchase customers.
High reactivation potential with targeted offer.</a:t>
            </a:r>
          </a:p>
        </p:txBody>
      </p:sp>
      <p:sp>
        <p:nvSpPr>
          <p:cNvPr id="16" name="Rectangle 15"/>
          <p:cNvSpPr/>
          <p:nvPr/>
        </p:nvSpPr>
        <p:spPr>
          <a:xfrm>
            <a:off x="6126480" y="1143000"/>
            <a:ext cx="5486400" cy="41148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1143000"/>
            <a:ext cx="73152" cy="4114800"/>
          </a:xfrm>
          <a:prstGeom prst="rect">
            <a:avLst/>
          </a:prstGeom>
          <a:solidFill>
            <a:srgbClr val="59595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080" y="1234440"/>
            <a:ext cx="5029200" cy="347472"/>
          </a:xfrm>
          <a:prstGeom prst="rect">
            <a:avLst/>
          </a:prstGeom>
          <a:noFill/>
        </p:spPr>
        <p:txBody>
          <a:bodyPr wrap="square">
            <a:spAutoFit/>
          </a:bodyPr>
          <a:lstStyle/>
          <a:p>
            <a:pPr algn="l"/>
            <a:r>
              <a:rPr sz="2200" b="1" i="0">
                <a:solidFill>
                  <a:srgbClr val="1A1A1A"/>
                </a:solidFill>
              </a:rPr>
              <a:t>Lost</a:t>
            </a:r>
          </a:p>
        </p:txBody>
      </p:sp>
      <p:sp>
        <p:nvSpPr>
          <p:cNvPr id="19" name="TextBox 18"/>
          <p:cNvSpPr txBox="1"/>
          <p:nvPr/>
        </p:nvSpPr>
        <p:spPr>
          <a:xfrm>
            <a:off x="6355080" y="1627632"/>
            <a:ext cx="5029200" cy="274320"/>
          </a:xfrm>
          <a:prstGeom prst="rect">
            <a:avLst/>
          </a:prstGeom>
          <a:noFill/>
        </p:spPr>
        <p:txBody>
          <a:bodyPr wrap="square">
            <a:spAutoFit/>
          </a:bodyPr>
          <a:lstStyle/>
          <a:p>
            <a:pPr algn="l"/>
            <a:r>
              <a:rPr sz="1800" b="0" i="0">
                <a:solidFill>
                  <a:srgbClr val="595959"/>
                </a:solidFill>
              </a:rPr>
              <a:t>20 customers</a:t>
            </a:r>
          </a:p>
        </p:txBody>
      </p:sp>
      <p:sp>
        <p:nvSpPr>
          <p:cNvPr id="20" name="TextBox 19"/>
          <p:cNvSpPr txBox="1"/>
          <p:nvPr/>
        </p:nvSpPr>
        <p:spPr>
          <a:xfrm>
            <a:off x="6355080" y="1901952"/>
            <a:ext cx="2286000" cy="320040"/>
          </a:xfrm>
          <a:prstGeom prst="rect">
            <a:avLst/>
          </a:prstGeom>
          <a:noFill/>
        </p:spPr>
        <p:txBody>
          <a:bodyPr wrap="square">
            <a:spAutoFit/>
          </a:bodyPr>
          <a:lstStyle/>
          <a:p>
            <a:pPr algn="l"/>
            <a:r>
              <a:rPr sz="2200" b="1" i="0">
                <a:solidFill>
                  <a:srgbClr val="595959"/>
                </a:solidFill>
              </a:rPr>
              <a:t>Avg CLV: $142</a:t>
            </a:r>
          </a:p>
        </p:txBody>
      </p:sp>
      <p:sp>
        <p:nvSpPr>
          <p:cNvPr id="21" name="TextBox 20"/>
          <p:cNvSpPr txBox="1"/>
          <p:nvPr/>
        </p:nvSpPr>
        <p:spPr>
          <a:xfrm>
            <a:off x="6355080" y="2267712"/>
            <a:ext cx="5029200" cy="274320"/>
          </a:xfrm>
          <a:prstGeom prst="rect">
            <a:avLst/>
          </a:prstGeom>
          <a:noFill/>
        </p:spPr>
        <p:txBody>
          <a:bodyPr wrap="square">
            <a:spAutoFit/>
          </a:bodyPr>
          <a:lstStyle/>
          <a:p>
            <a:pPr algn="l"/>
            <a:r>
              <a:rPr sz="1600" b="0" i="0">
                <a:solidFill>
                  <a:srgbClr val="1A1A1A"/>
                </a:solidFill>
              </a:rPr>
              <a:t>Total CLV at risk: $2,843</a:t>
            </a:r>
          </a:p>
        </p:txBody>
      </p:sp>
      <p:sp>
        <p:nvSpPr>
          <p:cNvPr id="22" name="TextBox 21"/>
          <p:cNvSpPr txBox="1"/>
          <p:nvPr/>
        </p:nvSpPr>
        <p:spPr>
          <a:xfrm>
            <a:off x="6355080" y="2578608"/>
            <a:ext cx="5029200" cy="274320"/>
          </a:xfrm>
          <a:prstGeom prst="rect">
            <a:avLst/>
          </a:prstGeom>
          <a:noFill/>
        </p:spPr>
        <p:txBody>
          <a:bodyPr wrap="square">
            <a:spAutoFit/>
          </a:bodyPr>
          <a:lstStyle/>
          <a:p>
            <a:pPr algn="l"/>
            <a:r>
              <a:rPr sz="1600" b="0" i="0">
                <a:solidFill>
                  <a:srgbClr val="1A1A1A"/>
                </a:solidFill>
              </a:rPr>
              <a:t>Avg recency: 333.0 days</a:t>
            </a:r>
          </a:p>
        </p:txBody>
      </p:sp>
      <p:sp>
        <p:nvSpPr>
          <p:cNvPr id="23" name="TextBox 22"/>
          <p:cNvSpPr txBox="1"/>
          <p:nvPr/>
        </p:nvSpPr>
        <p:spPr>
          <a:xfrm>
            <a:off x="6355080" y="2971800"/>
            <a:ext cx="5029200" cy="822960"/>
          </a:xfrm>
          <a:prstGeom prst="rect">
            <a:avLst/>
          </a:prstGeom>
          <a:noFill/>
        </p:spPr>
        <p:txBody>
          <a:bodyPr wrap="square">
            <a:spAutoFit/>
          </a:bodyPr>
          <a:lstStyle/>
          <a:p>
            <a:pPr algn="l"/>
            <a:r>
              <a:rPr sz="1600" b="0" i="0">
                <a:solidFill>
                  <a:srgbClr val="595959"/>
                </a:solidFill>
              </a:rPr>
              <a:t>Last purchase 280–365 days ago. Lowest recency scores.
Selective win-back only — focus on higher CLV profiles.</a:t>
            </a:r>
          </a:p>
        </p:txBody>
      </p:sp>
      <p:sp>
        <p:nvSpPr>
          <p:cNvPr id="24" name="Rectangle 23"/>
          <p:cNvSpPr/>
          <p:nvPr/>
        </p:nvSpPr>
        <p:spPr>
          <a:xfrm>
            <a:off x="365760" y="5394960"/>
            <a:ext cx="11430000" cy="502920"/>
          </a:xfrm>
          <a:prstGeom prst="rect">
            <a:avLst/>
          </a:prstGeom>
          <a:solidFill>
            <a:srgbClr val="FFF2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5458968"/>
            <a:ext cx="11064240" cy="365760"/>
          </a:xfrm>
          <a:prstGeom prst="rect">
            <a:avLst/>
          </a:prstGeom>
          <a:noFill/>
        </p:spPr>
        <p:txBody>
          <a:bodyPr wrap="square">
            <a:spAutoFit/>
          </a:bodyPr>
          <a:lstStyle/>
          <a:p>
            <a:pPr algn="l"/>
            <a:r>
              <a:rPr sz="1600" b="0" i="0">
                <a:solidFill>
                  <a:srgbClr val="7F6000"/>
                </a:solidFill>
              </a:rPr>
              <a:t>⚠  Recommended action: Launch a re-engagement sequence within 30 days for Hibernating customers. Prioritise the top quartile by CLV (above $204). A/B test discount vs. content-led reactivation.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515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82296"/>
            <a:ext cx="11430000" cy="475488"/>
          </a:xfrm>
          <a:prstGeom prst="rect">
            <a:avLst/>
          </a:prstGeom>
          <a:noFill/>
        </p:spPr>
        <p:txBody>
          <a:bodyPr wrap="square">
            <a:spAutoFit/>
          </a:bodyPr>
          <a:lstStyle/>
          <a:p>
            <a:pPr algn="l"/>
            <a:r>
              <a:rPr sz="2800" b="1" i="0">
                <a:solidFill>
                  <a:srgbClr val="FFFFFF"/>
                </a:solidFill>
              </a:rPr>
              <a:t>The Growth Pipeline</a:t>
            </a:r>
          </a:p>
        </p:txBody>
      </p:sp>
      <p:sp>
        <p:nvSpPr>
          <p:cNvPr id="4" name="TextBox 3"/>
          <p:cNvSpPr txBox="1"/>
          <p:nvPr/>
        </p:nvSpPr>
        <p:spPr>
          <a:xfrm>
            <a:off x="365760" y="566928"/>
            <a:ext cx="11430000" cy="310896"/>
          </a:xfrm>
          <a:prstGeom prst="rect">
            <a:avLst/>
          </a:prstGeom>
          <a:noFill/>
        </p:spPr>
        <p:txBody>
          <a:bodyPr wrap="square">
            <a:spAutoFit/>
          </a:bodyPr>
          <a:lstStyle/>
          <a:p>
            <a:pPr algn="l"/>
            <a:r>
              <a:rPr sz="1500" b="0" i="0">
                <a:solidFill>
                  <a:srgbClr val="BDD7EE"/>
                </a:solidFill>
              </a:rPr>
              <a:t>40% of the base is early-stage — New Customer, Promising and Potential Loyalist are where future CLV is made</a:t>
            </a:r>
          </a:p>
        </p:txBody>
      </p:sp>
      <p:cxnSp>
        <p:nvCxnSpPr>
          <p:cNvPr id="5" name="Connector 4"/>
          <p:cNvCxnSpPr/>
          <p:nvPr/>
        </p:nvCxnSpPr>
        <p:spPr>
          <a:xfrm>
            <a:off x="365760" y="6473952"/>
            <a:ext cx="11457432" cy="0"/>
          </a:xfrm>
          <a:prstGeom prst="line">
            <a:avLst/>
          </a:prstGeom>
          <a:ln w="6350">
            <a:solidFill>
              <a:srgbClr val="D6D6D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65760" y="6510528"/>
            <a:ext cx="5486400" cy="256032"/>
          </a:xfrm>
          <a:prstGeom prst="rect">
            <a:avLst/>
          </a:prstGeom>
          <a:noFill/>
        </p:spPr>
        <p:txBody>
          <a:bodyPr wrap="square">
            <a:spAutoFit/>
          </a:bodyPr>
          <a:lstStyle/>
          <a:p>
            <a:pPr algn="l"/>
            <a:r>
              <a:rPr sz="1200" b="0" i="0">
                <a:solidFill>
                  <a:srgbClr val="595959"/>
                </a:solidFill>
              </a:rPr>
              <a:t>CONFIDENTIAL — RFM Customer Analysis</a:t>
            </a:r>
          </a:p>
        </p:txBody>
      </p:sp>
      <p:sp>
        <p:nvSpPr>
          <p:cNvPr id="7" name="TextBox 6"/>
          <p:cNvSpPr txBox="1"/>
          <p:nvPr/>
        </p:nvSpPr>
        <p:spPr>
          <a:xfrm>
            <a:off x="11612880" y="6428232"/>
            <a:ext cx="457200" cy="274320"/>
          </a:xfrm>
          <a:prstGeom prst="rect">
            <a:avLst/>
          </a:prstGeom>
          <a:noFill/>
        </p:spPr>
        <p:txBody>
          <a:bodyPr wrap="square">
            <a:spAutoFit/>
          </a:bodyPr>
          <a:lstStyle/>
          <a:p>
            <a:pPr algn="r"/>
            <a:r>
              <a:rPr sz="1200" b="0" i="0">
                <a:solidFill>
                  <a:srgbClr val="595959"/>
                </a:solidFill>
              </a:rPr>
              <a:t>7</a:t>
            </a:r>
          </a:p>
        </p:txBody>
      </p:sp>
      <p:sp>
        <p:nvSpPr>
          <p:cNvPr id="8" name="Rectangle 7"/>
          <p:cNvSpPr/>
          <p:nvPr/>
        </p:nvSpPr>
        <p:spPr>
          <a:xfrm>
            <a:off x="365760" y="1143000"/>
            <a:ext cx="3611880" cy="438912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143000"/>
            <a:ext cx="3611880" cy="64008"/>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325880"/>
            <a:ext cx="3200400" cy="402336"/>
          </a:xfrm>
          <a:prstGeom prst="rect">
            <a:avLst/>
          </a:prstGeom>
          <a:noFill/>
        </p:spPr>
        <p:txBody>
          <a:bodyPr wrap="square">
            <a:spAutoFit/>
          </a:bodyPr>
          <a:lstStyle/>
          <a:p>
            <a:pPr algn="l"/>
            <a:r>
              <a:rPr sz="2200" b="1" i="0">
                <a:solidFill>
                  <a:srgbClr val="1A1A1A"/>
                </a:solidFill>
              </a:rPr>
              <a:t>New Customer</a:t>
            </a:r>
          </a:p>
        </p:txBody>
      </p:sp>
      <p:sp>
        <p:nvSpPr>
          <p:cNvPr id="11" name="TextBox 10"/>
          <p:cNvSpPr txBox="1"/>
          <p:nvPr/>
        </p:nvSpPr>
        <p:spPr>
          <a:xfrm>
            <a:off x="566928" y="1783080"/>
            <a:ext cx="3200400" cy="292608"/>
          </a:xfrm>
          <a:prstGeom prst="rect">
            <a:avLst/>
          </a:prstGeom>
          <a:noFill/>
        </p:spPr>
        <p:txBody>
          <a:bodyPr wrap="square">
            <a:spAutoFit/>
          </a:bodyPr>
          <a:lstStyle/>
          <a:p>
            <a:pPr algn="l"/>
            <a:r>
              <a:rPr sz="1600" b="0" i="0">
                <a:solidFill>
                  <a:srgbClr val="595959"/>
                </a:solidFill>
              </a:rPr>
              <a:t>10 customers</a:t>
            </a:r>
          </a:p>
        </p:txBody>
      </p:sp>
      <p:sp>
        <p:nvSpPr>
          <p:cNvPr id="12" name="TextBox 11"/>
          <p:cNvSpPr txBox="1"/>
          <p:nvPr/>
        </p:nvSpPr>
        <p:spPr>
          <a:xfrm>
            <a:off x="566928" y="2139696"/>
            <a:ext cx="3200400" cy="713232"/>
          </a:xfrm>
          <a:prstGeom prst="rect">
            <a:avLst/>
          </a:prstGeom>
          <a:noFill/>
        </p:spPr>
        <p:txBody>
          <a:bodyPr wrap="square">
            <a:spAutoFit/>
          </a:bodyPr>
          <a:lstStyle/>
          <a:p>
            <a:pPr algn="l"/>
            <a:r>
              <a:rPr sz="4000" b="1" i="0">
                <a:solidFill>
                  <a:srgbClr val="0070C0"/>
                </a:solidFill>
              </a:rPr>
              <a:t>$271</a:t>
            </a:r>
          </a:p>
        </p:txBody>
      </p:sp>
      <p:sp>
        <p:nvSpPr>
          <p:cNvPr id="13" name="TextBox 12"/>
          <p:cNvSpPr txBox="1"/>
          <p:nvPr/>
        </p:nvSpPr>
        <p:spPr>
          <a:xfrm>
            <a:off x="566928" y="2816352"/>
            <a:ext cx="3200400" cy="274320"/>
          </a:xfrm>
          <a:prstGeom prst="rect">
            <a:avLst/>
          </a:prstGeom>
          <a:noFill/>
        </p:spPr>
        <p:txBody>
          <a:bodyPr wrap="square">
            <a:spAutoFit/>
          </a:bodyPr>
          <a:lstStyle/>
          <a:p>
            <a:pPr algn="l"/>
            <a:r>
              <a:rPr sz="1400" b="0" i="0">
                <a:solidFill>
                  <a:srgbClr val="595959"/>
                </a:solidFill>
              </a:rPr>
              <a:t>avg CLV</a:t>
            </a:r>
          </a:p>
        </p:txBody>
      </p:sp>
      <p:sp>
        <p:nvSpPr>
          <p:cNvPr id="14" name="TextBox 13"/>
          <p:cNvSpPr txBox="1"/>
          <p:nvPr/>
        </p:nvSpPr>
        <p:spPr>
          <a:xfrm>
            <a:off x="566928" y="3163824"/>
            <a:ext cx="3200400" cy="566928"/>
          </a:xfrm>
          <a:prstGeom prst="rect">
            <a:avLst/>
          </a:prstGeom>
          <a:noFill/>
        </p:spPr>
        <p:txBody>
          <a:bodyPr wrap="square">
            <a:spAutoFit/>
          </a:bodyPr>
          <a:lstStyle/>
          <a:p>
            <a:pPr algn="l"/>
            <a:r>
              <a:rPr sz="1600" b="0" i="0">
                <a:solidFill>
                  <a:srgbClr val="1A1A1A"/>
                </a:solidFill>
              </a:rPr>
              <a:t>Avg recency: 88 days
Avg frequency: 1x</a:t>
            </a:r>
          </a:p>
        </p:txBody>
      </p:sp>
      <p:sp>
        <p:nvSpPr>
          <p:cNvPr id="15" name="TextBox 14"/>
          <p:cNvSpPr txBox="1"/>
          <p:nvPr/>
        </p:nvSpPr>
        <p:spPr>
          <a:xfrm>
            <a:off x="566928" y="3822191"/>
            <a:ext cx="3200400" cy="1417320"/>
          </a:xfrm>
          <a:prstGeom prst="rect">
            <a:avLst/>
          </a:prstGeom>
          <a:noFill/>
        </p:spPr>
        <p:txBody>
          <a:bodyPr wrap="square">
            <a:spAutoFit/>
          </a:bodyPr>
          <a:lstStyle/>
          <a:p>
            <a:pPr algn="l"/>
            <a:r>
              <a:rPr sz="1600" b="0" i="0">
                <a:solidFill>
                  <a:srgbClr val="595959"/>
                </a:solidFill>
              </a:rPr>
              <a:t>Very recent, first purchase only.
Priority: onboarding experience, second purchase incentive.</a:t>
            </a:r>
          </a:p>
        </p:txBody>
      </p:sp>
      <p:sp>
        <p:nvSpPr>
          <p:cNvPr id="16" name="Rectangle 15"/>
          <p:cNvSpPr/>
          <p:nvPr/>
        </p:nvSpPr>
        <p:spPr>
          <a:xfrm>
            <a:off x="4206240" y="1143000"/>
            <a:ext cx="3611880" cy="438912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06240" y="1143000"/>
            <a:ext cx="3611880" cy="64008"/>
          </a:xfrm>
          <a:prstGeom prst="rect">
            <a:avLst/>
          </a:prstGeom>
          <a:solidFill>
            <a:srgbClr val="0076A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07408" y="1325880"/>
            <a:ext cx="3200400" cy="402336"/>
          </a:xfrm>
          <a:prstGeom prst="rect">
            <a:avLst/>
          </a:prstGeom>
          <a:noFill/>
        </p:spPr>
        <p:txBody>
          <a:bodyPr wrap="square">
            <a:spAutoFit/>
          </a:bodyPr>
          <a:lstStyle/>
          <a:p>
            <a:pPr algn="l"/>
            <a:r>
              <a:rPr sz="2200" b="1" i="0">
                <a:solidFill>
                  <a:srgbClr val="1A1A1A"/>
                </a:solidFill>
              </a:rPr>
              <a:t>Promising</a:t>
            </a:r>
          </a:p>
        </p:txBody>
      </p:sp>
      <p:sp>
        <p:nvSpPr>
          <p:cNvPr id="19" name="TextBox 18"/>
          <p:cNvSpPr txBox="1"/>
          <p:nvPr/>
        </p:nvSpPr>
        <p:spPr>
          <a:xfrm>
            <a:off x="4407408" y="1783080"/>
            <a:ext cx="3200400" cy="292608"/>
          </a:xfrm>
          <a:prstGeom prst="rect">
            <a:avLst/>
          </a:prstGeom>
          <a:noFill/>
        </p:spPr>
        <p:txBody>
          <a:bodyPr wrap="square">
            <a:spAutoFit/>
          </a:bodyPr>
          <a:lstStyle/>
          <a:p>
            <a:pPr algn="l"/>
            <a:r>
              <a:rPr sz="1600" b="0" i="0">
                <a:solidFill>
                  <a:srgbClr val="595959"/>
                </a:solidFill>
              </a:rPr>
              <a:t>15 customers</a:t>
            </a:r>
          </a:p>
        </p:txBody>
      </p:sp>
      <p:sp>
        <p:nvSpPr>
          <p:cNvPr id="20" name="TextBox 19"/>
          <p:cNvSpPr txBox="1"/>
          <p:nvPr/>
        </p:nvSpPr>
        <p:spPr>
          <a:xfrm>
            <a:off x="4407408" y="2139696"/>
            <a:ext cx="3200400" cy="713232"/>
          </a:xfrm>
          <a:prstGeom prst="rect">
            <a:avLst/>
          </a:prstGeom>
          <a:noFill/>
        </p:spPr>
        <p:txBody>
          <a:bodyPr wrap="square">
            <a:spAutoFit/>
          </a:bodyPr>
          <a:lstStyle/>
          <a:p>
            <a:pPr algn="l"/>
            <a:r>
              <a:rPr sz="4000" b="1" i="0">
                <a:solidFill>
                  <a:srgbClr val="0076A1"/>
                </a:solidFill>
              </a:rPr>
              <a:t>$244</a:t>
            </a:r>
          </a:p>
        </p:txBody>
      </p:sp>
      <p:sp>
        <p:nvSpPr>
          <p:cNvPr id="21" name="TextBox 20"/>
          <p:cNvSpPr txBox="1"/>
          <p:nvPr/>
        </p:nvSpPr>
        <p:spPr>
          <a:xfrm>
            <a:off x="4407408" y="2816352"/>
            <a:ext cx="3200400" cy="274320"/>
          </a:xfrm>
          <a:prstGeom prst="rect">
            <a:avLst/>
          </a:prstGeom>
          <a:noFill/>
        </p:spPr>
        <p:txBody>
          <a:bodyPr wrap="square">
            <a:spAutoFit/>
          </a:bodyPr>
          <a:lstStyle/>
          <a:p>
            <a:pPr algn="l"/>
            <a:r>
              <a:rPr sz="1400" b="0" i="0">
                <a:solidFill>
                  <a:srgbClr val="595959"/>
                </a:solidFill>
              </a:rPr>
              <a:t>avg CLV</a:t>
            </a:r>
          </a:p>
        </p:txBody>
      </p:sp>
      <p:sp>
        <p:nvSpPr>
          <p:cNvPr id="22" name="TextBox 21"/>
          <p:cNvSpPr txBox="1"/>
          <p:nvPr/>
        </p:nvSpPr>
        <p:spPr>
          <a:xfrm>
            <a:off x="4407408" y="3163824"/>
            <a:ext cx="3200400" cy="566928"/>
          </a:xfrm>
          <a:prstGeom prst="rect">
            <a:avLst/>
          </a:prstGeom>
          <a:noFill/>
        </p:spPr>
        <p:txBody>
          <a:bodyPr wrap="square">
            <a:spAutoFit/>
          </a:bodyPr>
          <a:lstStyle/>
          <a:p>
            <a:pPr algn="l"/>
            <a:r>
              <a:rPr sz="1600" b="0" i="0">
                <a:solidFill>
                  <a:srgbClr val="1A1A1A"/>
                </a:solidFill>
              </a:rPr>
              <a:t>Avg recency: 147 days
Avg frequency: 1x</a:t>
            </a:r>
          </a:p>
        </p:txBody>
      </p:sp>
      <p:sp>
        <p:nvSpPr>
          <p:cNvPr id="23" name="TextBox 22"/>
          <p:cNvSpPr txBox="1"/>
          <p:nvPr/>
        </p:nvSpPr>
        <p:spPr>
          <a:xfrm>
            <a:off x="4407408" y="3822191"/>
            <a:ext cx="3200400" cy="1417320"/>
          </a:xfrm>
          <a:prstGeom prst="rect">
            <a:avLst/>
          </a:prstGeom>
          <a:noFill/>
        </p:spPr>
        <p:txBody>
          <a:bodyPr wrap="square">
            <a:spAutoFit/>
          </a:bodyPr>
          <a:lstStyle/>
          <a:p>
            <a:pPr algn="l"/>
            <a:r>
              <a:rPr sz="1600" b="0" i="0">
                <a:solidFill>
                  <a:srgbClr val="595959"/>
                </a:solidFill>
              </a:rPr>
              <a:t>Recent, 1–2 purchases. Positive engagement signal.
Priority: loyalty programme invitation, category expansion.</a:t>
            </a:r>
          </a:p>
        </p:txBody>
      </p:sp>
      <p:sp>
        <p:nvSpPr>
          <p:cNvPr id="24" name="Rectangle 23"/>
          <p:cNvSpPr/>
          <p:nvPr/>
        </p:nvSpPr>
        <p:spPr>
          <a:xfrm>
            <a:off x="8046720" y="1143000"/>
            <a:ext cx="3611880" cy="438912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046720" y="1143000"/>
            <a:ext cx="3611880" cy="64008"/>
          </a:xfrm>
          <a:prstGeom prst="rect">
            <a:avLst/>
          </a:prstGeom>
          <a:solidFill>
            <a:srgbClr val="8A6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47888" y="1325880"/>
            <a:ext cx="3200400" cy="402336"/>
          </a:xfrm>
          <a:prstGeom prst="rect">
            <a:avLst/>
          </a:prstGeom>
          <a:noFill/>
        </p:spPr>
        <p:txBody>
          <a:bodyPr wrap="square">
            <a:spAutoFit/>
          </a:bodyPr>
          <a:lstStyle/>
          <a:p>
            <a:pPr algn="l"/>
            <a:r>
              <a:rPr sz="2200" b="1" i="0">
                <a:solidFill>
                  <a:srgbClr val="1A1A1A"/>
                </a:solidFill>
              </a:rPr>
              <a:t>Potential Loyalist</a:t>
            </a:r>
          </a:p>
        </p:txBody>
      </p:sp>
      <p:sp>
        <p:nvSpPr>
          <p:cNvPr id="27" name="TextBox 26"/>
          <p:cNvSpPr txBox="1"/>
          <p:nvPr/>
        </p:nvSpPr>
        <p:spPr>
          <a:xfrm>
            <a:off x="8247888" y="1783080"/>
            <a:ext cx="3200400" cy="292608"/>
          </a:xfrm>
          <a:prstGeom prst="rect">
            <a:avLst/>
          </a:prstGeom>
          <a:noFill/>
        </p:spPr>
        <p:txBody>
          <a:bodyPr wrap="square">
            <a:spAutoFit/>
          </a:bodyPr>
          <a:lstStyle/>
          <a:p>
            <a:pPr algn="l"/>
            <a:r>
              <a:rPr sz="1600" b="0" i="0">
                <a:solidFill>
                  <a:srgbClr val="595959"/>
                </a:solidFill>
              </a:rPr>
              <a:t>15 customers</a:t>
            </a:r>
          </a:p>
        </p:txBody>
      </p:sp>
      <p:sp>
        <p:nvSpPr>
          <p:cNvPr id="28" name="TextBox 27"/>
          <p:cNvSpPr txBox="1"/>
          <p:nvPr/>
        </p:nvSpPr>
        <p:spPr>
          <a:xfrm>
            <a:off x="8247888" y="2139696"/>
            <a:ext cx="3200400" cy="713232"/>
          </a:xfrm>
          <a:prstGeom prst="rect">
            <a:avLst/>
          </a:prstGeom>
          <a:noFill/>
        </p:spPr>
        <p:txBody>
          <a:bodyPr wrap="square">
            <a:spAutoFit/>
          </a:bodyPr>
          <a:lstStyle/>
          <a:p>
            <a:pPr algn="l"/>
            <a:r>
              <a:rPr sz="4000" b="1" i="0">
                <a:solidFill>
                  <a:srgbClr val="8A6800"/>
                </a:solidFill>
              </a:rPr>
              <a:t>$599</a:t>
            </a:r>
          </a:p>
        </p:txBody>
      </p:sp>
      <p:sp>
        <p:nvSpPr>
          <p:cNvPr id="29" name="TextBox 28"/>
          <p:cNvSpPr txBox="1"/>
          <p:nvPr/>
        </p:nvSpPr>
        <p:spPr>
          <a:xfrm>
            <a:off x="8247888" y="2816352"/>
            <a:ext cx="3200400" cy="274320"/>
          </a:xfrm>
          <a:prstGeom prst="rect">
            <a:avLst/>
          </a:prstGeom>
          <a:noFill/>
        </p:spPr>
        <p:txBody>
          <a:bodyPr wrap="square">
            <a:spAutoFit/>
          </a:bodyPr>
          <a:lstStyle/>
          <a:p>
            <a:pPr algn="l"/>
            <a:r>
              <a:rPr sz="1400" b="0" i="0">
                <a:solidFill>
                  <a:srgbClr val="595959"/>
                </a:solidFill>
              </a:rPr>
              <a:t>avg CLV</a:t>
            </a:r>
          </a:p>
        </p:txBody>
      </p:sp>
      <p:sp>
        <p:nvSpPr>
          <p:cNvPr id="30" name="TextBox 29"/>
          <p:cNvSpPr txBox="1"/>
          <p:nvPr/>
        </p:nvSpPr>
        <p:spPr>
          <a:xfrm>
            <a:off x="8247888" y="3163824"/>
            <a:ext cx="3200400" cy="566928"/>
          </a:xfrm>
          <a:prstGeom prst="rect">
            <a:avLst/>
          </a:prstGeom>
          <a:noFill/>
        </p:spPr>
        <p:txBody>
          <a:bodyPr wrap="square">
            <a:spAutoFit/>
          </a:bodyPr>
          <a:lstStyle/>
          <a:p>
            <a:pPr algn="l"/>
            <a:r>
              <a:rPr sz="1600" b="0" i="0">
                <a:solidFill>
                  <a:srgbClr val="1A1A1A"/>
                </a:solidFill>
              </a:rPr>
              <a:t>Avg recency: 67 days
Avg frequency: 2x</a:t>
            </a:r>
          </a:p>
        </p:txBody>
      </p:sp>
      <p:sp>
        <p:nvSpPr>
          <p:cNvPr id="31" name="TextBox 30"/>
          <p:cNvSpPr txBox="1"/>
          <p:nvPr/>
        </p:nvSpPr>
        <p:spPr>
          <a:xfrm>
            <a:off x="8247888" y="3822191"/>
            <a:ext cx="3200400" cy="1417320"/>
          </a:xfrm>
          <a:prstGeom prst="rect">
            <a:avLst/>
          </a:prstGeom>
          <a:noFill/>
        </p:spPr>
        <p:txBody>
          <a:bodyPr wrap="square">
            <a:spAutoFit/>
          </a:bodyPr>
          <a:lstStyle/>
          <a:p>
            <a:pPr algn="l"/>
            <a:r>
              <a:rPr sz="1600" b="0" i="0">
                <a:solidFill>
                  <a:srgbClr val="595959"/>
                </a:solidFill>
              </a:rPr>
              <a:t>2 purchases, moderate recency.
Priority: reward next purchase, introduce referral mechanic.</a:t>
            </a:r>
          </a:p>
        </p:txBody>
      </p:sp>
      <p:sp>
        <p:nvSpPr>
          <p:cNvPr id="32" name="TextBox 31"/>
          <p:cNvSpPr txBox="1"/>
          <p:nvPr/>
        </p:nvSpPr>
        <p:spPr>
          <a:xfrm>
            <a:off x="365760" y="5760720"/>
            <a:ext cx="11430000" cy="320040"/>
          </a:xfrm>
          <a:prstGeom prst="rect">
            <a:avLst/>
          </a:prstGeom>
          <a:noFill/>
        </p:spPr>
        <p:txBody>
          <a:bodyPr wrap="square">
            <a:spAutoFit/>
          </a:bodyPr>
          <a:lstStyle/>
          <a:p>
            <a:pPr algn="l"/>
            <a:r>
              <a:rPr sz="1800" b="1" i="0">
                <a:solidFill>
                  <a:srgbClr val="003366"/>
                </a:solidFill>
              </a:rPr>
              <a:t>Migration target: move Promising and Potential Loyalist customers to Loyal status within 12 months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515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82296"/>
            <a:ext cx="11430000" cy="475488"/>
          </a:xfrm>
          <a:prstGeom prst="rect">
            <a:avLst/>
          </a:prstGeom>
          <a:noFill/>
        </p:spPr>
        <p:txBody>
          <a:bodyPr wrap="square">
            <a:spAutoFit/>
          </a:bodyPr>
          <a:lstStyle/>
          <a:p>
            <a:pPr algn="l"/>
            <a:r>
              <a:rPr sz="2800" b="1" i="0">
                <a:solidFill>
                  <a:srgbClr val="FFFFFF"/>
                </a:solidFill>
              </a:rPr>
              <a:t>What the Numbers Could Not See</a:t>
            </a:r>
          </a:p>
        </p:txBody>
      </p:sp>
      <p:sp>
        <p:nvSpPr>
          <p:cNvPr id="4" name="TextBox 3"/>
          <p:cNvSpPr txBox="1"/>
          <p:nvPr/>
        </p:nvSpPr>
        <p:spPr>
          <a:xfrm>
            <a:off x="365760" y="566928"/>
            <a:ext cx="11430000" cy="310896"/>
          </a:xfrm>
          <a:prstGeom prst="rect">
            <a:avLst/>
          </a:prstGeom>
          <a:noFill/>
        </p:spPr>
        <p:txBody>
          <a:bodyPr wrap="square">
            <a:spAutoFit/>
          </a:bodyPr>
          <a:lstStyle/>
          <a:p>
            <a:pPr algn="l"/>
            <a:r>
              <a:rPr sz="1500" b="0" i="0">
                <a:solidFill>
                  <a:srgbClr val="BDD7EE"/>
                </a:solidFill>
              </a:rPr>
              <a:t>Still buying normally — and telling us they are unhappy</a:t>
            </a:r>
          </a:p>
        </p:txBody>
      </p:sp>
      <p:cxnSp>
        <p:nvCxnSpPr>
          <p:cNvPr id="5" name="Connector 4"/>
          <p:cNvCxnSpPr/>
          <p:nvPr/>
        </p:nvCxnSpPr>
        <p:spPr>
          <a:xfrm>
            <a:off x="365760" y="6473952"/>
            <a:ext cx="11457432" cy="0"/>
          </a:xfrm>
          <a:prstGeom prst="line">
            <a:avLst/>
          </a:prstGeom>
          <a:ln w="6350">
            <a:solidFill>
              <a:srgbClr val="D6D6D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65760" y="6510528"/>
            <a:ext cx="5486400" cy="256032"/>
          </a:xfrm>
          <a:prstGeom prst="rect">
            <a:avLst/>
          </a:prstGeom>
          <a:noFill/>
        </p:spPr>
        <p:txBody>
          <a:bodyPr wrap="square">
            <a:spAutoFit/>
          </a:bodyPr>
          <a:lstStyle/>
          <a:p>
            <a:pPr algn="l"/>
            <a:r>
              <a:rPr sz="1200" b="0" i="0">
                <a:solidFill>
                  <a:srgbClr val="595959"/>
                </a:solidFill>
              </a:rPr>
              <a:t>CONFIDENTIAL — RFM Customer Analysis</a:t>
            </a:r>
          </a:p>
        </p:txBody>
      </p:sp>
      <p:sp>
        <p:nvSpPr>
          <p:cNvPr id="7" name="TextBox 6"/>
          <p:cNvSpPr txBox="1"/>
          <p:nvPr/>
        </p:nvSpPr>
        <p:spPr>
          <a:xfrm>
            <a:off x="11612880" y="6428232"/>
            <a:ext cx="457200" cy="274320"/>
          </a:xfrm>
          <a:prstGeom prst="rect">
            <a:avLst/>
          </a:prstGeom>
          <a:noFill/>
        </p:spPr>
        <p:txBody>
          <a:bodyPr wrap="square">
            <a:spAutoFit/>
          </a:bodyPr>
          <a:lstStyle/>
          <a:p>
            <a:pPr algn="r"/>
            <a:r>
              <a:rPr sz="1200" b="0" i="0">
                <a:solidFill>
                  <a:srgbClr val="595959"/>
                </a:solidFill>
              </a:rPr>
              <a:t>8</a:t>
            </a:r>
          </a:p>
        </p:txBody>
      </p:sp>
      <p:sp>
        <p:nvSpPr>
          <p:cNvPr id="8" name="Rectangle 7"/>
          <p:cNvSpPr/>
          <p:nvPr/>
        </p:nvSpPr>
        <p:spPr>
          <a:xfrm>
            <a:off x="365760" y="1143000"/>
            <a:ext cx="2743200" cy="17830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30352" y="1252728"/>
            <a:ext cx="2414016" cy="420624"/>
          </a:xfrm>
          <a:prstGeom prst="rect">
            <a:avLst/>
          </a:prstGeom>
          <a:noFill/>
        </p:spPr>
        <p:txBody>
          <a:bodyPr wrap="square">
            <a:spAutoFit/>
          </a:bodyPr>
          <a:lstStyle/>
          <a:p>
            <a:pPr algn="l"/>
            <a:r>
              <a:rPr sz="1500" b="0" i="0">
                <a:solidFill>
                  <a:srgbClr val="595959"/>
                </a:solidFill>
              </a:rPr>
              <a:t>Customers flagged by language</a:t>
            </a:r>
          </a:p>
        </p:txBody>
      </p:sp>
      <p:sp>
        <p:nvSpPr>
          <p:cNvPr id="10" name="TextBox 9"/>
          <p:cNvSpPr txBox="1"/>
          <p:nvPr/>
        </p:nvSpPr>
        <p:spPr>
          <a:xfrm>
            <a:off x="530352" y="1709928"/>
            <a:ext cx="2414016" cy="713232"/>
          </a:xfrm>
          <a:prstGeom prst="rect">
            <a:avLst/>
          </a:prstGeom>
          <a:noFill/>
        </p:spPr>
        <p:txBody>
          <a:bodyPr wrap="square">
            <a:spAutoFit/>
          </a:bodyPr>
          <a:lstStyle/>
          <a:p>
            <a:pPr algn="l"/>
            <a:r>
              <a:rPr sz="4000" b="1" i="0">
                <a:solidFill>
                  <a:srgbClr val="0070C0"/>
                </a:solidFill>
              </a:rPr>
              <a:t>5</a:t>
            </a:r>
          </a:p>
        </p:txBody>
      </p:sp>
      <p:sp>
        <p:nvSpPr>
          <p:cNvPr id="11" name="TextBox 10"/>
          <p:cNvSpPr txBox="1"/>
          <p:nvPr/>
        </p:nvSpPr>
        <p:spPr>
          <a:xfrm>
            <a:off x="530352" y="2459736"/>
            <a:ext cx="2414016" cy="365760"/>
          </a:xfrm>
          <a:prstGeom prst="rect">
            <a:avLst/>
          </a:prstGeom>
          <a:noFill/>
        </p:spPr>
        <p:txBody>
          <a:bodyPr wrap="square">
            <a:spAutoFit/>
          </a:bodyPr>
          <a:lstStyle/>
          <a:p>
            <a:pPr algn="l"/>
            <a:r>
              <a:rPr sz="1300" b="0" i="0">
                <a:solidFill>
                  <a:srgbClr val="595959"/>
                </a:solidFill>
              </a:rPr>
              <a:t>Healthy on every purchase measure</a:t>
            </a:r>
          </a:p>
        </p:txBody>
      </p:sp>
      <p:sp>
        <p:nvSpPr>
          <p:cNvPr id="12" name="Rectangle 11"/>
          <p:cNvSpPr/>
          <p:nvPr/>
        </p:nvSpPr>
        <p:spPr>
          <a:xfrm>
            <a:off x="3273552" y="1143000"/>
            <a:ext cx="2743200" cy="17830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38144" y="1252728"/>
            <a:ext cx="2414016" cy="420624"/>
          </a:xfrm>
          <a:prstGeom prst="rect">
            <a:avLst/>
          </a:prstGeom>
          <a:noFill/>
        </p:spPr>
        <p:txBody>
          <a:bodyPr wrap="square">
            <a:spAutoFit/>
          </a:bodyPr>
          <a:lstStyle/>
          <a:p>
            <a:pPr algn="l"/>
            <a:r>
              <a:rPr sz="1500" b="0" i="0">
                <a:solidFill>
                  <a:srgbClr val="595959"/>
                </a:solidFill>
              </a:rPr>
              <a:t>Lifetime value exposed</a:t>
            </a:r>
          </a:p>
        </p:txBody>
      </p:sp>
      <p:sp>
        <p:nvSpPr>
          <p:cNvPr id="14" name="TextBox 13"/>
          <p:cNvSpPr txBox="1"/>
          <p:nvPr/>
        </p:nvSpPr>
        <p:spPr>
          <a:xfrm>
            <a:off x="3438144" y="1709928"/>
            <a:ext cx="2414016" cy="713232"/>
          </a:xfrm>
          <a:prstGeom prst="rect">
            <a:avLst/>
          </a:prstGeom>
          <a:noFill/>
        </p:spPr>
        <p:txBody>
          <a:bodyPr wrap="square">
            <a:spAutoFit/>
          </a:bodyPr>
          <a:lstStyle/>
          <a:p>
            <a:pPr algn="l"/>
            <a:r>
              <a:rPr sz="4000" b="1" i="0">
                <a:solidFill>
                  <a:srgbClr val="C00000"/>
                </a:solidFill>
              </a:rPr>
              <a:t>$3,502</a:t>
            </a:r>
          </a:p>
        </p:txBody>
      </p:sp>
      <p:sp>
        <p:nvSpPr>
          <p:cNvPr id="15" name="TextBox 14"/>
          <p:cNvSpPr txBox="1"/>
          <p:nvPr/>
        </p:nvSpPr>
        <p:spPr>
          <a:xfrm>
            <a:off x="3438144" y="2459736"/>
            <a:ext cx="2414016" cy="365760"/>
          </a:xfrm>
          <a:prstGeom prst="rect">
            <a:avLst/>
          </a:prstGeom>
          <a:noFill/>
        </p:spPr>
        <p:txBody>
          <a:bodyPr wrap="square">
            <a:spAutoFit/>
          </a:bodyPr>
          <a:lstStyle/>
          <a:p>
            <a:pPr algn="l"/>
            <a:r>
              <a:rPr sz="1300" b="0" i="0">
                <a:solidFill>
                  <a:srgbClr val="595959"/>
                </a:solidFill>
              </a:rPr>
              <a:t>8.5% of portfolio</a:t>
            </a:r>
          </a:p>
        </p:txBody>
      </p:sp>
      <p:sp>
        <p:nvSpPr>
          <p:cNvPr id="16" name="Rectangle 15"/>
          <p:cNvSpPr/>
          <p:nvPr/>
        </p:nvSpPr>
        <p:spPr>
          <a:xfrm>
            <a:off x="6181344" y="1143000"/>
            <a:ext cx="2743200" cy="17830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45936" y="1252728"/>
            <a:ext cx="2414016" cy="420624"/>
          </a:xfrm>
          <a:prstGeom prst="rect">
            <a:avLst/>
          </a:prstGeom>
          <a:noFill/>
        </p:spPr>
        <p:txBody>
          <a:bodyPr wrap="square">
            <a:spAutoFit/>
          </a:bodyPr>
          <a:lstStyle/>
          <a:p>
            <a:pPr algn="l"/>
            <a:r>
              <a:rPr sz="1500" b="0" i="0">
                <a:solidFill>
                  <a:srgbClr val="595959"/>
                </a:solidFill>
              </a:rPr>
              <a:t>Need a person, not a campaign</a:t>
            </a:r>
          </a:p>
        </p:txBody>
      </p:sp>
      <p:sp>
        <p:nvSpPr>
          <p:cNvPr id="18" name="TextBox 17"/>
          <p:cNvSpPr txBox="1"/>
          <p:nvPr/>
        </p:nvSpPr>
        <p:spPr>
          <a:xfrm>
            <a:off x="6345936" y="1709928"/>
            <a:ext cx="2414016" cy="713232"/>
          </a:xfrm>
          <a:prstGeom prst="rect">
            <a:avLst/>
          </a:prstGeom>
          <a:noFill/>
        </p:spPr>
        <p:txBody>
          <a:bodyPr wrap="square">
            <a:spAutoFit/>
          </a:bodyPr>
          <a:lstStyle/>
          <a:p>
            <a:pPr algn="l"/>
            <a:r>
              <a:rPr sz="4000" b="1" i="0">
                <a:solidFill>
                  <a:srgbClr val="003366"/>
                </a:solidFill>
              </a:rPr>
              <a:t>23</a:t>
            </a:r>
          </a:p>
        </p:txBody>
      </p:sp>
      <p:sp>
        <p:nvSpPr>
          <p:cNvPr id="19" name="TextBox 18"/>
          <p:cNvSpPr txBox="1"/>
          <p:nvPr/>
        </p:nvSpPr>
        <p:spPr>
          <a:xfrm>
            <a:off x="6345936" y="2459736"/>
            <a:ext cx="2414016" cy="365760"/>
          </a:xfrm>
          <a:prstGeom prst="rect">
            <a:avLst/>
          </a:prstGeom>
          <a:noFill/>
        </p:spPr>
        <p:txBody>
          <a:bodyPr wrap="square">
            <a:spAutoFit/>
          </a:bodyPr>
          <a:lstStyle/>
          <a:p>
            <a:pPr algn="l"/>
            <a:r>
              <a:rPr sz="1300" b="0" i="0">
                <a:solidFill>
                  <a:srgbClr val="595959"/>
                </a:solidFill>
              </a:rPr>
              <a:t>of 100 customers reviewed</a:t>
            </a:r>
          </a:p>
        </p:txBody>
      </p:sp>
      <p:sp>
        <p:nvSpPr>
          <p:cNvPr id="20" name="Rectangle 19"/>
          <p:cNvSpPr/>
          <p:nvPr/>
        </p:nvSpPr>
        <p:spPr>
          <a:xfrm>
            <a:off x="9089136" y="1143000"/>
            <a:ext cx="2743200" cy="17830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253728" y="1252728"/>
            <a:ext cx="2414016" cy="420624"/>
          </a:xfrm>
          <a:prstGeom prst="rect">
            <a:avLst/>
          </a:prstGeom>
          <a:noFill/>
        </p:spPr>
        <p:txBody>
          <a:bodyPr wrap="square">
            <a:spAutoFit/>
          </a:bodyPr>
          <a:lstStyle/>
          <a:p>
            <a:pPr algn="l"/>
            <a:r>
              <a:rPr sz="1500" b="0" i="0">
                <a:solidFill>
                  <a:srgbClr val="595959"/>
                </a:solidFill>
              </a:rPr>
              <a:t>Raised a serious problem</a:t>
            </a:r>
          </a:p>
        </p:txBody>
      </p:sp>
      <p:sp>
        <p:nvSpPr>
          <p:cNvPr id="22" name="TextBox 21"/>
          <p:cNvSpPr txBox="1"/>
          <p:nvPr/>
        </p:nvSpPr>
        <p:spPr>
          <a:xfrm>
            <a:off x="9253728" y="1709928"/>
            <a:ext cx="2414016" cy="713232"/>
          </a:xfrm>
          <a:prstGeom prst="rect">
            <a:avLst/>
          </a:prstGeom>
          <a:noFill/>
        </p:spPr>
        <p:txBody>
          <a:bodyPr wrap="square">
            <a:spAutoFit/>
          </a:bodyPr>
          <a:lstStyle/>
          <a:p>
            <a:pPr algn="l"/>
            <a:r>
              <a:rPr sz="4000" b="1" i="0">
                <a:solidFill>
                  <a:srgbClr val="8A6800"/>
                </a:solidFill>
              </a:rPr>
              <a:t>21</a:t>
            </a:r>
          </a:p>
        </p:txBody>
      </p:sp>
      <p:sp>
        <p:nvSpPr>
          <p:cNvPr id="23" name="TextBox 22"/>
          <p:cNvSpPr txBox="1"/>
          <p:nvPr/>
        </p:nvSpPr>
        <p:spPr>
          <a:xfrm>
            <a:off x="9253728" y="2459736"/>
            <a:ext cx="2414016" cy="365760"/>
          </a:xfrm>
          <a:prstGeom prst="rect">
            <a:avLst/>
          </a:prstGeom>
          <a:noFill/>
        </p:spPr>
        <p:txBody>
          <a:bodyPr wrap="square">
            <a:spAutoFit/>
          </a:bodyPr>
          <a:lstStyle/>
          <a:p>
            <a:pPr algn="l"/>
            <a:r>
              <a:rPr sz="1300" b="0" i="0">
                <a:solidFill>
                  <a:srgbClr val="595959"/>
                </a:solidFill>
              </a:rPr>
              <a:t>Something went wrong, unresolved</a:t>
            </a:r>
          </a:p>
        </p:txBody>
      </p:sp>
      <p:sp>
        <p:nvSpPr>
          <p:cNvPr id="24" name="TextBox 23"/>
          <p:cNvSpPr txBox="1"/>
          <p:nvPr/>
        </p:nvSpPr>
        <p:spPr>
          <a:xfrm>
            <a:off x="365760" y="3127248"/>
            <a:ext cx="5943600" cy="256032"/>
          </a:xfrm>
          <a:prstGeom prst="rect">
            <a:avLst/>
          </a:prstGeom>
          <a:noFill/>
        </p:spPr>
        <p:txBody>
          <a:bodyPr wrap="square">
            <a:spAutoFit/>
          </a:bodyPr>
          <a:lstStyle/>
          <a:p>
            <a:pPr algn="l"/>
            <a:r>
              <a:rPr sz="1300" b="1" i="0">
                <a:solidFill>
                  <a:srgbClr val="0070C0"/>
                </a:solidFill>
              </a:rPr>
              <a:t>FLAGGED BY WHAT THEY SAID, NOT WHAT THEY BOUGHT</a:t>
            </a:r>
          </a:p>
        </p:txBody>
      </p:sp>
      <p:sp>
        <p:nvSpPr>
          <p:cNvPr id="25" name="TextBox 24"/>
          <p:cNvSpPr txBox="1"/>
          <p:nvPr/>
        </p:nvSpPr>
        <p:spPr>
          <a:xfrm>
            <a:off x="411480" y="3438144"/>
            <a:ext cx="1463039" cy="274320"/>
          </a:xfrm>
          <a:prstGeom prst="rect">
            <a:avLst/>
          </a:prstGeom>
          <a:noFill/>
        </p:spPr>
        <p:txBody>
          <a:bodyPr wrap="square">
            <a:spAutoFit/>
          </a:bodyPr>
          <a:lstStyle/>
          <a:p>
            <a:pPr algn="l"/>
            <a:r>
              <a:rPr sz="1300" b="1" i="0">
                <a:solidFill>
                  <a:srgbClr val="595959"/>
                </a:solidFill>
              </a:rPr>
              <a:t>CUSTOMER</a:t>
            </a:r>
          </a:p>
        </p:txBody>
      </p:sp>
      <p:sp>
        <p:nvSpPr>
          <p:cNvPr id="26" name="TextBox 25"/>
          <p:cNvSpPr txBox="1"/>
          <p:nvPr/>
        </p:nvSpPr>
        <p:spPr>
          <a:xfrm>
            <a:off x="1965960" y="3438144"/>
            <a:ext cx="1920240" cy="274320"/>
          </a:xfrm>
          <a:prstGeom prst="rect">
            <a:avLst/>
          </a:prstGeom>
          <a:noFill/>
        </p:spPr>
        <p:txBody>
          <a:bodyPr wrap="square">
            <a:spAutoFit/>
          </a:bodyPr>
          <a:lstStyle/>
          <a:p>
            <a:pPr algn="l"/>
            <a:r>
              <a:rPr sz="1300" b="1" i="0">
                <a:solidFill>
                  <a:srgbClr val="595959"/>
                </a:solidFill>
              </a:rPr>
              <a:t>SEGMENT</a:t>
            </a:r>
          </a:p>
        </p:txBody>
      </p:sp>
      <p:sp>
        <p:nvSpPr>
          <p:cNvPr id="27" name="TextBox 26"/>
          <p:cNvSpPr txBox="1"/>
          <p:nvPr/>
        </p:nvSpPr>
        <p:spPr>
          <a:xfrm>
            <a:off x="3977639" y="3438144"/>
            <a:ext cx="1463039" cy="274320"/>
          </a:xfrm>
          <a:prstGeom prst="rect">
            <a:avLst/>
          </a:prstGeom>
          <a:noFill/>
        </p:spPr>
        <p:txBody>
          <a:bodyPr wrap="square">
            <a:spAutoFit/>
          </a:bodyPr>
          <a:lstStyle/>
          <a:p>
            <a:pPr algn="l"/>
            <a:r>
              <a:rPr sz="1300" b="1" i="0">
                <a:solidFill>
                  <a:srgbClr val="595959"/>
                </a:solidFill>
              </a:rPr>
              <a:t>LIFETIME VALUE</a:t>
            </a:r>
          </a:p>
        </p:txBody>
      </p:sp>
      <p:sp>
        <p:nvSpPr>
          <p:cNvPr id="28" name="TextBox 27"/>
          <p:cNvSpPr txBox="1"/>
          <p:nvPr/>
        </p:nvSpPr>
        <p:spPr>
          <a:xfrm>
            <a:off x="5532120" y="3438144"/>
            <a:ext cx="1920240" cy="274320"/>
          </a:xfrm>
          <a:prstGeom prst="rect">
            <a:avLst/>
          </a:prstGeom>
          <a:noFill/>
        </p:spPr>
        <p:txBody>
          <a:bodyPr wrap="square">
            <a:spAutoFit/>
          </a:bodyPr>
          <a:lstStyle/>
          <a:p>
            <a:pPr algn="l"/>
            <a:r>
              <a:rPr sz="1300" b="1" i="0">
                <a:solidFill>
                  <a:srgbClr val="595959"/>
                </a:solidFill>
              </a:rPr>
              <a:t>WHAT IS DRIVING IT</a:t>
            </a:r>
          </a:p>
        </p:txBody>
      </p:sp>
      <p:sp>
        <p:nvSpPr>
          <p:cNvPr id="29" name="TextBox 28"/>
          <p:cNvSpPr txBox="1"/>
          <p:nvPr/>
        </p:nvSpPr>
        <p:spPr>
          <a:xfrm>
            <a:off x="7543800" y="3438144"/>
            <a:ext cx="4206240" cy="274320"/>
          </a:xfrm>
          <a:prstGeom prst="rect">
            <a:avLst/>
          </a:prstGeom>
          <a:noFill/>
        </p:spPr>
        <p:txBody>
          <a:bodyPr wrap="square">
            <a:spAutoFit/>
          </a:bodyPr>
          <a:lstStyle/>
          <a:p>
            <a:pPr algn="l"/>
            <a:r>
              <a:rPr sz="1300" b="1" i="0">
                <a:solidFill>
                  <a:srgbClr val="595959"/>
                </a:solidFill>
              </a:rPr>
              <a:t>WHY RFM MISSED THEM</a:t>
            </a:r>
          </a:p>
        </p:txBody>
      </p:sp>
      <p:sp>
        <p:nvSpPr>
          <p:cNvPr id="30" name="Rectangle 29"/>
          <p:cNvSpPr/>
          <p:nvPr/>
        </p:nvSpPr>
        <p:spPr>
          <a:xfrm>
            <a:off x="320040" y="3785615"/>
            <a:ext cx="11521440" cy="438912"/>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1480" y="3886200"/>
            <a:ext cx="1463039" cy="310896"/>
          </a:xfrm>
          <a:prstGeom prst="rect">
            <a:avLst/>
          </a:prstGeom>
          <a:noFill/>
        </p:spPr>
        <p:txBody>
          <a:bodyPr wrap="square">
            <a:spAutoFit/>
          </a:bodyPr>
          <a:lstStyle/>
          <a:p>
            <a:pPr algn="l"/>
            <a:r>
              <a:rPr sz="1600" b="0" i="0">
                <a:solidFill>
                  <a:srgbClr val="1A1A1A"/>
                </a:solidFill>
              </a:rPr>
              <a:t>CUS5907I</a:t>
            </a:r>
          </a:p>
        </p:txBody>
      </p:sp>
      <p:sp>
        <p:nvSpPr>
          <p:cNvPr id="32" name="TextBox 31"/>
          <p:cNvSpPr txBox="1"/>
          <p:nvPr/>
        </p:nvSpPr>
        <p:spPr>
          <a:xfrm>
            <a:off x="1965960" y="3886200"/>
            <a:ext cx="1920240" cy="310896"/>
          </a:xfrm>
          <a:prstGeom prst="rect">
            <a:avLst/>
          </a:prstGeom>
          <a:noFill/>
        </p:spPr>
        <p:txBody>
          <a:bodyPr wrap="square">
            <a:spAutoFit/>
          </a:bodyPr>
          <a:lstStyle/>
          <a:p>
            <a:pPr algn="l"/>
            <a:r>
              <a:rPr sz="1600" b="0" i="0">
                <a:solidFill>
                  <a:srgbClr val="1A1A1A"/>
                </a:solidFill>
              </a:rPr>
              <a:t>Loyal</a:t>
            </a:r>
          </a:p>
        </p:txBody>
      </p:sp>
      <p:sp>
        <p:nvSpPr>
          <p:cNvPr id="33" name="TextBox 32"/>
          <p:cNvSpPr txBox="1"/>
          <p:nvPr/>
        </p:nvSpPr>
        <p:spPr>
          <a:xfrm>
            <a:off x="3977639" y="3886200"/>
            <a:ext cx="1463039" cy="310896"/>
          </a:xfrm>
          <a:prstGeom prst="rect">
            <a:avLst/>
          </a:prstGeom>
          <a:noFill/>
        </p:spPr>
        <p:txBody>
          <a:bodyPr wrap="square">
            <a:spAutoFit/>
          </a:bodyPr>
          <a:lstStyle/>
          <a:p>
            <a:pPr algn="l"/>
            <a:r>
              <a:rPr sz="1600" b="0" i="0">
                <a:solidFill>
                  <a:srgbClr val="1A1A1A"/>
                </a:solidFill>
              </a:rPr>
              <a:t>$1,051</a:t>
            </a:r>
          </a:p>
        </p:txBody>
      </p:sp>
      <p:sp>
        <p:nvSpPr>
          <p:cNvPr id="34" name="TextBox 33"/>
          <p:cNvSpPr txBox="1"/>
          <p:nvPr/>
        </p:nvSpPr>
        <p:spPr>
          <a:xfrm>
            <a:off x="5532120" y="3886200"/>
            <a:ext cx="1920240" cy="310896"/>
          </a:xfrm>
          <a:prstGeom prst="rect">
            <a:avLst/>
          </a:prstGeom>
          <a:noFill/>
        </p:spPr>
        <p:txBody>
          <a:bodyPr wrap="square">
            <a:spAutoFit/>
          </a:bodyPr>
          <a:lstStyle/>
          <a:p>
            <a:pPr algn="l"/>
            <a:r>
              <a:rPr sz="1600" b="0" i="0">
                <a:solidFill>
                  <a:srgbClr val="1A1A1A"/>
                </a:solidFill>
              </a:rPr>
              <a:t>Service</a:t>
            </a:r>
          </a:p>
        </p:txBody>
      </p:sp>
      <p:sp>
        <p:nvSpPr>
          <p:cNvPr id="35" name="TextBox 34"/>
          <p:cNvSpPr txBox="1"/>
          <p:nvPr/>
        </p:nvSpPr>
        <p:spPr>
          <a:xfrm>
            <a:off x="7543800" y="3886200"/>
            <a:ext cx="4206240" cy="310896"/>
          </a:xfrm>
          <a:prstGeom prst="rect">
            <a:avLst/>
          </a:prstGeom>
          <a:noFill/>
        </p:spPr>
        <p:txBody>
          <a:bodyPr wrap="square">
            <a:spAutoFit/>
          </a:bodyPr>
          <a:lstStyle/>
          <a:p>
            <a:pPr algn="l"/>
            <a:r>
              <a:rPr sz="1600" b="0" i="0">
                <a:solidFill>
                  <a:srgbClr val="1A1A1A"/>
                </a:solidFill>
              </a:rPr>
              <a:t>Buying on schedule, failure unresolved</a:t>
            </a:r>
          </a:p>
        </p:txBody>
      </p:sp>
      <p:sp>
        <p:nvSpPr>
          <p:cNvPr id="36" name="Rectangle 35"/>
          <p:cNvSpPr/>
          <p:nvPr/>
        </p:nvSpPr>
        <p:spPr>
          <a:xfrm>
            <a:off x="320040" y="4242816"/>
            <a:ext cx="11521440" cy="4389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11480" y="4343400"/>
            <a:ext cx="1463039" cy="310896"/>
          </a:xfrm>
          <a:prstGeom prst="rect">
            <a:avLst/>
          </a:prstGeom>
          <a:noFill/>
        </p:spPr>
        <p:txBody>
          <a:bodyPr wrap="square">
            <a:spAutoFit/>
          </a:bodyPr>
          <a:lstStyle/>
          <a:p>
            <a:pPr algn="l"/>
            <a:r>
              <a:rPr sz="1600" b="0" i="0">
                <a:solidFill>
                  <a:srgbClr val="1A1A1A"/>
                </a:solidFill>
              </a:rPr>
              <a:t>CUSCRUYF</a:t>
            </a:r>
          </a:p>
        </p:txBody>
      </p:sp>
      <p:sp>
        <p:nvSpPr>
          <p:cNvPr id="38" name="TextBox 37"/>
          <p:cNvSpPr txBox="1"/>
          <p:nvPr/>
        </p:nvSpPr>
        <p:spPr>
          <a:xfrm>
            <a:off x="1965960" y="4343400"/>
            <a:ext cx="1920240" cy="310896"/>
          </a:xfrm>
          <a:prstGeom prst="rect">
            <a:avLst/>
          </a:prstGeom>
          <a:noFill/>
        </p:spPr>
        <p:txBody>
          <a:bodyPr wrap="square">
            <a:spAutoFit/>
          </a:bodyPr>
          <a:lstStyle/>
          <a:p>
            <a:pPr algn="l"/>
            <a:r>
              <a:rPr sz="1600" b="0" i="0">
                <a:solidFill>
                  <a:srgbClr val="1A1A1A"/>
                </a:solidFill>
              </a:rPr>
              <a:t>Loyal</a:t>
            </a:r>
          </a:p>
        </p:txBody>
      </p:sp>
      <p:sp>
        <p:nvSpPr>
          <p:cNvPr id="39" name="TextBox 38"/>
          <p:cNvSpPr txBox="1"/>
          <p:nvPr/>
        </p:nvSpPr>
        <p:spPr>
          <a:xfrm>
            <a:off x="3977639" y="4343400"/>
            <a:ext cx="1463039" cy="310896"/>
          </a:xfrm>
          <a:prstGeom prst="rect">
            <a:avLst/>
          </a:prstGeom>
          <a:noFill/>
        </p:spPr>
        <p:txBody>
          <a:bodyPr wrap="square">
            <a:spAutoFit/>
          </a:bodyPr>
          <a:lstStyle/>
          <a:p>
            <a:pPr algn="l"/>
            <a:r>
              <a:rPr sz="1600" b="0" i="0">
                <a:solidFill>
                  <a:srgbClr val="1A1A1A"/>
                </a:solidFill>
              </a:rPr>
              <a:t>$762</a:t>
            </a:r>
          </a:p>
        </p:txBody>
      </p:sp>
      <p:sp>
        <p:nvSpPr>
          <p:cNvPr id="40" name="TextBox 39"/>
          <p:cNvSpPr txBox="1"/>
          <p:nvPr/>
        </p:nvSpPr>
        <p:spPr>
          <a:xfrm>
            <a:off x="5532120" y="4343400"/>
            <a:ext cx="1920240" cy="310896"/>
          </a:xfrm>
          <a:prstGeom prst="rect">
            <a:avLst/>
          </a:prstGeom>
          <a:noFill/>
        </p:spPr>
        <p:txBody>
          <a:bodyPr wrap="square">
            <a:spAutoFit/>
          </a:bodyPr>
          <a:lstStyle/>
          <a:p>
            <a:pPr algn="l"/>
            <a:r>
              <a:rPr sz="1600" b="0" i="0">
                <a:solidFill>
                  <a:srgbClr val="1A1A1A"/>
                </a:solidFill>
              </a:rPr>
              <a:t>Competitor</a:t>
            </a:r>
          </a:p>
        </p:txBody>
      </p:sp>
      <p:sp>
        <p:nvSpPr>
          <p:cNvPr id="41" name="TextBox 40"/>
          <p:cNvSpPr txBox="1"/>
          <p:nvPr/>
        </p:nvSpPr>
        <p:spPr>
          <a:xfrm>
            <a:off x="7543800" y="4343400"/>
            <a:ext cx="4206240" cy="310896"/>
          </a:xfrm>
          <a:prstGeom prst="rect">
            <a:avLst/>
          </a:prstGeom>
          <a:noFill/>
        </p:spPr>
        <p:txBody>
          <a:bodyPr wrap="square">
            <a:spAutoFit/>
          </a:bodyPr>
          <a:lstStyle/>
          <a:p>
            <a:pPr algn="l"/>
            <a:r>
              <a:rPr sz="1600" b="0" i="0">
                <a:solidFill>
                  <a:srgbClr val="1A1A1A"/>
                </a:solidFill>
              </a:rPr>
              <a:t>Buying, but weighing up a competitor</a:t>
            </a:r>
          </a:p>
        </p:txBody>
      </p:sp>
      <p:sp>
        <p:nvSpPr>
          <p:cNvPr id="42" name="Rectangle 41"/>
          <p:cNvSpPr/>
          <p:nvPr/>
        </p:nvSpPr>
        <p:spPr>
          <a:xfrm>
            <a:off x="320040" y="4700016"/>
            <a:ext cx="11521440" cy="438912"/>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11480" y="4800600"/>
            <a:ext cx="1463039" cy="310896"/>
          </a:xfrm>
          <a:prstGeom prst="rect">
            <a:avLst/>
          </a:prstGeom>
          <a:noFill/>
        </p:spPr>
        <p:txBody>
          <a:bodyPr wrap="square">
            <a:spAutoFit/>
          </a:bodyPr>
          <a:lstStyle/>
          <a:p>
            <a:pPr algn="l"/>
            <a:r>
              <a:rPr sz="1600" b="0" i="0">
                <a:solidFill>
                  <a:srgbClr val="1A1A1A"/>
                </a:solidFill>
              </a:rPr>
              <a:t>CUSKOIXN</a:t>
            </a:r>
          </a:p>
        </p:txBody>
      </p:sp>
      <p:sp>
        <p:nvSpPr>
          <p:cNvPr id="44" name="TextBox 43"/>
          <p:cNvSpPr txBox="1"/>
          <p:nvPr/>
        </p:nvSpPr>
        <p:spPr>
          <a:xfrm>
            <a:off x="1965960" y="4800600"/>
            <a:ext cx="1920240" cy="310896"/>
          </a:xfrm>
          <a:prstGeom prst="rect">
            <a:avLst/>
          </a:prstGeom>
          <a:noFill/>
        </p:spPr>
        <p:txBody>
          <a:bodyPr wrap="square">
            <a:spAutoFit/>
          </a:bodyPr>
          <a:lstStyle/>
          <a:p>
            <a:pPr algn="l"/>
            <a:r>
              <a:rPr sz="1600" b="0" i="0">
                <a:solidFill>
                  <a:srgbClr val="1A1A1A"/>
                </a:solidFill>
              </a:rPr>
              <a:t>Loyal</a:t>
            </a:r>
          </a:p>
        </p:txBody>
      </p:sp>
      <p:sp>
        <p:nvSpPr>
          <p:cNvPr id="45" name="TextBox 44"/>
          <p:cNvSpPr txBox="1"/>
          <p:nvPr/>
        </p:nvSpPr>
        <p:spPr>
          <a:xfrm>
            <a:off x="3977639" y="4800600"/>
            <a:ext cx="1463039" cy="310896"/>
          </a:xfrm>
          <a:prstGeom prst="rect">
            <a:avLst/>
          </a:prstGeom>
          <a:noFill/>
        </p:spPr>
        <p:txBody>
          <a:bodyPr wrap="square">
            <a:spAutoFit/>
          </a:bodyPr>
          <a:lstStyle/>
          <a:p>
            <a:pPr algn="l"/>
            <a:r>
              <a:rPr sz="1600" b="0" i="0">
                <a:solidFill>
                  <a:srgbClr val="1A1A1A"/>
                </a:solidFill>
              </a:rPr>
              <a:t>$743</a:t>
            </a:r>
          </a:p>
        </p:txBody>
      </p:sp>
      <p:sp>
        <p:nvSpPr>
          <p:cNvPr id="46" name="TextBox 45"/>
          <p:cNvSpPr txBox="1"/>
          <p:nvPr/>
        </p:nvSpPr>
        <p:spPr>
          <a:xfrm>
            <a:off x="5532120" y="4800600"/>
            <a:ext cx="1920240" cy="310896"/>
          </a:xfrm>
          <a:prstGeom prst="rect">
            <a:avLst/>
          </a:prstGeom>
          <a:noFill/>
        </p:spPr>
        <p:txBody>
          <a:bodyPr wrap="square">
            <a:spAutoFit/>
          </a:bodyPr>
          <a:lstStyle/>
          <a:p>
            <a:pPr algn="l"/>
            <a:r>
              <a:rPr sz="1600" b="0" i="0">
                <a:solidFill>
                  <a:srgbClr val="1A1A1A"/>
                </a:solidFill>
              </a:rPr>
              <a:t>Service</a:t>
            </a:r>
          </a:p>
        </p:txBody>
      </p:sp>
      <p:sp>
        <p:nvSpPr>
          <p:cNvPr id="47" name="TextBox 46"/>
          <p:cNvSpPr txBox="1"/>
          <p:nvPr/>
        </p:nvSpPr>
        <p:spPr>
          <a:xfrm>
            <a:off x="7543800" y="4800600"/>
            <a:ext cx="4206240" cy="310896"/>
          </a:xfrm>
          <a:prstGeom prst="rect">
            <a:avLst/>
          </a:prstGeom>
          <a:noFill/>
        </p:spPr>
        <p:txBody>
          <a:bodyPr wrap="square">
            <a:spAutoFit/>
          </a:bodyPr>
          <a:lstStyle/>
          <a:p>
            <a:pPr algn="l"/>
            <a:r>
              <a:rPr sz="1600" b="0" i="0">
                <a:solidFill>
                  <a:srgbClr val="1A1A1A"/>
                </a:solidFill>
              </a:rPr>
              <a:t>Buying on schedule, failure unresolved</a:t>
            </a:r>
          </a:p>
        </p:txBody>
      </p:sp>
      <p:sp>
        <p:nvSpPr>
          <p:cNvPr id="48" name="Rectangle 47"/>
          <p:cNvSpPr/>
          <p:nvPr/>
        </p:nvSpPr>
        <p:spPr>
          <a:xfrm>
            <a:off x="320040" y="5157216"/>
            <a:ext cx="11521440" cy="4389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11480" y="5257800"/>
            <a:ext cx="1463039" cy="310896"/>
          </a:xfrm>
          <a:prstGeom prst="rect">
            <a:avLst/>
          </a:prstGeom>
          <a:noFill/>
        </p:spPr>
        <p:txBody>
          <a:bodyPr wrap="square">
            <a:spAutoFit/>
          </a:bodyPr>
          <a:lstStyle/>
          <a:p>
            <a:pPr algn="l"/>
            <a:r>
              <a:rPr sz="1600" b="0" i="0">
                <a:solidFill>
                  <a:srgbClr val="1A1A1A"/>
                </a:solidFill>
              </a:rPr>
              <a:t>CUS65KXV</a:t>
            </a:r>
          </a:p>
        </p:txBody>
      </p:sp>
      <p:sp>
        <p:nvSpPr>
          <p:cNvPr id="50" name="TextBox 49"/>
          <p:cNvSpPr txBox="1"/>
          <p:nvPr/>
        </p:nvSpPr>
        <p:spPr>
          <a:xfrm>
            <a:off x="1965960" y="5257800"/>
            <a:ext cx="1920240" cy="310896"/>
          </a:xfrm>
          <a:prstGeom prst="rect">
            <a:avLst/>
          </a:prstGeom>
          <a:noFill/>
        </p:spPr>
        <p:txBody>
          <a:bodyPr wrap="square">
            <a:spAutoFit/>
          </a:bodyPr>
          <a:lstStyle/>
          <a:p>
            <a:pPr algn="l"/>
            <a:r>
              <a:rPr sz="1600" b="0" i="0">
                <a:solidFill>
                  <a:srgbClr val="1A1A1A"/>
                </a:solidFill>
              </a:rPr>
              <a:t>Potential Loyalist</a:t>
            </a:r>
          </a:p>
        </p:txBody>
      </p:sp>
      <p:sp>
        <p:nvSpPr>
          <p:cNvPr id="51" name="TextBox 50"/>
          <p:cNvSpPr txBox="1"/>
          <p:nvPr/>
        </p:nvSpPr>
        <p:spPr>
          <a:xfrm>
            <a:off x="3977639" y="5257800"/>
            <a:ext cx="1463039" cy="310896"/>
          </a:xfrm>
          <a:prstGeom prst="rect">
            <a:avLst/>
          </a:prstGeom>
          <a:noFill/>
        </p:spPr>
        <p:txBody>
          <a:bodyPr wrap="square">
            <a:spAutoFit/>
          </a:bodyPr>
          <a:lstStyle/>
          <a:p>
            <a:pPr algn="l"/>
            <a:r>
              <a:rPr sz="1600" b="0" i="0">
                <a:solidFill>
                  <a:srgbClr val="1A1A1A"/>
                </a:solidFill>
              </a:rPr>
              <a:t>$652</a:t>
            </a:r>
          </a:p>
        </p:txBody>
      </p:sp>
      <p:sp>
        <p:nvSpPr>
          <p:cNvPr id="52" name="TextBox 51"/>
          <p:cNvSpPr txBox="1"/>
          <p:nvPr/>
        </p:nvSpPr>
        <p:spPr>
          <a:xfrm>
            <a:off x="5532120" y="5257800"/>
            <a:ext cx="1920240" cy="310896"/>
          </a:xfrm>
          <a:prstGeom prst="rect">
            <a:avLst/>
          </a:prstGeom>
          <a:noFill/>
        </p:spPr>
        <p:txBody>
          <a:bodyPr wrap="square">
            <a:spAutoFit/>
          </a:bodyPr>
          <a:lstStyle/>
          <a:p>
            <a:pPr algn="l"/>
            <a:r>
              <a:rPr sz="1600" b="0" i="0">
                <a:solidFill>
                  <a:srgbClr val="1A1A1A"/>
                </a:solidFill>
              </a:rPr>
              <a:t>Service</a:t>
            </a:r>
          </a:p>
        </p:txBody>
      </p:sp>
      <p:sp>
        <p:nvSpPr>
          <p:cNvPr id="53" name="TextBox 52"/>
          <p:cNvSpPr txBox="1"/>
          <p:nvPr/>
        </p:nvSpPr>
        <p:spPr>
          <a:xfrm>
            <a:off x="7543800" y="5257800"/>
            <a:ext cx="4206240" cy="310896"/>
          </a:xfrm>
          <a:prstGeom prst="rect">
            <a:avLst/>
          </a:prstGeom>
          <a:noFill/>
        </p:spPr>
        <p:txBody>
          <a:bodyPr wrap="square">
            <a:spAutoFit/>
          </a:bodyPr>
          <a:lstStyle/>
          <a:p>
            <a:pPr algn="l"/>
            <a:r>
              <a:rPr sz="1600" b="0" i="0">
                <a:solidFill>
                  <a:srgbClr val="1A1A1A"/>
                </a:solidFill>
              </a:rPr>
              <a:t>Buying on schedule, failure unresolved</a:t>
            </a:r>
          </a:p>
        </p:txBody>
      </p:sp>
      <p:sp>
        <p:nvSpPr>
          <p:cNvPr id="54" name="Rectangle 53"/>
          <p:cNvSpPr/>
          <p:nvPr/>
        </p:nvSpPr>
        <p:spPr>
          <a:xfrm>
            <a:off x="320040" y="5614416"/>
            <a:ext cx="11521440" cy="438912"/>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11480" y="5715000"/>
            <a:ext cx="1463039" cy="310896"/>
          </a:xfrm>
          <a:prstGeom prst="rect">
            <a:avLst/>
          </a:prstGeom>
          <a:noFill/>
        </p:spPr>
        <p:txBody>
          <a:bodyPr wrap="square">
            <a:spAutoFit/>
          </a:bodyPr>
          <a:lstStyle/>
          <a:p>
            <a:pPr algn="l"/>
            <a:r>
              <a:rPr sz="1600" b="0" i="0">
                <a:solidFill>
                  <a:srgbClr val="1A1A1A"/>
                </a:solidFill>
              </a:rPr>
              <a:t>CUSOR56F</a:t>
            </a:r>
          </a:p>
        </p:txBody>
      </p:sp>
      <p:sp>
        <p:nvSpPr>
          <p:cNvPr id="56" name="TextBox 55"/>
          <p:cNvSpPr txBox="1"/>
          <p:nvPr/>
        </p:nvSpPr>
        <p:spPr>
          <a:xfrm>
            <a:off x="1965960" y="5715000"/>
            <a:ext cx="1920240" cy="310896"/>
          </a:xfrm>
          <a:prstGeom prst="rect">
            <a:avLst/>
          </a:prstGeom>
          <a:noFill/>
        </p:spPr>
        <p:txBody>
          <a:bodyPr wrap="square">
            <a:spAutoFit/>
          </a:bodyPr>
          <a:lstStyle/>
          <a:p>
            <a:pPr algn="l"/>
            <a:r>
              <a:rPr sz="1600" b="0" i="0">
                <a:solidFill>
                  <a:srgbClr val="1A1A1A"/>
                </a:solidFill>
              </a:rPr>
              <a:t>New Customer</a:t>
            </a:r>
          </a:p>
        </p:txBody>
      </p:sp>
      <p:sp>
        <p:nvSpPr>
          <p:cNvPr id="57" name="TextBox 56"/>
          <p:cNvSpPr txBox="1"/>
          <p:nvPr/>
        </p:nvSpPr>
        <p:spPr>
          <a:xfrm>
            <a:off x="3977639" y="5715000"/>
            <a:ext cx="1463039" cy="310896"/>
          </a:xfrm>
          <a:prstGeom prst="rect">
            <a:avLst/>
          </a:prstGeom>
          <a:noFill/>
        </p:spPr>
        <p:txBody>
          <a:bodyPr wrap="square">
            <a:spAutoFit/>
          </a:bodyPr>
          <a:lstStyle/>
          <a:p>
            <a:pPr algn="l"/>
            <a:r>
              <a:rPr sz="1600" b="0" i="0">
                <a:solidFill>
                  <a:srgbClr val="1A1A1A"/>
                </a:solidFill>
              </a:rPr>
              <a:t>$294</a:t>
            </a:r>
          </a:p>
        </p:txBody>
      </p:sp>
      <p:sp>
        <p:nvSpPr>
          <p:cNvPr id="58" name="TextBox 57"/>
          <p:cNvSpPr txBox="1"/>
          <p:nvPr/>
        </p:nvSpPr>
        <p:spPr>
          <a:xfrm>
            <a:off x="5532120" y="5715000"/>
            <a:ext cx="1920240" cy="310896"/>
          </a:xfrm>
          <a:prstGeom prst="rect">
            <a:avLst/>
          </a:prstGeom>
          <a:noFill/>
        </p:spPr>
        <p:txBody>
          <a:bodyPr wrap="square">
            <a:spAutoFit/>
          </a:bodyPr>
          <a:lstStyle/>
          <a:p>
            <a:pPr algn="l"/>
            <a:r>
              <a:rPr sz="1600" b="0" i="0">
                <a:solidFill>
                  <a:srgbClr val="1A1A1A"/>
                </a:solidFill>
              </a:rPr>
              <a:t>Service</a:t>
            </a:r>
          </a:p>
        </p:txBody>
      </p:sp>
      <p:sp>
        <p:nvSpPr>
          <p:cNvPr id="59" name="TextBox 58"/>
          <p:cNvSpPr txBox="1"/>
          <p:nvPr/>
        </p:nvSpPr>
        <p:spPr>
          <a:xfrm>
            <a:off x="7543800" y="5715000"/>
            <a:ext cx="4206240" cy="310896"/>
          </a:xfrm>
          <a:prstGeom prst="rect">
            <a:avLst/>
          </a:prstGeom>
          <a:noFill/>
        </p:spPr>
        <p:txBody>
          <a:bodyPr wrap="square">
            <a:spAutoFit/>
          </a:bodyPr>
          <a:lstStyle/>
          <a:p>
            <a:pPr algn="l"/>
            <a:r>
              <a:rPr sz="1600" b="0" i="0">
                <a:solidFill>
                  <a:srgbClr val="1A1A1A"/>
                </a:solidFill>
              </a:rPr>
              <a:t>Buying on schedule, failure unresolved</a:t>
            </a:r>
          </a:p>
        </p:txBody>
      </p:sp>
      <p:sp>
        <p:nvSpPr>
          <p:cNvPr id="60" name="TextBox 59"/>
          <p:cNvSpPr txBox="1"/>
          <p:nvPr/>
        </p:nvSpPr>
        <p:spPr>
          <a:xfrm>
            <a:off x="365760" y="6236208"/>
            <a:ext cx="11430000" cy="256032"/>
          </a:xfrm>
          <a:prstGeom prst="rect">
            <a:avLst/>
          </a:prstGeom>
          <a:noFill/>
        </p:spPr>
        <p:txBody>
          <a:bodyPr wrap="square">
            <a:spAutoFit/>
          </a:bodyPr>
          <a:lstStyle/>
          <a:p>
            <a:pPr algn="l"/>
            <a:r>
              <a:rPr sz="1200" b="0" i="1">
                <a:solidFill>
                  <a:srgbClr val="595959"/>
                </a:solidFill>
              </a:rPr>
              <a:t>Customer messages are illustrative sample text, not real customer data. Replace with real support and survey data before acting on named accounts.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515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82296"/>
            <a:ext cx="11430000" cy="475488"/>
          </a:xfrm>
          <a:prstGeom prst="rect">
            <a:avLst/>
          </a:prstGeom>
          <a:noFill/>
        </p:spPr>
        <p:txBody>
          <a:bodyPr wrap="square">
            <a:spAutoFit/>
          </a:bodyPr>
          <a:lstStyle/>
          <a:p>
            <a:pPr algn="l"/>
            <a:r>
              <a:rPr sz="2800" b="1" i="0">
                <a:solidFill>
                  <a:srgbClr val="FFFFFF"/>
                </a:solidFill>
              </a:rPr>
              <a:t>How the Model Read Your Customers</a:t>
            </a:r>
          </a:p>
        </p:txBody>
      </p:sp>
      <p:sp>
        <p:nvSpPr>
          <p:cNvPr id="4" name="TextBox 3"/>
          <p:cNvSpPr txBox="1"/>
          <p:nvPr/>
        </p:nvSpPr>
        <p:spPr>
          <a:xfrm>
            <a:off x="365760" y="566928"/>
            <a:ext cx="11430000" cy="310896"/>
          </a:xfrm>
          <a:prstGeom prst="rect">
            <a:avLst/>
          </a:prstGeom>
          <a:noFill/>
        </p:spPr>
        <p:txBody>
          <a:bodyPr wrap="square">
            <a:spAutoFit/>
          </a:bodyPr>
          <a:lstStyle/>
          <a:p>
            <a:pPr algn="l"/>
            <a:r>
              <a:rPr sz="1500" b="0" i="0">
                <a:solidFill>
                  <a:srgbClr val="BDD7EE"/>
                </a:solidFill>
              </a:rPr>
              <a:t>Every customer message scored on two separate questions</a:t>
            </a:r>
          </a:p>
        </p:txBody>
      </p:sp>
      <p:cxnSp>
        <p:nvCxnSpPr>
          <p:cNvPr id="5" name="Connector 4"/>
          <p:cNvCxnSpPr/>
          <p:nvPr/>
        </p:nvCxnSpPr>
        <p:spPr>
          <a:xfrm>
            <a:off x="365760" y="6473952"/>
            <a:ext cx="11457432" cy="0"/>
          </a:xfrm>
          <a:prstGeom prst="line">
            <a:avLst/>
          </a:prstGeom>
          <a:ln w="6350">
            <a:solidFill>
              <a:srgbClr val="D6D6D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65760" y="6510528"/>
            <a:ext cx="5486400" cy="256032"/>
          </a:xfrm>
          <a:prstGeom prst="rect">
            <a:avLst/>
          </a:prstGeom>
          <a:noFill/>
        </p:spPr>
        <p:txBody>
          <a:bodyPr wrap="square">
            <a:spAutoFit/>
          </a:bodyPr>
          <a:lstStyle/>
          <a:p>
            <a:pPr algn="l"/>
            <a:r>
              <a:rPr sz="1200" b="0" i="0">
                <a:solidFill>
                  <a:srgbClr val="595959"/>
                </a:solidFill>
              </a:rPr>
              <a:t>CONFIDENTIAL — RFM Customer Analysis</a:t>
            </a:r>
          </a:p>
        </p:txBody>
      </p:sp>
      <p:sp>
        <p:nvSpPr>
          <p:cNvPr id="7" name="TextBox 6"/>
          <p:cNvSpPr txBox="1"/>
          <p:nvPr/>
        </p:nvSpPr>
        <p:spPr>
          <a:xfrm>
            <a:off x="11612880" y="6428232"/>
            <a:ext cx="457200" cy="274320"/>
          </a:xfrm>
          <a:prstGeom prst="rect">
            <a:avLst/>
          </a:prstGeom>
          <a:noFill/>
        </p:spPr>
        <p:txBody>
          <a:bodyPr wrap="square">
            <a:spAutoFit/>
          </a:bodyPr>
          <a:lstStyle/>
          <a:p>
            <a:pPr algn="r"/>
            <a:r>
              <a:rPr sz="1200" b="0" i="0">
                <a:solidFill>
                  <a:srgbClr val="595959"/>
                </a:solidFill>
              </a:rPr>
              <a:t>9</a:t>
            </a:r>
          </a:p>
        </p:txBody>
      </p:sp>
      <p:pic>
        <p:nvPicPr>
          <p:cNvPr id="8" name="Picture 7" descr="Scatter plot. Horizontal axis: risk visible in the purchase history. Vertical axis: risk stated in the customer's own words. Marker size shows lifetime value. Five customers sit in the upper-left region of low behavioural risk and high stated risk — CUS5907I, CUSCRUYF, CUS65KXV, CUSKOIXN and CUSOR56F — together worth $3,502, or 8.5% of portfolio value."/>
          <p:cNvPicPr>
            <a:picLocks noChangeAspect="1"/>
          </p:cNvPicPr>
          <p:nvPr/>
        </p:nvPicPr>
        <p:blipFill>
          <a:blip r:embed="rId2"/>
          <a:stretch>
            <a:fillRect/>
          </a:stretch>
        </p:blipFill>
        <p:spPr>
          <a:xfrm>
            <a:off x="411480" y="1298448"/>
            <a:ext cx="5669280" cy="3748355"/>
          </a:xfrm>
          <a:prstGeom prst="rect">
            <a:avLst/>
          </a:prstGeom>
        </p:spPr>
      </p:pic>
      <p:sp>
        <p:nvSpPr>
          <p:cNvPr id="9" name="TextBox 8"/>
          <p:cNvSpPr txBox="1"/>
          <p:nvPr/>
        </p:nvSpPr>
        <p:spPr>
          <a:xfrm>
            <a:off x="457200" y="5138928"/>
            <a:ext cx="5577840" cy="1005840"/>
          </a:xfrm>
          <a:prstGeom prst="rect">
            <a:avLst/>
          </a:prstGeom>
          <a:noFill/>
        </p:spPr>
        <p:txBody>
          <a:bodyPr wrap="square">
            <a:spAutoFit/>
          </a:bodyPr>
          <a:lstStyle/>
          <a:p>
            <a:pPr algn="l"/>
            <a:r>
              <a:rPr sz="1400" b="0" i="0">
                <a:solidFill>
                  <a:srgbClr val="595959"/>
                </a:solidFill>
              </a:rPr>
              <a:t>Each dot is a customer. Across: what their buying history shows. Up: what they told us. The shaded corner holds customers who are still buying normally while saying they are unhappy — the group a behavioural model cannot surface.</a:t>
            </a:r>
          </a:p>
        </p:txBody>
      </p:sp>
      <p:pic>
        <p:nvPicPr>
          <p:cNvPr id="10" name="Picture 9" descr="Paired-dot chart comparing two scores for each type of customer message. An unresolved service failure scores 0.90 on problem severity but only 0.22 on intent to leave. Quietly closing the account is the reverse: 0.78 on intent to leave and 0.14 on severity. The two measures move independently of each other."/>
          <p:cNvPicPr>
            <a:picLocks noChangeAspect="1"/>
          </p:cNvPicPr>
          <p:nvPr/>
        </p:nvPicPr>
        <p:blipFill>
          <a:blip r:embed="rId3"/>
          <a:stretch>
            <a:fillRect/>
          </a:stretch>
        </p:blipFill>
        <p:spPr>
          <a:xfrm>
            <a:off x="6281928" y="1298448"/>
            <a:ext cx="5669280" cy="3190551"/>
          </a:xfrm>
          <a:prstGeom prst="rect">
            <a:avLst/>
          </a:prstGeom>
        </p:spPr>
      </p:pic>
      <p:sp>
        <p:nvSpPr>
          <p:cNvPr id="11" name="TextBox 10"/>
          <p:cNvSpPr txBox="1"/>
          <p:nvPr/>
        </p:nvSpPr>
        <p:spPr>
          <a:xfrm>
            <a:off x="6327648" y="5138928"/>
            <a:ext cx="5577840" cy="1005840"/>
          </a:xfrm>
          <a:prstGeom prst="rect">
            <a:avLst/>
          </a:prstGeom>
          <a:noFill/>
        </p:spPr>
        <p:txBody>
          <a:bodyPr wrap="square">
            <a:spAutoFit/>
          </a:bodyPr>
          <a:lstStyle/>
          <a:p>
            <a:pPr algn="l"/>
            <a:r>
              <a:rPr sz="1400" b="0" i="0">
                <a:solidFill>
                  <a:srgbClr val="595959"/>
                </a:solidFill>
              </a:rPr>
              <a:t>The two questions do not move together. An unresolved failure scores near the top on severity and near the bottom on intent to leave: those customers are complaining to us, not walking away. Treating the two as one number hides both.</a:t>
            </a:r>
          </a:p>
        </p:txBody>
      </p:sp>
      <p:sp>
        <p:nvSpPr>
          <p:cNvPr id="12" name="TextBox 11"/>
          <p:cNvSpPr txBox="1"/>
          <p:nvPr/>
        </p:nvSpPr>
        <p:spPr>
          <a:xfrm>
            <a:off x="411480" y="6199632"/>
            <a:ext cx="11430000" cy="237744"/>
          </a:xfrm>
          <a:prstGeom prst="rect">
            <a:avLst/>
          </a:prstGeom>
          <a:noFill/>
        </p:spPr>
        <p:txBody>
          <a:bodyPr wrap="square">
            <a:spAutoFit/>
          </a:bodyPr>
          <a:lstStyle/>
          <a:p>
            <a:pPr algn="l"/>
            <a:r>
              <a:rPr sz="1200" b="0" i="1">
                <a:solidFill>
                  <a:srgbClr val="595959"/>
                </a:solidFill>
              </a:rPr>
              <a:t>Customer messages are illustrative sample text, not real customer data. Replace with real support and survey data before acting on named accounts.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515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82296"/>
            <a:ext cx="11430000" cy="475488"/>
          </a:xfrm>
          <a:prstGeom prst="rect">
            <a:avLst/>
          </a:prstGeom>
          <a:noFill/>
        </p:spPr>
        <p:txBody>
          <a:bodyPr wrap="square">
            <a:spAutoFit/>
          </a:bodyPr>
          <a:lstStyle/>
          <a:p>
            <a:pPr algn="l"/>
            <a:r>
              <a:rPr sz="2800" b="1" i="0">
                <a:solidFill>
                  <a:srgbClr val="FFFFFF"/>
                </a:solidFill>
              </a:rPr>
              <a:t>What It Found, and How Sure It Was</a:t>
            </a:r>
          </a:p>
        </p:txBody>
      </p:sp>
      <p:sp>
        <p:nvSpPr>
          <p:cNvPr id="4" name="TextBox 3"/>
          <p:cNvSpPr txBox="1"/>
          <p:nvPr/>
        </p:nvSpPr>
        <p:spPr>
          <a:xfrm>
            <a:off x="365760" y="566928"/>
            <a:ext cx="11430000" cy="310896"/>
          </a:xfrm>
          <a:prstGeom prst="rect">
            <a:avLst/>
          </a:prstGeom>
          <a:noFill/>
        </p:spPr>
        <p:txBody>
          <a:bodyPr wrap="square">
            <a:spAutoFit/>
          </a:bodyPr>
          <a:lstStyle/>
          <a:p>
            <a:pPr algn="l"/>
            <a:r>
              <a:rPr sz="1500" b="0" i="0">
                <a:solidFill>
                  <a:srgbClr val="BDD7EE"/>
                </a:solidFill>
              </a:rPr>
              <a:t>The reasons behind the numbers, and where the model declined to commit</a:t>
            </a:r>
          </a:p>
        </p:txBody>
      </p:sp>
      <p:cxnSp>
        <p:nvCxnSpPr>
          <p:cNvPr id="5" name="Connector 4"/>
          <p:cNvCxnSpPr/>
          <p:nvPr/>
        </p:nvCxnSpPr>
        <p:spPr>
          <a:xfrm>
            <a:off x="365760" y="6473952"/>
            <a:ext cx="11457432" cy="0"/>
          </a:xfrm>
          <a:prstGeom prst="line">
            <a:avLst/>
          </a:prstGeom>
          <a:ln w="6350">
            <a:solidFill>
              <a:srgbClr val="D6D6D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65760" y="6510528"/>
            <a:ext cx="5486400" cy="256032"/>
          </a:xfrm>
          <a:prstGeom prst="rect">
            <a:avLst/>
          </a:prstGeom>
          <a:noFill/>
        </p:spPr>
        <p:txBody>
          <a:bodyPr wrap="square">
            <a:spAutoFit/>
          </a:bodyPr>
          <a:lstStyle/>
          <a:p>
            <a:pPr algn="l"/>
            <a:r>
              <a:rPr sz="1200" b="0" i="0">
                <a:solidFill>
                  <a:srgbClr val="595959"/>
                </a:solidFill>
              </a:rPr>
              <a:t>CONFIDENTIAL — RFM Customer Analysis</a:t>
            </a:r>
          </a:p>
        </p:txBody>
      </p:sp>
      <p:sp>
        <p:nvSpPr>
          <p:cNvPr id="7" name="TextBox 6"/>
          <p:cNvSpPr txBox="1"/>
          <p:nvPr/>
        </p:nvSpPr>
        <p:spPr>
          <a:xfrm>
            <a:off x="11612880" y="6428232"/>
            <a:ext cx="457200" cy="274320"/>
          </a:xfrm>
          <a:prstGeom prst="rect">
            <a:avLst/>
          </a:prstGeom>
          <a:noFill/>
        </p:spPr>
        <p:txBody>
          <a:bodyPr wrap="square">
            <a:spAutoFit/>
          </a:bodyPr>
          <a:lstStyle/>
          <a:p>
            <a:pPr algn="r"/>
            <a:r>
              <a:rPr sz="1200" b="0" i="0">
                <a:solidFill>
                  <a:srgbClr val="595959"/>
                </a:solidFill>
              </a:rPr>
              <a:t>10</a:t>
            </a:r>
          </a:p>
        </p:txBody>
      </p:sp>
      <p:pic>
        <p:nvPicPr>
          <p:cNvPr id="8" name="Picture 7" descr="Horizontal bar chart of the dominant reason behind each of 100 customer messages. Nothing, they are content: 36. The product itself: 26. Cost: 19. How we handled them: 8. Something on their side: 7. A competitor: 4."/>
          <p:cNvPicPr>
            <a:picLocks noChangeAspect="1"/>
          </p:cNvPicPr>
          <p:nvPr/>
        </p:nvPicPr>
        <p:blipFill>
          <a:blip r:embed="rId2"/>
          <a:stretch>
            <a:fillRect/>
          </a:stretch>
        </p:blipFill>
        <p:spPr>
          <a:xfrm>
            <a:off x="411480" y="1298448"/>
            <a:ext cx="5669280" cy="3246874"/>
          </a:xfrm>
          <a:prstGeom prst="rect">
            <a:avLst/>
          </a:prstGeom>
        </p:spPr>
      </p:pic>
      <p:sp>
        <p:nvSpPr>
          <p:cNvPr id="9" name="TextBox 8"/>
          <p:cNvSpPr txBox="1"/>
          <p:nvPr/>
        </p:nvSpPr>
        <p:spPr>
          <a:xfrm>
            <a:off x="457200" y="5138928"/>
            <a:ext cx="5577840" cy="1005840"/>
          </a:xfrm>
          <a:prstGeom prst="rect">
            <a:avLst/>
          </a:prstGeom>
          <a:noFill/>
        </p:spPr>
        <p:txBody>
          <a:bodyPr wrap="square">
            <a:spAutoFit/>
          </a:bodyPr>
          <a:lstStyle/>
          <a:p>
            <a:pPr algn="l"/>
            <a:r>
              <a:rPr sz="1400" b="0" i="0">
                <a:solidFill>
                  <a:srgbClr val="595959"/>
                </a:solidFill>
              </a:rPr>
              <a:t>Each message was sorted into a single dominant reason. Just over a third raised no issue at all, which is itself useful: it separates the genuinely content from the merely quiet.</a:t>
            </a:r>
          </a:p>
        </p:txBody>
      </p:sp>
      <p:pic>
        <p:nvPicPr>
          <p:cNvPr id="10" name="Picture 9" descr="Horizontal bar chart of how certain the model was about the recommended action for each customer group, against a 0.50 review threshold. Hibernating 1.00, Need Attention 0.98, Lost 0.94, New Customer 0.92, Promising 0.64, Champions 0.64, Loyal 0.49 and Potential Loyalist 0.45. The last two fall below the threshold and are flagged for analyst review."/>
          <p:cNvPicPr>
            <a:picLocks noChangeAspect="1"/>
          </p:cNvPicPr>
          <p:nvPr/>
        </p:nvPicPr>
        <p:blipFill>
          <a:blip r:embed="rId3"/>
          <a:stretch>
            <a:fillRect/>
          </a:stretch>
        </p:blipFill>
        <p:spPr>
          <a:xfrm>
            <a:off x="6281928" y="1298448"/>
            <a:ext cx="5669280" cy="3242624"/>
          </a:xfrm>
          <a:prstGeom prst="rect">
            <a:avLst/>
          </a:prstGeom>
        </p:spPr>
      </p:pic>
      <p:sp>
        <p:nvSpPr>
          <p:cNvPr id="11" name="TextBox 10"/>
          <p:cNvSpPr txBox="1"/>
          <p:nvPr/>
        </p:nvSpPr>
        <p:spPr>
          <a:xfrm>
            <a:off x="6327648" y="5138928"/>
            <a:ext cx="5577840" cy="1005840"/>
          </a:xfrm>
          <a:prstGeom prst="rect">
            <a:avLst/>
          </a:prstGeom>
          <a:noFill/>
        </p:spPr>
        <p:txBody>
          <a:bodyPr wrap="square">
            <a:spAutoFit/>
          </a:bodyPr>
          <a:lstStyle/>
          <a:p>
            <a:pPr algn="l"/>
            <a:r>
              <a:rPr sz="1400" b="0" i="0">
                <a:solidFill>
                  <a:srgbClr val="595959"/>
                </a:solidFill>
              </a:rPr>
              <a:t>The model reports its own certainty. Where one play was clearly right it says so; where several were defensible it does not pretend otherwise, and those go to an analyst rather than onto a recommendation slide.</a:t>
            </a:r>
          </a:p>
        </p:txBody>
      </p:sp>
      <p:sp>
        <p:nvSpPr>
          <p:cNvPr id="12" name="TextBox 11"/>
          <p:cNvSpPr txBox="1"/>
          <p:nvPr/>
        </p:nvSpPr>
        <p:spPr>
          <a:xfrm>
            <a:off x="411480" y="6199632"/>
            <a:ext cx="11430000" cy="237744"/>
          </a:xfrm>
          <a:prstGeom prst="rect">
            <a:avLst/>
          </a:prstGeom>
          <a:noFill/>
        </p:spPr>
        <p:txBody>
          <a:bodyPr wrap="square">
            <a:spAutoFit/>
          </a:bodyPr>
          <a:lstStyle/>
          <a:p>
            <a:pPr algn="l"/>
            <a:r>
              <a:rPr sz="1200" b="0" i="1">
                <a:solidFill>
                  <a:srgbClr val="595959"/>
                </a:solidFill>
              </a:rPr>
              <a:t>Customer messages are illustrative sample text, not real customer data. Replace with real support and survey data before acting on named accounts.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515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82296"/>
            <a:ext cx="11430000" cy="475488"/>
          </a:xfrm>
          <a:prstGeom prst="rect">
            <a:avLst/>
          </a:prstGeom>
          <a:noFill/>
        </p:spPr>
        <p:txBody>
          <a:bodyPr wrap="square">
            <a:spAutoFit/>
          </a:bodyPr>
          <a:lstStyle/>
          <a:p>
            <a:pPr algn="l"/>
            <a:r>
              <a:rPr sz="2800" b="1" i="0">
                <a:solidFill>
                  <a:srgbClr val="FFFFFF"/>
                </a:solidFill>
              </a:rPr>
              <a:t>Strategic Recommendations</a:t>
            </a:r>
          </a:p>
        </p:txBody>
      </p:sp>
      <p:sp>
        <p:nvSpPr>
          <p:cNvPr id="4" name="TextBox 3"/>
          <p:cNvSpPr txBox="1"/>
          <p:nvPr/>
        </p:nvSpPr>
        <p:spPr>
          <a:xfrm>
            <a:off x="365760" y="566928"/>
            <a:ext cx="11430000" cy="310896"/>
          </a:xfrm>
          <a:prstGeom prst="rect">
            <a:avLst/>
          </a:prstGeom>
          <a:noFill/>
        </p:spPr>
        <p:txBody>
          <a:bodyPr wrap="square">
            <a:spAutoFit/>
          </a:bodyPr>
          <a:lstStyle/>
          <a:p>
            <a:pPr algn="l"/>
            <a:r>
              <a:rPr sz="1500" b="0" i="0">
                <a:solidFill>
                  <a:srgbClr val="BDD7EE"/>
                </a:solidFill>
              </a:rPr>
              <a:t>Plays selected against current data, highest portfolio value first</a:t>
            </a:r>
          </a:p>
        </p:txBody>
      </p:sp>
      <p:cxnSp>
        <p:nvCxnSpPr>
          <p:cNvPr id="5" name="Connector 4"/>
          <p:cNvCxnSpPr/>
          <p:nvPr/>
        </p:nvCxnSpPr>
        <p:spPr>
          <a:xfrm>
            <a:off x="365760" y="6473952"/>
            <a:ext cx="11457432" cy="0"/>
          </a:xfrm>
          <a:prstGeom prst="line">
            <a:avLst/>
          </a:prstGeom>
          <a:ln w="6350">
            <a:solidFill>
              <a:srgbClr val="D6D6D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65760" y="6510528"/>
            <a:ext cx="5486400" cy="256032"/>
          </a:xfrm>
          <a:prstGeom prst="rect">
            <a:avLst/>
          </a:prstGeom>
          <a:noFill/>
        </p:spPr>
        <p:txBody>
          <a:bodyPr wrap="square">
            <a:spAutoFit/>
          </a:bodyPr>
          <a:lstStyle/>
          <a:p>
            <a:pPr algn="l"/>
            <a:r>
              <a:rPr sz="1200" b="0" i="0">
                <a:solidFill>
                  <a:srgbClr val="595959"/>
                </a:solidFill>
              </a:rPr>
              <a:t>CONFIDENTIAL — RFM Customer Analysis</a:t>
            </a:r>
          </a:p>
        </p:txBody>
      </p:sp>
      <p:sp>
        <p:nvSpPr>
          <p:cNvPr id="7" name="TextBox 6"/>
          <p:cNvSpPr txBox="1"/>
          <p:nvPr/>
        </p:nvSpPr>
        <p:spPr>
          <a:xfrm>
            <a:off x="11612880" y="6428232"/>
            <a:ext cx="457200" cy="274320"/>
          </a:xfrm>
          <a:prstGeom prst="rect">
            <a:avLst/>
          </a:prstGeom>
          <a:noFill/>
        </p:spPr>
        <p:txBody>
          <a:bodyPr wrap="square">
            <a:spAutoFit/>
          </a:bodyPr>
          <a:lstStyle/>
          <a:p>
            <a:pPr algn="r"/>
            <a:r>
              <a:rPr sz="1200" b="0" i="0">
                <a:solidFill>
                  <a:srgbClr val="595959"/>
                </a:solidFill>
              </a:rPr>
              <a:t>11</a:t>
            </a:r>
          </a:p>
        </p:txBody>
      </p:sp>
      <p:sp>
        <p:nvSpPr>
          <p:cNvPr id="8" name="Rectangle 7"/>
          <p:cNvSpPr/>
          <p:nvPr/>
        </p:nvSpPr>
        <p:spPr>
          <a:xfrm>
            <a:off x="365760" y="1188720"/>
            <a:ext cx="5623560" cy="2487168"/>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188720"/>
            <a:ext cx="82296" cy="2487168"/>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271016"/>
            <a:ext cx="5166360" cy="274320"/>
          </a:xfrm>
          <a:prstGeom prst="rect">
            <a:avLst/>
          </a:prstGeom>
          <a:noFill/>
        </p:spPr>
        <p:txBody>
          <a:bodyPr wrap="square">
            <a:spAutoFit/>
          </a:bodyPr>
          <a:lstStyle/>
          <a:p>
            <a:pPr algn="l"/>
            <a:r>
              <a:rPr sz="1300" b="1" i="0">
                <a:solidFill>
                  <a:srgbClr val="0070C0"/>
                </a:solidFill>
              </a:rPr>
              <a:t>DEFEND  ·  CHAMPIONS</a:t>
            </a:r>
          </a:p>
        </p:txBody>
      </p:sp>
      <p:sp>
        <p:nvSpPr>
          <p:cNvPr id="11" name="TextBox 10"/>
          <p:cNvSpPr txBox="1"/>
          <p:nvPr/>
        </p:nvSpPr>
        <p:spPr>
          <a:xfrm>
            <a:off x="621792" y="1536192"/>
            <a:ext cx="5166360" cy="384048"/>
          </a:xfrm>
          <a:prstGeom prst="rect">
            <a:avLst/>
          </a:prstGeom>
          <a:noFill/>
        </p:spPr>
        <p:txBody>
          <a:bodyPr wrap="square">
            <a:spAutoFit/>
          </a:bodyPr>
          <a:lstStyle/>
          <a:p>
            <a:pPr algn="l"/>
            <a:r>
              <a:rPr sz="2200" b="1" i="0">
                <a:solidFill>
                  <a:srgbClr val="1A1A1A"/>
                </a:solidFill>
              </a:rPr>
              <a:t>Formalise a VIP tier</a:t>
            </a:r>
          </a:p>
        </p:txBody>
      </p:sp>
      <p:sp>
        <p:nvSpPr>
          <p:cNvPr id="12" name="TextBox 11"/>
          <p:cNvSpPr txBox="1"/>
          <p:nvPr/>
        </p:nvSpPr>
        <p:spPr>
          <a:xfrm>
            <a:off x="621792" y="1993392"/>
            <a:ext cx="5166360" cy="475488"/>
          </a:xfrm>
          <a:prstGeom prst="rect">
            <a:avLst/>
          </a:prstGeom>
          <a:noFill/>
        </p:spPr>
        <p:txBody>
          <a:bodyPr wrap="square">
            <a:spAutoFit/>
          </a:bodyPr>
          <a:lstStyle/>
          <a:p>
            <a:pPr algn="l"/>
            <a:r>
              <a:rPr sz="1600" b="0" i="0">
                <a:solidFill>
                  <a:srgbClr val="595959"/>
                </a:solidFill>
              </a:rPr>
              <a:t>–  Dedicated contact, early access, exclusive pricing</a:t>
            </a:r>
          </a:p>
        </p:txBody>
      </p:sp>
      <p:sp>
        <p:nvSpPr>
          <p:cNvPr id="13" name="TextBox 12"/>
          <p:cNvSpPr txBox="1"/>
          <p:nvPr/>
        </p:nvSpPr>
        <p:spPr>
          <a:xfrm>
            <a:off x="621792" y="2505456"/>
            <a:ext cx="5166360" cy="475488"/>
          </a:xfrm>
          <a:prstGeom prst="rect">
            <a:avLst/>
          </a:prstGeom>
          <a:noFill/>
        </p:spPr>
        <p:txBody>
          <a:bodyPr wrap="square">
            <a:spAutoFit/>
          </a:bodyPr>
          <a:lstStyle/>
          <a:p>
            <a:pPr algn="l"/>
            <a:r>
              <a:rPr sz="1600" b="0" i="0">
                <a:solidFill>
                  <a:srgbClr val="595959"/>
                </a:solidFill>
              </a:rPr>
              <a:t>–  7 customers  ·  $9,882 CLV  ·  Account management</a:t>
            </a:r>
          </a:p>
        </p:txBody>
      </p:sp>
      <p:sp>
        <p:nvSpPr>
          <p:cNvPr id="14" name="TextBox 13"/>
          <p:cNvSpPr txBox="1"/>
          <p:nvPr/>
        </p:nvSpPr>
        <p:spPr>
          <a:xfrm>
            <a:off x="621792" y="3017520"/>
            <a:ext cx="5166360" cy="475488"/>
          </a:xfrm>
          <a:prstGeom prst="rect">
            <a:avLst/>
          </a:prstGeom>
          <a:noFill/>
        </p:spPr>
        <p:txBody>
          <a:bodyPr wrap="square">
            <a:spAutoFit/>
          </a:bodyPr>
          <a:lstStyle/>
          <a:p>
            <a:pPr algn="l"/>
            <a:r>
              <a:rPr sz="1600" b="0" i="0">
                <a:solidFill>
                  <a:srgbClr val="595959"/>
                </a:solidFill>
              </a:rPr>
              <a:t>–  Urgency 0.2 of 3  ·  confidence 0.64</a:t>
            </a:r>
          </a:p>
        </p:txBody>
      </p:sp>
      <p:sp>
        <p:nvSpPr>
          <p:cNvPr id="15" name="Rectangle 14"/>
          <p:cNvSpPr/>
          <p:nvPr/>
        </p:nvSpPr>
        <p:spPr>
          <a:xfrm>
            <a:off x="6236208" y="1188720"/>
            <a:ext cx="5623560" cy="2487168"/>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36208" y="1188720"/>
            <a:ext cx="82296" cy="2487168"/>
          </a:xfrm>
          <a:prstGeom prst="rect">
            <a:avLst/>
          </a:prstGeom>
          <a:solidFill>
            <a:srgbClr val="007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1271016"/>
            <a:ext cx="5166360" cy="274320"/>
          </a:xfrm>
          <a:prstGeom prst="rect">
            <a:avLst/>
          </a:prstGeom>
          <a:noFill/>
        </p:spPr>
        <p:txBody>
          <a:bodyPr wrap="square">
            <a:spAutoFit/>
          </a:bodyPr>
          <a:lstStyle/>
          <a:p>
            <a:pPr algn="l"/>
            <a:r>
              <a:rPr sz="1300" b="1" i="0">
                <a:solidFill>
                  <a:srgbClr val="007050"/>
                </a:solidFill>
              </a:rPr>
              <a:t>GROW  ·  POTENTIAL LOYALIST</a:t>
            </a:r>
          </a:p>
        </p:txBody>
      </p:sp>
      <p:sp>
        <p:nvSpPr>
          <p:cNvPr id="18" name="TextBox 17"/>
          <p:cNvSpPr txBox="1"/>
          <p:nvPr/>
        </p:nvSpPr>
        <p:spPr>
          <a:xfrm>
            <a:off x="6492240" y="1536192"/>
            <a:ext cx="5166360" cy="384048"/>
          </a:xfrm>
          <a:prstGeom prst="rect">
            <a:avLst/>
          </a:prstGeom>
          <a:noFill/>
        </p:spPr>
        <p:txBody>
          <a:bodyPr wrap="square">
            <a:spAutoFit/>
          </a:bodyPr>
          <a:lstStyle/>
          <a:p>
            <a:pPr algn="l"/>
            <a:r>
              <a:rPr sz="2200" b="1" i="0">
                <a:solidFill>
                  <a:srgbClr val="1A1A1A"/>
                </a:solidFill>
              </a:rPr>
              <a:t>Onboard into the loyalty programme</a:t>
            </a:r>
          </a:p>
        </p:txBody>
      </p:sp>
      <p:sp>
        <p:nvSpPr>
          <p:cNvPr id="19" name="TextBox 18"/>
          <p:cNvSpPr txBox="1"/>
          <p:nvPr/>
        </p:nvSpPr>
        <p:spPr>
          <a:xfrm>
            <a:off x="6492240" y="1993392"/>
            <a:ext cx="5166360" cy="475488"/>
          </a:xfrm>
          <a:prstGeom prst="rect">
            <a:avLst/>
          </a:prstGeom>
          <a:noFill/>
        </p:spPr>
        <p:txBody>
          <a:bodyPr wrap="square">
            <a:spAutoFit/>
          </a:bodyPr>
          <a:lstStyle/>
          <a:p>
            <a:pPr algn="l"/>
            <a:r>
              <a:rPr sz="1600" b="0" i="0">
                <a:solidFill>
                  <a:srgbClr val="595959"/>
                </a:solidFill>
              </a:rPr>
              <a:t>–  Structured nurture into the loyalty programme</a:t>
            </a:r>
          </a:p>
        </p:txBody>
      </p:sp>
      <p:sp>
        <p:nvSpPr>
          <p:cNvPr id="20" name="TextBox 19"/>
          <p:cNvSpPr txBox="1"/>
          <p:nvPr/>
        </p:nvSpPr>
        <p:spPr>
          <a:xfrm>
            <a:off x="6492240" y="2505456"/>
            <a:ext cx="5166360" cy="475488"/>
          </a:xfrm>
          <a:prstGeom prst="rect">
            <a:avLst/>
          </a:prstGeom>
          <a:noFill/>
        </p:spPr>
        <p:txBody>
          <a:bodyPr wrap="square">
            <a:spAutoFit/>
          </a:bodyPr>
          <a:lstStyle/>
          <a:p>
            <a:pPr algn="l"/>
            <a:r>
              <a:rPr sz="1600" b="0" i="0">
                <a:solidFill>
                  <a:srgbClr val="595959"/>
                </a:solidFill>
              </a:rPr>
              <a:t>–  15 customers  ·  $8,992 CLV  ·  Email campaign</a:t>
            </a:r>
          </a:p>
        </p:txBody>
      </p:sp>
      <p:sp>
        <p:nvSpPr>
          <p:cNvPr id="21" name="TextBox 20"/>
          <p:cNvSpPr txBox="1"/>
          <p:nvPr/>
        </p:nvSpPr>
        <p:spPr>
          <a:xfrm>
            <a:off x="6492240" y="3017520"/>
            <a:ext cx="5166360" cy="475488"/>
          </a:xfrm>
          <a:prstGeom prst="rect">
            <a:avLst/>
          </a:prstGeom>
          <a:noFill/>
        </p:spPr>
        <p:txBody>
          <a:bodyPr wrap="square">
            <a:spAutoFit/>
          </a:bodyPr>
          <a:lstStyle/>
          <a:p>
            <a:pPr algn="l"/>
            <a:r>
              <a:rPr sz="1600" b="0" i="0">
                <a:solidFill>
                  <a:srgbClr val="595959"/>
                </a:solidFill>
              </a:rPr>
              <a:t>–  Urgency 0.5 of 3  ·  ANALYST REVIEW · confidence 0.45</a:t>
            </a:r>
          </a:p>
        </p:txBody>
      </p:sp>
      <p:sp>
        <p:nvSpPr>
          <p:cNvPr id="22" name="Rectangle 21"/>
          <p:cNvSpPr/>
          <p:nvPr/>
        </p:nvSpPr>
        <p:spPr>
          <a:xfrm>
            <a:off x="365760" y="3886200"/>
            <a:ext cx="5623560" cy="2487168"/>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5760" y="3886200"/>
            <a:ext cx="82296" cy="2487168"/>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3968496"/>
            <a:ext cx="5166360" cy="274320"/>
          </a:xfrm>
          <a:prstGeom prst="rect">
            <a:avLst/>
          </a:prstGeom>
          <a:noFill/>
        </p:spPr>
        <p:txBody>
          <a:bodyPr wrap="square">
            <a:spAutoFit/>
          </a:bodyPr>
          <a:lstStyle/>
          <a:p>
            <a:pPr algn="l"/>
            <a:r>
              <a:rPr sz="1300" b="1" i="0">
                <a:solidFill>
                  <a:srgbClr val="0070C0"/>
                </a:solidFill>
              </a:rPr>
              <a:t>DEFEND  ·  LOYAL</a:t>
            </a:r>
          </a:p>
        </p:txBody>
      </p:sp>
      <p:sp>
        <p:nvSpPr>
          <p:cNvPr id="25" name="TextBox 24"/>
          <p:cNvSpPr txBox="1"/>
          <p:nvPr/>
        </p:nvSpPr>
        <p:spPr>
          <a:xfrm>
            <a:off x="621792" y="4233672"/>
            <a:ext cx="5166360" cy="384048"/>
          </a:xfrm>
          <a:prstGeom prst="rect">
            <a:avLst/>
          </a:prstGeom>
          <a:noFill/>
        </p:spPr>
        <p:txBody>
          <a:bodyPr wrap="square">
            <a:spAutoFit/>
          </a:bodyPr>
          <a:lstStyle/>
          <a:p>
            <a:pPr algn="l"/>
            <a:r>
              <a:rPr sz="2200" b="1" i="0">
                <a:solidFill>
                  <a:srgbClr val="1A1A1A"/>
                </a:solidFill>
              </a:rPr>
              <a:t>Run a service recovery</a:t>
            </a:r>
          </a:p>
        </p:txBody>
      </p:sp>
      <p:sp>
        <p:nvSpPr>
          <p:cNvPr id="26" name="TextBox 25"/>
          <p:cNvSpPr txBox="1"/>
          <p:nvPr/>
        </p:nvSpPr>
        <p:spPr>
          <a:xfrm>
            <a:off x="621792" y="4690872"/>
            <a:ext cx="5166360" cy="475488"/>
          </a:xfrm>
          <a:prstGeom prst="rect">
            <a:avLst/>
          </a:prstGeom>
          <a:noFill/>
        </p:spPr>
        <p:txBody>
          <a:bodyPr wrap="square">
            <a:spAutoFit/>
          </a:bodyPr>
          <a:lstStyle/>
          <a:p>
            <a:pPr algn="l"/>
            <a:r>
              <a:rPr sz="1600" b="0" i="0">
                <a:solidFill>
                  <a:srgbClr val="595959"/>
                </a:solidFill>
              </a:rPr>
              <a:t>–  Name the failure, fix it, compensate, close the loop</a:t>
            </a:r>
          </a:p>
        </p:txBody>
      </p:sp>
      <p:sp>
        <p:nvSpPr>
          <p:cNvPr id="27" name="TextBox 26"/>
          <p:cNvSpPr txBox="1"/>
          <p:nvPr/>
        </p:nvSpPr>
        <p:spPr>
          <a:xfrm>
            <a:off x="621792" y="5202936"/>
            <a:ext cx="5166360" cy="475488"/>
          </a:xfrm>
          <a:prstGeom prst="rect">
            <a:avLst/>
          </a:prstGeom>
          <a:noFill/>
        </p:spPr>
        <p:txBody>
          <a:bodyPr wrap="square">
            <a:spAutoFit/>
          </a:bodyPr>
          <a:lstStyle/>
          <a:p>
            <a:pPr algn="l"/>
            <a:r>
              <a:rPr sz="1600" b="0" i="0">
                <a:solidFill>
                  <a:srgbClr val="595959"/>
                </a:solidFill>
              </a:rPr>
              <a:t>–  8 customers  ·  $6,655 CLV  ·  Human — manager</a:t>
            </a:r>
          </a:p>
        </p:txBody>
      </p:sp>
      <p:sp>
        <p:nvSpPr>
          <p:cNvPr id="28" name="TextBox 27"/>
          <p:cNvSpPr txBox="1"/>
          <p:nvPr/>
        </p:nvSpPr>
        <p:spPr>
          <a:xfrm>
            <a:off x="621792" y="5715000"/>
            <a:ext cx="5166360" cy="475488"/>
          </a:xfrm>
          <a:prstGeom prst="rect">
            <a:avLst/>
          </a:prstGeom>
          <a:noFill/>
        </p:spPr>
        <p:txBody>
          <a:bodyPr wrap="square">
            <a:spAutoFit/>
          </a:bodyPr>
          <a:lstStyle/>
          <a:p>
            <a:pPr algn="l"/>
            <a:r>
              <a:rPr sz="1600" b="0" i="0">
                <a:solidFill>
                  <a:srgbClr val="595959"/>
                </a:solidFill>
              </a:rPr>
              <a:t>–  Urgency 0.6 of 3  ·  ANALYST REVIEW · confidence 0.49</a:t>
            </a:r>
          </a:p>
        </p:txBody>
      </p:sp>
      <p:sp>
        <p:nvSpPr>
          <p:cNvPr id="29" name="Rectangle 28"/>
          <p:cNvSpPr/>
          <p:nvPr/>
        </p:nvSpPr>
        <p:spPr>
          <a:xfrm>
            <a:off x="6236208" y="3886200"/>
            <a:ext cx="5623560" cy="2487168"/>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36208" y="3886200"/>
            <a:ext cx="82296" cy="248716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92240" y="3968496"/>
            <a:ext cx="5166360" cy="274320"/>
          </a:xfrm>
          <a:prstGeom prst="rect">
            <a:avLst/>
          </a:prstGeom>
          <a:noFill/>
        </p:spPr>
        <p:txBody>
          <a:bodyPr wrap="square">
            <a:spAutoFit/>
          </a:bodyPr>
          <a:lstStyle/>
          <a:p>
            <a:pPr algn="l"/>
            <a:r>
              <a:rPr sz="1300" b="1" i="0">
                <a:solidFill>
                  <a:srgbClr val="C00000"/>
                </a:solidFill>
              </a:rPr>
              <a:t>RECOVER  ·  HIBERNATING</a:t>
            </a:r>
          </a:p>
        </p:txBody>
      </p:sp>
      <p:sp>
        <p:nvSpPr>
          <p:cNvPr id="32" name="TextBox 31"/>
          <p:cNvSpPr txBox="1"/>
          <p:nvPr/>
        </p:nvSpPr>
        <p:spPr>
          <a:xfrm>
            <a:off x="6492240" y="4233672"/>
            <a:ext cx="5166360" cy="384048"/>
          </a:xfrm>
          <a:prstGeom prst="rect">
            <a:avLst/>
          </a:prstGeom>
          <a:noFill/>
        </p:spPr>
        <p:txBody>
          <a:bodyPr wrap="square">
            <a:spAutoFit/>
          </a:bodyPr>
          <a:lstStyle/>
          <a:p>
            <a:pPr algn="l"/>
            <a:r>
              <a:rPr sz="2200" b="1" i="0">
                <a:solidFill>
                  <a:srgbClr val="1A1A1A"/>
                </a:solidFill>
              </a:rPr>
              <a:t>Time-boxed win-back</a:t>
            </a:r>
          </a:p>
        </p:txBody>
      </p:sp>
      <p:sp>
        <p:nvSpPr>
          <p:cNvPr id="33" name="TextBox 32"/>
          <p:cNvSpPr txBox="1"/>
          <p:nvPr/>
        </p:nvSpPr>
        <p:spPr>
          <a:xfrm>
            <a:off x="6492240" y="4690872"/>
            <a:ext cx="5166360" cy="475488"/>
          </a:xfrm>
          <a:prstGeom prst="rect">
            <a:avLst/>
          </a:prstGeom>
          <a:noFill/>
        </p:spPr>
        <p:txBody>
          <a:bodyPr wrap="square">
            <a:spAutoFit/>
          </a:bodyPr>
          <a:lstStyle/>
          <a:p>
            <a:pPr algn="l"/>
            <a:r>
              <a:rPr sz="1600" b="0" i="0">
                <a:solidFill>
                  <a:srgbClr val="595959"/>
                </a:solidFill>
              </a:rPr>
              <a:t>–  Expiring reactivation offer, with a control group</a:t>
            </a:r>
          </a:p>
        </p:txBody>
      </p:sp>
      <p:sp>
        <p:nvSpPr>
          <p:cNvPr id="34" name="TextBox 33"/>
          <p:cNvSpPr txBox="1"/>
          <p:nvPr/>
        </p:nvSpPr>
        <p:spPr>
          <a:xfrm>
            <a:off x="6492240" y="5202936"/>
            <a:ext cx="5166360" cy="475488"/>
          </a:xfrm>
          <a:prstGeom prst="rect">
            <a:avLst/>
          </a:prstGeom>
          <a:noFill/>
        </p:spPr>
        <p:txBody>
          <a:bodyPr wrap="square">
            <a:spAutoFit/>
          </a:bodyPr>
          <a:lstStyle/>
          <a:p>
            <a:pPr algn="l"/>
            <a:r>
              <a:rPr sz="1600" b="0" i="0">
                <a:solidFill>
                  <a:srgbClr val="595959"/>
                </a:solidFill>
              </a:rPr>
              <a:t>–  20 customers  ·  $3,842 CLV  ·  Email campaign</a:t>
            </a:r>
          </a:p>
        </p:txBody>
      </p:sp>
      <p:sp>
        <p:nvSpPr>
          <p:cNvPr id="35" name="TextBox 34"/>
          <p:cNvSpPr txBox="1"/>
          <p:nvPr/>
        </p:nvSpPr>
        <p:spPr>
          <a:xfrm>
            <a:off x="6492240" y="5715000"/>
            <a:ext cx="5166360" cy="475488"/>
          </a:xfrm>
          <a:prstGeom prst="rect">
            <a:avLst/>
          </a:prstGeom>
          <a:noFill/>
        </p:spPr>
        <p:txBody>
          <a:bodyPr wrap="square">
            <a:spAutoFit/>
          </a:bodyPr>
          <a:lstStyle/>
          <a:p>
            <a:pPr algn="l"/>
            <a:r>
              <a:rPr sz="1600" b="0" i="0">
                <a:solidFill>
                  <a:srgbClr val="595959"/>
                </a:solidFill>
              </a:rPr>
              <a:t>–  Urgency 1.9 of 3  ·  confidence 1.00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515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82296"/>
            <a:ext cx="11430000" cy="475488"/>
          </a:xfrm>
          <a:prstGeom prst="rect">
            <a:avLst/>
          </a:prstGeom>
          <a:noFill/>
        </p:spPr>
        <p:txBody>
          <a:bodyPr wrap="square">
            <a:spAutoFit/>
          </a:bodyPr>
          <a:lstStyle/>
          <a:p>
            <a:pPr algn="l"/>
            <a:r>
              <a:rPr sz="2800" b="1" i="0">
                <a:solidFill>
                  <a:srgbClr val="FFFFFF"/>
                </a:solidFill>
              </a:rPr>
              <a:t>Next Steps</a:t>
            </a:r>
          </a:p>
        </p:txBody>
      </p:sp>
      <p:sp>
        <p:nvSpPr>
          <p:cNvPr id="4" name="TextBox 3"/>
          <p:cNvSpPr txBox="1"/>
          <p:nvPr/>
        </p:nvSpPr>
        <p:spPr>
          <a:xfrm>
            <a:off x="365760" y="566928"/>
            <a:ext cx="11430000" cy="310896"/>
          </a:xfrm>
          <a:prstGeom prst="rect">
            <a:avLst/>
          </a:prstGeom>
          <a:noFill/>
        </p:spPr>
        <p:txBody>
          <a:bodyPr wrap="square">
            <a:spAutoFit/>
          </a:bodyPr>
          <a:lstStyle/>
          <a:p>
            <a:pPr algn="l"/>
            <a:r>
              <a:rPr sz="1500" b="0" i="0">
                <a:solidFill>
                  <a:srgbClr val="BDD7EE"/>
                </a:solidFill>
              </a:rPr>
              <a:t>Proposed 90-day roadmap to operationalise findings</a:t>
            </a:r>
          </a:p>
        </p:txBody>
      </p:sp>
      <p:cxnSp>
        <p:nvCxnSpPr>
          <p:cNvPr id="5" name="Connector 4"/>
          <p:cNvCxnSpPr/>
          <p:nvPr/>
        </p:nvCxnSpPr>
        <p:spPr>
          <a:xfrm>
            <a:off x="365760" y="6473952"/>
            <a:ext cx="11457432" cy="0"/>
          </a:xfrm>
          <a:prstGeom prst="line">
            <a:avLst/>
          </a:prstGeom>
          <a:ln w="6350">
            <a:solidFill>
              <a:srgbClr val="D6D6D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65760" y="6510528"/>
            <a:ext cx="5486400" cy="256032"/>
          </a:xfrm>
          <a:prstGeom prst="rect">
            <a:avLst/>
          </a:prstGeom>
          <a:noFill/>
        </p:spPr>
        <p:txBody>
          <a:bodyPr wrap="square">
            <a:spAutoFit/>
          </a:bodyPr>
          <a:lstStyle/>
          <a:p>
            <a:pPr algn="l"/>
            <a:r>
              <a:rPr sz="1200" b="0" i="0">
                <a:solidFill>
                  <a:srgbClr val="595959"/>
                </a:solidFill>
              </a:rPr>
              <a:t>CONFIDENTIAL — RFM Customer Analysis</a:t>
            </a:r>
          </a:p>
        </p:txBody>
      </p:sp>
      <p:sp>
        <p:nvSpPr>
          <p:cNvPr id="7" name="TextBox 6"/>
          <p:cNvSpPr txBox="1"/>
          <p:nvPr/>
        </p:nvSpPr>
        <p:spPr>
          <a:xfrm>
            <a:off x="11612880" y="6428232"/>
            <a:ext cx="457200" cy="274320"/>
          </a:xfrm>
          <a:prstGeom prst="rect">
            <a:avLst/>
          </a:prstGeom>
          <a:noFill/>
        </p:spPr>
        <p:txBody>
          <a:bodyPr wrap="square">
            <a:spAutoFit/>
          </a:bodyPr>
          <a:lstStyle/>
          <a:p>
            <a:pPr algn="r"/>
            <a:r>
              <a:rPr sz="1200" b="0" i="0">
                <a:solidFill>
                  <a:srgbClr val="595959"/>
                </a:solidFill>
              </a:rPr>
              <a:t>12</a:t>
            </a:r>
          </a:p>
        </p:txBody>
      </p:sp>
      <p:sp>
        <p:nvSpPr>
          <p:cNvPr id="8" name="Rectangle 7"/>
          <p:cNvSpPr/>
          <p:nvPr/>
        </p:nvSpPr>
        <p:spPr>
          <a:xfrm>
            <a:off x="365760" y="1143000"/>
            <a:ext cx="3611880" cy="50292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143000"/>
            <a:ext cx="3611880" cy="64008"/>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298448"/>
            <a:ext cx="3200400" cy="548640"/>
          </a:xfrm>
          <a:prstGeom prst="rect">
            <a:avLst/>
          </a:prstGeom>
          <a:noFill/>
        </p:spPr>
        <p:txBody>
          <a:bodyPr wrap="square">
            <a:spAutoFit/>
          </a:bodyPr>
          <a:lstStyle/>
          <a:p>
            <a:pPr algn="l"/>
            <a:r>
              <a:rPr sz="1800" b="1" i="0">
                <a:solidFill>
                  <a:srgbClr val="0070C0"/>
                </a:solidFill>
              </a:rPr>
              <a:t>Days 1–30
Foundation</a:t>
            </a:r>
          </a:p>
        </p:txBody>
      </p:sp>
      <p:sp>
        <p:nvSpPr>
          <p:cNvPr id="11" name="Rectangle 10"/>
          <p:cNvSpPr/>
          <p:nvPr/>
        </p:nvSpPr>
        <p:spPr>
          <a:xfrm>
            <a:off x="566928" y="2139696"/>
            <a:ext cx="182880" cy="182880"/>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048256"/>
            <a:ext cx="2926080" cy="841248"/>
          </a:xfrm>
          <a:prstGeom prst="rect">
            <a:avLst/>
          </a:prstGeom>
          <a:noFill/>
        </p:spPr>
        <p:txBody>
          <a:bodyPr wrap="square">
            <a:spAutoFit/>
          </a:bodyPr>
          <a:lstStyle/>
          <a:p>
            <a:pPr algn="l"/>
            <a:r>
              <a:rPr sz="1600" b="0" i="0">
                <a:solidFill>
                  <a:srgbClr val="1A1A1A"/>
                </a:solidFill>
              </a:rPr>
              <a:t>Validate RFM scores against CRM and transaction data</a:t>
            </a:r>
          </a:p>
        </p:txBody>
      </p:sp>
      <p:sp>
        <p:nvSpPr>
          <p:cNvPr id="13" name="Rectangle 12"/>
          <p:cNvSpPr/>
          <p:nvPr/>
        </p:nvSpPr>
        <p:spPr>
          <a:xfrm>
            <a:off x="566928" y="3072384"/>
            <a:ext cx="182880" cy="182880"/>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2980944"/>
            <a:ext cx="2926080" cy="841248"/>
          </a:xfrm>
          <a:prstGeom prst="rect">
            <a:avLst/>
          </a:prstGeom>
          <a:noFill/>
        </p:spPr>
        <p:txBody>
          <a:bodyPr wrap="square">
            <a:spAutoFit/>
          </a:bodyPr>
          <a:lstStyle/>
          <a:p>
            <a:pPr algn="l"/>
            <a:r>
              <a:rPr sz="1600" b="0" i="0">
                <a:solidFill>
                  <a:srgbClr val="1A1A1A"/>
                </a:solidFill>
              </a:rPr>
              <a:t>Socialise segmentation with Marketing, CRM, and Analytics teams</a:t>
            </a:r>
          </a:p>
        </p:txBody>
      </p:sp>
      <p:sp>
        <p:nvSpPr>
          <p:cNvPr id="15" name="Rectangle 14"/>
          <p:cNvSpPr/>
          <p:nvPr/>
        </p:nvSpPr>
        <p:spPr>
          <a:xfrm>
            <a:off x="566928" y="4005072"/>
            <a:ext cx="182880" cy="182880"/>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2" y="3913632"/>
            <a:ext cx="2926080" cy="841248"/>
          </a:xfrm>
          <a:prstGeom prst="rect">
            <a:avLst/>
          </a:prstGeom>
          <a:noFill/>
        </p:spPr>
        <p:txBody>
          <a:bodyPr wrap="square">
            <a:spAutoFit/>
          </a:bodyPr>
          <a:lstStyle/>
          <a:p>
            <a:pPr algn="l"/>
            <a:r>
              <a:rPr sz="1600" b="0" i="0">
                <a:solidFill>
                  <a:srgbClr val="1A1A1A"/>
                </a:solidFill>
              </a:rPr>
              <a:t>Define success metrics and baseline KPIs per segment</a:t>
            </a:r>
          </a:p>
        </p:txBody>
      </p:sp>
      <p:sp>
        <p:nvSpPr>
          <p:cNvPr id="17" name="Rectangle 16"/>
          <p:cNvSpPr/>
          <p:nvPr/>
        </p:nvSpPr>
        <p:spPr>
          <a:xfrm>
            <a:off x="566928" y="4937760"/>
            <a:ext cx="182880" cy="182880"/>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4846320"/>
            <a:ext cx="2926080" cy="841248"/>
          </a:xfrm>
          <a:prstGeom prst="rect">
            <a:avLst/>
          </a:prstGeom>
          <a:noFill/>
        </p:spPr>
        <p:txBody>
          <a:bodyPr wrap="square">
            <a:spAutoFit/>
          </a:bodyPr>
          <a:lstStyle/>
          <a:p>
            <a:pPr algn="l"/>
            <a:r>
              <a:rPr sz="1600" b="0" i="0">
                <a:solidFill>
                  <a:srgbClr val="1A1A1A"/>
                </a:solidFill>
              </a:rPr>
              <a:t>Brief CRM team on Champions &amp; Loyal VIP programme design</a:t>
            </a:r>
          </a:p>
        </p:txBody>
      </p:sp>
      <p:sp>
        <p:nvSpPr>
          <p:cNvPr id="19" name="Rectangle 18"/>
          <p:cNvSpPr/>
          <p:nvPr/>
        </p:nvSpPr>
        <p:spPr>
          <a:xfrm>
            <a:off x="4206240" y="1143000"/>
            <a:ext cx="3611880" cy="50292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06240" y="1143000"/>
            <a:ext cx="3611880" cy="64008"/>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89120" y="1298448"/>
            <a:ext cx="3200400" cy="548640"/>
          </a:xfrm>
          <a:prstGeom prst="rect">
            <a:avLst/>
          </a:prstGeom>
          <a:noFill/>
        </p:spPr>
        <p:txBody>
          <a:bodyPr wrap="square">
            <a:spAutoFit/>
          </a:bodyPr>
          <a:lstStyle/>
          <a:p>
            <a:pPr algn="l"/>
            <a:r>
              <a:rPr sz="1800" b="1" i="0">
                <a:solidFill>
                  <a:srgbClr val="003366"/>
                </a:solidFill>
              </a:rPr>
              <a:t>Days 31–60
Activation</a:t>
            </a:r>
          </a:p>
        </p:txBody>
      </p:sp>
      <p:sp>
        <p:nvSpPr>
          <p:cNvPr id="22" name="Rectangle 21"/>
          <p:cNvSpPr/>
          <p:nvPr/>
        </p:nvSpPr>
        <p:spPr>
          <a:xfrm>
            <a:off x="4407408" y="2139696"/>
            <a:ext cx="182880" cy="18288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36592" y="2048256"/>
            <a:ext cx="2926080" cy="841248"/>
          </a:xfrm>
          <a:prstGeom prst="rect">
            <a:avLst/>
          </a:prstGeom>
          <a:noFill/>
        </p:spPr>
        <p:txBody>
          <a:bodyPr wrap="square">
            <a:spAutoFit/>
          </a:bodyPr>
          <a:lstStyle/>
          <a:p>
            <a:pPr algn="l"/>
            <a:r>
              <a:rPr sz="1600" b="0" i="0">
                <a:solidFill>
                  <a:srgbClr val="1A1A1A"/>
                </a:solidFill>
              </a:rPr>
              <a:t>Launch Hibernating win-back email sequence (test vs. control)</a:t>
            </a:r>
          </a:p>
        </p:txBody>
      </p:sp>
      <p:sp>
        <p:nvSpPr>
          <p:cNvPr id="24" name="Rectangle 23"/>
          <p:cNvSpPr/>
          <p:nvPr/>
        </p:nvSpPr>
        <p:spPr>
          <a:xfrm>
            <a:off x="4407408" y="3072384"/>
            <a:ext cx="182880" cy="18288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736592" y="2980944"/>
            <a:ext cx="2926080" cy="841248"/>
          </a:xfrm>
          <a:prstGeom prst="rect">
            <a:avLst/>
          </a:prstGeom>
          <a:noFill/>
        </p:spPr>
        <p:txBody>
          <a:bodyPr wrap="square">
            <a:spAutoFit/>
          </a:bodyPr>
          <a:lstStyle/>
          <a:p>
            <a:pPr algn="l"/>
            <a:r>
              <a:rPr sz="1600" b="0" i="0">
                <a:solidFill>
                  <a:srgbClr val="1A1A1A"/>
                </a:solidFill>
              </a:rPr>
              <a:t>Deploy second-purchase incentive to New Customer cohort</a:t>
            </a:r>
          </a:p>
        </p:txBody>
      </p:sp>
      <p:sp>
        <p:nvSpPr>
          <p:cNvPr id="26" name="Rectangle 25"/>
          <p:cNvSpPr/>
          <p:nvPr/>
        </p:nvSpPr>
        <p:spPr>
          <a:xfrm>
            <a:off x="4407408" y="4005072"/>
            <a:ext cx="182880" cy="18288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736592" y="3913632"/>
            <a:ext cx="2926080" cy="841248"/>
          </a:xfrm>
          <a:prstGeom prst="rect">
            <a:avLst/>
          </a:prstGeom>
          <a:noFill/>
        </p:spPr>
        <p:txBody>
          <a:bodyPr wrap="square">
            <a:spAutoFit/>
          </a:bodyPr>
          <a:lstStyle/>
          <a:p>
            <a:pPr algn="l"/>
            <a:r>
              <a:rPr sz="1600" b="0" i="0">
                <a:solidFill>
                  <a:srgbClr val="1A1A1A"/>
                </a:solidFill>
              </a:rPr>
              <a:t>Onboard Promising customers into loyalty programme</a:t>
            </a:r>
          </a:p>
        </p:txBody>
      </p:sp>
      <p:sp>
        <p:nvSpPr>
          <p:cNvPr id="28" name="Rectangle 27"/>
          <p:cNvSpPr/>
          <p:nvPr/>
        </p:nvSpPr>
        <p:spPr>
          <a:xfrm>
            <a:off x="4407408" y="4937760"/>
            <a:ext cx="182880" cy="18288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36592" y="4846320"/>
            <a:ext cx="2926080" cy="841248"/>
          </a:xfrm>
          <a:prstGeom prst="rect">
            <a:avLst/>
          </a:prstGeom>
          <a:noFill/>
        </p:spPr>
        <p:txBody>
          <a:bodyPr wrap="square">
            <a:spAutoFit/>
          </a:bodyPr>
          <a:lstStyle/>
          <a:p>
            <a:pPr algn="l"/>
            <a:r>
              <a:rPr sz="1600" b="0" i="0">
                <a:solidFill>
                  <a:srgbClr val="1A1A1A"/>
                </a:solidFill>
              </a:rPr>
              <a:t>Set up monthly RFM refresh cadence in data pipeline</a:t>
            </a:r>
          </a:p>
        </p:txBody>
      </p:sp>
      <p:sp>
        <p:nvSpPr>
          <p:cNvPr id="30" name="Rectangle 29"/>
          <p:cNvSpPr/>
          <p:nvPr/>
        </p:nvSpPr>
        <p:spPr>
          <a:xfrm>
            <a:off x="8046720" y="1143000"/>
            <a:ext cx="3611880" cy="50292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8046720" y="1143000"/>
            <a:ext cx="3611880" cy="64008"/>
          </a:xfrm>
          <a:prstGeom prst="rect">
            <a:avLst/>
          </a:prstGeom>
          <a:solidFill>
            <a:srgbClr val="007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0" y="1298448"/>
            <a:ext cx="3200400" cy="548640"/>
          </a:xfrm>
          <a:prstGeom prst="rect">
            <a:avLst/>
          </a:prstGeom>
          <a:noFill/>
        </p:spPr>
        <p:txBody>
          <a:bodyPr wrap="square">
            <a:spAutoFit/>
          </a:bodyPr>
          <a:lstStyle/>
          <a:p>
            <a:pPr algn="l"/>
            <a:r>
              <a:rPr sz="1800" b="1" i="0">
                <a:solidFill>
                  <a:srgbClr val="007050"/>
                </a:solidFill>
              </a:rPr>
              <a:t>Days 61–90
Optimise</a:t>
            </a:r>
          </a:p>
        </p:txBody>
      </p:sp>
      <p:sp>
        <p:nvSpPr>
          <p:cNvPr id="33" name="Rectangle 32"/>
          <p:cNvSpPr/>
          <p:nvPr/>
        </p:nvSpPr>
        <p:spPr>
          <a:xfrm>
            <a:off x="8247888" y="2139696"/>
            <a:ext cx="182880" cy="182880"/>
          </a:xfrm>
          <a:prstGeom prst="rect">
            <a:avLst/>
          </a:prstGeom>
          <a:solidFill>
            <a:srgbClr val="007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577072" y="2048256"/>
            <a:ext cx="2926080" cy="841248"/>
          </a:xfrm>
          <a:prstGeom prst="rect">
            <a:avLst/>
          </a:prstGeom>
          <a:noFill/>
        </p:spPr>
        <p:txBody>
          <a:bodyPr wrap="square">
            <a:spAutoFit/>
          </a:bodyPr>
          <a:lstStyle/>
          <a:p>
            <a:pPr algn="l"/>
            <a:r>
              <a:rPr sz="1600" b="0" i="0">
                <a:solidFill>
                  <a:srgbClr val="1A1A1A"/>
                </a:solidFill>
              </a:rPr>
              <a:t>Review win-back programme results — iterate messaging and offer</a:t>
            </a:r>
          </a:p>
        </p:txBody>
      </p:sp>
      <p:sp>
        <p:nvSpPr>
          <p:cNvPr id="35" name="Rectangle 34"/>
          <p:cNvSpPr/>
          <p:nvPr/>
        </p:nvSpPr>
        <p:spPr>
          <a:xfrm>
            <a:off x="8247888" y="3072384"/>
            <a:ext cx="182880" cy="182880"/>
          </a:xfrm>
          <a:prstGeom prst="rect">
            <a:avLst/>
          </a:prstGeom>
          <a:solidFill>
            <a:srgbClr val="007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77072" y="2980944"/>
            <a:ext cx="2926080" cy="841248"/>
          </a:xfrm>
          <a:prstGeom prst="rect">
            <a:avLst/>
          </a:prstGeom>
          <a:noFill/>
        </p:spPr>
        <p:txBody>
          <a:bodyPr wrap="square">
            <a:spAutoFit/>
          </a:bodyPr>
          <a:lstStyle/>
          <a:p>
            <a:pPr algn="l"/>
            <a:r>
              <a:rPr sz="1600" b="0" i="0">
                <a:solidFill>
                  <a:srgbClr val="1A1A1A"/>
                </a:solidFill>
              </a:rPr>
              <a:t>Track segment migration rates vs. targets</a:t>
            </a:r>
          </a:p>
        </p:txBody>
      </p:sp>
      <p:sp>
        <p:nvSpPr>
          <p:cNvPr id="37" name="Rectangle 36"/>
          <p:cNvSpPr/>
          <p:nvPr/>
        </p:nvSpPr>
        <p:spPr>
          <a:xfrm>
            <a:off x="8247888" y="4005072"/>
            <a:ext cx="182880" cy="182880"/>
          </a:xfrm>
          <a:prstGeom prst="rect">
            <a:avLst/>
          </a:prstGeom>
          <a:solidFill>
            <a:srgbClr val="007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577072" y="3913632"/>
            <a:ext cx="2926080" cy="841248"/>
          </a:xfrm>
          <a:prstGeom prst="rect">
            <a:avLst/>
          </a:prstGeom>
          <a:noFill/>
        </p:spPr>
        <p:txBody>
          <a:bodyPr wrap="square">
            <a:spAutoFit/>
          </a:bodyPr>
          <a:lstStyle/>
          <a:p>
            <a:pPr algn="l"/>
            <a:r>
              <a:rPr sz="1600" b="0" i="0">
                <a:solidFill>
                  <a:srgbClr val="1A1A1A"/>
                </a:solidFill>
              </a:rPr>
              <a:t>Present first monthly CLV dashboard to leadership</a:t>
            </a:r>
          </a:p>
        </p:txBody>
      </p:sp>
      <p:sp>
        <p:nvSpPr>
          <p:cNvPr id="39" name="Rectangle 38"/>
          <p:cNvSpPr/>
          <p:nvPr/>
        </p:nvSpPr>
        <p:spPr>
          <a:xfrm>
            <a:off x="8247888" y="4937760"/>
            <a:ext cx="182880" cy="182880"/>
          </a:xfrm>
          <a:prstGeom prst="rect">
            <a:avLst/>
          </a:prstGeom>
          <a:solidFill>
            <a:srgbClr val="007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577072" y="4846320"/>
            <a:ext cx="2926080" cy="841248"/>
          </a:xfrm>
          <a:prstGeom prst="rect">
            <a:avLst/>
          </a:prstGeom>
          <a:noFill/>
        </p:spPr>
        <p:txBody>
          <a:bodyPr wrap="square">
            <a:spAutoFit/>
          </a:bodyPr>
          <a:lstStyle/>
          <a:p>
            <a:pPr algn="l"/>
            <a:r>
              <a:rPr sz="1600" b="0" i="0">
                <a:solidFill>
                  <a:srgbClr val="1A1A1A"/>
                </a:solidFill>
              </a:rPr>
              <a:t>Define Phase 2 scope: predictive churn modelling, CLV uplift testing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515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82296"/>
            <a:ext cx="11430000" cy="475488"/>
          </a:xfrm>
          <a:prstGeom prst="rect">
            <a:avLst/>
          </a:prstGeom>
          <a:noFill/>
        </p:spPr>
        <p:txBody>
          <a:bodyPr wrap="square">
            <a:spAutoFit/>
          </a:bodyPr>
          <a:lstStyle/>
          <a:p>
            <a:pPr algn="l"/>
            <a:r>
              <a:rPr sz="2800" b="1" i="0">
                <a:solidFill>
                  <a:srgbClr val="FFFFFF"/>
                </a:solidFill>
              </a:rPr>
              <a:t>Appendix — Full Segment Data</a:t>
            </a:r>
          </a:p>
        </p:txBody>
      </p:sp>
      <p:sp>
        <p:nvSpPr>
          <p:cNvPr id="4" name="TextBox 3"/>
          <p:cNvSpPr txBox="1"/>
          <p:nvPr/>
        </p:nvSpPr>
        <p:spPr>
          <a:xfrm>
            <a:off x="365760" y="566928"/>
            <a:ext cx="11430000" cy="310896"/>
          </a:xfrm>
          <a:prstGeom prst="rect">
            <a:avLst/>
          </a:prstGeom>
          <a:noFill/>
        </p:spPr>
        <p:txBody>
          <a:bodyPr wrap="square">
            <a:spAutoFit/>
          </a:bodyPr>
          <a:lstStyle/>
          <a:p>
            <a:pPr algn="l"/>
            <a:r>
              <a:rPr sz="1500" b="0" i="0">
                <a:solidFill>
                  <a:srgbClr val="BDD7EE"/>
                </a:solidFill>
              </a:rPr>
              <a:t>Source: rfm_analysis.csv  |  100 customers  |  Analysis date: March 2026</a:t>
            </a:r>
          </a:p>
        </p:txBody>
      </p:sp>
      <p:cxnSp>
        <p:nvCxnSpPr>
          <p:cNvPr id="5" name="Connector 4"/>
          <p:cNvCxnSpPr/>
          <p:nvPr/>
        </p:nvCxnSpPr>
        <p:spPr>
          <a:xfrm>
            <a:off x="365760" y="6473952"/>
            <a:ext cx="11457432" cy="0"/>
          </a:xfrm>
          <a:prstGeom prst="line">
            <a:avLst/>
          </a:prstGeom>
          <a:ln w="6350">
            <a:solidFill>
              <a:srgbClr val="D6D6D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65760" y="6510528"/>
            <a:ext cx="5486400" cy="256032"/>
          </a:xfrm>
          <a:prstGeom prst="rect">
            <a:avLst/>
          </a:prstGeom>
          <a:noFill/>
        </p:spPr>
        <p:txBody>
          <a:bodyPr wrap="square">
            <a:spAutoFit/>
          </a:bodyPr>
          <a:lstStyle/>
          <a:p>
            <a:pPr algn="l"/>
            <a:r>
              <a:rPr sz="1200" b="0" i="0">
                <a:solidFill>
                  <a:srgbClr val="595959"/>
                </a:solidFill>
              </a:rPr>
              <a:t>CONFIDENTIAL — RFM Customer Analysis</a:t>
            </a:r>
          </a:p>
        </p:txBody>
      </p:sp>
      <p:sp>
        <p:nvSpPr>
          <p:cNvPr id="7" name="TextBox 6"/>
          <p:cNvSpPr txBox="1"/>
          <p:nvPr/>
        </p:nvSpPr>
        <p:spPr>
          <a:xfrm>
            <a:off x="11612880" y="6428232"/>
            <a:ext cx="457200" cy="274320"/>
          </a:xfrm>
          <a:prstGeom prst="rect">
            <a:avLst/>
          </a:prstGeom>
          <a:noFill/>
        </p:spPr>
        <p:txBody>
          <a:bodyPr wrap="square">
            <a:spAutoFit/>
          </a:bodyPr>
          <a:lstStyle/>
          <a:p>
            <a:pPr algn="r"/>
            <a:r>
              <a:rPr sz="1200" b="0" i="0">
                <a:solidFill>
                  <a:srgbClr val="595959"/>
                </a:solidFill>
              </a:rPr>
              <a:t>13</a:t>
            </a:r>
          </a:p>
        </p:txBody>
      </p:sp>
      <p:sp>
        <p:nvSpPr>
          <p:cNvPr id="8" name="Rectangle 7"/>
          <p:cNvSpPr/>
          <p:nvPr/>
        </p:nvSpPr>
        <p:spPr>
          <a:xfrm>
            <a:off x="320040" y="1097280"/>
            <a:ext cx="11521440" cy="347472"/>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59" y="1133856"/>
            <a:ext cx="2103120" cy="274320"/>
          </a:xfrm>
          <a:prstGeom prst="rect">
            <a:avLst/>
          </a:prstGeom>
          <a:noFill/>
        </p:spPr>
        <p:txBody>
          <a:bodyPr wrap="square">
            <a:spAutoFit/>
          </a:bodyPr>
          <a:lstStyle/>
          <a:p>
            <a:pPr algn="l"/>
            <a:r>
              <a:rPr sz="1400" b="1" i="0">
                <a:solidFill>
                  <a:srgbClr val="FFFFFF"/>
                </a:solidFill>
              </a:rPr>
              <a:t>Segment</a:t>
            </a:r>
          </a:p>
        </p:txBody>
      </p:sp>
      <p:sp>
        <p:nvSpPr>
          <p:cNvPr id="10" name="TextBox 9"/>
          <p:cNvSpPr txBox="1"/>
          <p:nvPr/>
        </p:nvSpPr>
        <p:spPr>
          <a:xfrm>
            <a:off x="2514600" y="1133856"/>
            <a:ext cx="731520" cy="274320"/>
          </a:xfrm>
          <a:prstGeom prst="rect">
            <a:avLst/>
          </a:prstGeom>
          <a:noFill/>
        </p:spPr>
        <p:txBody>
          <a:bodyPr wrap="square">
            <a:spAutoFit/>
          </a:bodyPr>
          <a:lstStyle/>
          <a:p>
            <a:pPr algn="l"/>
            <a:r>
              <a:rPr sz="1400" b="1" i="0">
                <a:solidFill>
                  <a:srgbClr val="FFFFFF"/>
                </a:solidFill>
              </a:rPr>
              <a:t># Customers</a:t>
            </a:r>
          </a:p>
        </p:txBody>
      </p:sp>
      <p:sp>
        <p:nvSpPr>
          <p:cNvPr id="11" name="TextBox 10"/>
          <p:cNvSpPr txBox="1"/>
          <p:nvPr/>
        </p:nvSpPr>
        <p:spPr>
          <a:xfrm>
            <a:off x="3291839" y="1133856"/>
            <a:ext cx="777240" cy="274320"/>
          </a:xfrm>
          <a:prstGeom prst="rect">
            <a:avLst/>
          </a:prstGeom>
          <a:noFill/>
        </p:spPr>
        <p:txBody>
          <a:bodyPr wrap="square">
            <a:spAutoFit/>
          </a:bodyPr>
          <a:lstStyle/>
          <a:p>
            <a:pPr algn="l"/>
            <a:r>
              <a:rPr sz="1400" b="1" i="0">
                <a:solidFill>
                  <a:srgbClr val="FFFFFF"/>
                </a:solidFill>
              </a:rPr>
              <a:t>% Base</a:t>
            </a:r>
          </a:p>
        </p:txBody>
      </p:sp>
      <p:sp>
        <p:nvSpPr>
          <p:cNvPr id="12" name="TextBox 11"/>
          <p:cNvSpPr txBox="1"/>
          <p:nvPr/>
        </p:nvSpPr>
        <p:spPr>
          <a:xfrm>
            <a:off x="4114800" y="1133856"/>
            <a:ext cx="960120" cy="274320"/>
          </a:xfrm>
          <a:prstGeom prst="rect">
            <a:avLst/>
          </a:prstGeom>
          <a:noFill/>
        </p:spPr>
        <p:txBody>
          <a:bodyPr wrap="square">
            <a:spAutoFit/>
          </a:bodyPr>
          <a:lstStyle/>
          <a:p>
            <a:pPr algn="l"/>
            <a:r>
              <a:rPr sz="1400" b="1" i="0">
                <a:solidFill>
                  <a:srgbClr val="FFFFFF"/>
                </a:solidFill>
              </a:rPr>
              <a:t>Avg CLV</a:t>
            </a:r>
          </a:p>
        </p:txBody>
      </p:sp>
      <p:sp>
        <p:nvSpPr>
          <p:cNvPr id="13" name="TextBox 12"/>
          <p:cNvSpPr txBox="1"/>
          <p:nvPr/>
        </p:nvSpPr>
        <p:spPr>
          <a:xfrm>
            <a:off x="5120640" y="1133856"/>
            <a:ext cx="1143000" cy="274320"/>
          </a:xfrm>
          <a:prstGeom prst="rect">
            <a:avLst/>
          </a:prstGeom>
          <a:noFill/>
        </p:spPr>
        <p:txBody>
          <a:bodyPr wrap="square">
            <a:spAutoFit/>
          </a:bodyPr>
          <a:lstStyle/>
          <a:p>
            <a:pPr algn="l"/>
            <a:r>
              <a:rPr sz="1400" b="1" i="0">
                <a:solidFill>
                  <a:srgbClr val="FFFFFF"/>
                </a:solidFill>
              </a:rPr>
              <a:t>Total CLV</a:t>
            </a:r>
          </a:p>
        </p:txBody>
      </p:sp>
      <p:sp>
        <p:nvSpPr>
          <p:cNvPr id="14" name="TextBox 13"/>
          <p:cNvSpPr txBox="1"/>
          <p:nvPr/>
        </p:nvSpPr>
        <p:spPr>
          <a:xfrm>
            <a:off x="6309359" y="1133856"/>
            <a:ext cx="1143000" cy="274320"/>
          </a:xfrm>
          <a:prstGeom prst="rect">
            <a:avLst/>
          </a:prstGeom>
          <a:noFill/>
        </p:spPr>
        <p:txBody>
          <a:bodyPr wrap="square">
            <a:spAutoFit/>
          </a:bodyPr>
          <a:lstStyle/>
          <a:p>
            <a:pPr algn="l"/>
            <a:r>
              <a:rPr sz="1400" b="1" i="0">
                <a:solidFill>
                  <a:srgbClr val="FFFFFF"/>
                </a:solidFill>
              </a:rPr>
              <a:t>Avg Recency</a:t>
            </a:r>
          </a:p>
        </p:txBody>
      </p:sp>
      <p:sp>
        <p:nvSpPr>
          <p:cNvPr id="15" name="TextBox 14"/>
          <p:cNvSpPr txBox="1"/>
          <p:nvPr/>
        </p:nvSpPr>
        <p:spPr>
          <a:xfrm>
            <a:off x="7498080" y="1133856"/>
            <a:ext cx="1234440" cy="274320"/>
          </a:xfrm>
          <a:prstGeom prst="rect">
            <a:avLst/>
          </a:prstGeom>
          <a:noFill/>
        </p:spPr>
        <p:txBody>
          <a:bodyPr wrap="square">
            <a:spAutoFit/>
          </a:bodyPr>
          <a:lstStyle/>
          <a:p>
            <a:pPr algn="l"/>
            <a:r>
              <a:rPr sz="1400" b="1" i="0">
                <a:solidFill>
                  <a:srgbClr val="FFFFFF"/>
                </a:solidFill>
              </a:rPr>
              <a:t>Avg Frequency</a:t>
            </a:r>
          </a:p>
        </p:txBody>
      </p:sp>
      <p:sp>
        <p:nvSpPr>
          <p:cNvPr id="16" name="TextBox 15"/>
          <p:cNvSpPr txBox="1"/>
          <p:nvPr/>
        </p:nvSpPr>
        <p:spPr>
          <a:xfrm>
            <a:off x="8778240" y="1133856"/>
            <a:ext cx="2926080" cy="274320"/>
          </a:xfrm>
          <a:prstGeom prst="rect">
            <a:avLst/>
          </a:prstGeom>
          <a:noFill/>
        </p:spPr>
        <p:txBody>
          <a:bodyPr wrap="square">
            <a:spAutoFit/>
          </a:bodyPr>
          <a:lstStyle/>
          <a:p>
            <a:pPr algn="l"/>
            <a:r>
              <a:rPr sz="1400" b="1" i="0">
                <a:solidFill>
                  <a:srgbClr val="FFFFFF"/>
                </a:solidFill>
              </a:rPr>
              <a:t>Avg Monetary</a:t>
            </a:r>
          </a:p>
        </p:txBody>
      </p:sp>
      <p:sp>
        <p:nvSpPr>
          <p:cNvPr id="17" name="Rectangle 16"/>
          <p:cNvSpPr/>
          <p:nvPr/>
        </p:nvSpPr>
        <p:spPr>
          <a:xfrm>
            <a:off x="320040" y="1481328"/>
            <a:ext cx="11521440" cy="4572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65759" y="1591056"/>
            <a:ext cx="2011679" cy="256032"/>
          </a:xfrm>
          <a:prstGeom prst="rect">
            <a:avLst/>
          </a:prstGeom>
          <a:noFill/>
        </p:spPr>
        <p:txBody>
          <a:bodyPr wrap="square">
            <a:spAutoFit/>
          </a:bodyPr>
          <a:lstStyle/>
          <a:p>
            <a:pPr algn="l"/>
            <a:r>
              <a:rPr sz="1600" b="0" i="0">
                <a:solidFill>
                  <a:srgbClr val="1A1A1A"/>
                </a:solidFill>
              </a:rPr>
              <a:t>Champions</a:t>
            </a:r>
          </a:p>
        </p:txBody>
      </p:sp>
      <p:sp>
        <p:nvSpPr>
          <p:cNvPr id="19" name="TextBox 18"/>
          <p:cNvSpPr txBox="1"/>
          <p:nvPr/>
        </p:nvSpPr>
        <p:spPr>
          <a:xfrm>
            <a:off x="2514600" y="1591056"/>
            <a:ext cx="640080" cy="256032"/>
          </a:xfrm>
          <a:prstGeom prst="rect">
            <a:avLst/>
          </a:prstGeom>
          <a:noFill/>
        </p:spPr>
        <p:txBody>
          <a:bodyPr wrap="square">
            <a:spAutoFit/>
          </a:bodyPr>
          <a:lstStyle/>
          <a:p>
            <a:pPr algn="l"/>
            <a:r>
              <a:rPr sz="1600" b="0" i="0">
                <a:solidFill>
                  <a:srgbClr val="1A1A1A"/>
                </a:solidFill>
              </a:rPr>
              <a:t>7</a:t>
            </a:r>
          </a:p>
        </p:txBody>
      </p:sp>
      <p:sp>
        <p:nvSpPr>
          <p:cNvPr id="20" name="TextBox 19"/>
          <p:cNvSpPr txBox="1"/>
          <p:nvPr/>
        </p:nvSpPr>
        <p:spPr>
          <a:xfrm>
            <a:off x="3291839" y="1591056"/>
            <a:ext cx="685800" cy="256032"/>
          </a:xfrm>
          <a:prstGeom prst="rect">
            <a:avLst/>
          </a:prstGeom>
          <a:noFill/>
        </p:spPr>
        <p:txBody>
          <a:bodyPr wrap="square">
            <a:spAutoFit/>
          </a:bodyPr>
          <a:lstStyle/>
          <a:p>
            <a:pPr algn="l"/>
            <a:r>
              <a:rPr sz="1600" b="0" i="0">
                <a:solidFill>
                  <a:srgbClr val="1A1A1A"/>
                </a:solidFill>
              </a:rPr>
              <a:t>7%</a:t>
            </a:r>
          </a:p>
        </p:txBody>
      </p:sp>
      <p:sp>
        <p:nvSpPr>
          <p:cNvPr id="21" name="TextBox 20"/>
          <p:cNvSpPr txBox="1"/>
          <p:nvPr/>
        </p:nvSpPr>
        <p:spPr>
          <a:xfrm>
            <a:off x="4114800" y="1591056"/>
            <a:ext cx="868680" cy="256032"/>
          </a:xfrm>
          <a:prstGeom prst="rect">
            <a:avLst/>
          </a:prstGeom>
          <a:noFill/>
        </p:spPr>
        <p:txBody>
          <a:bodyPr wrap="square">
            <a:spAutoFit/>
          </a:bodyPr>
          <a:lstStyle/>
          <a:p>
            <a:pPr algn="l"/>
            <a:r>
              <a:rPr sz="1600" b="0" i="0">
                <a:solidFill>
                  <a:srgbClr val="1A1A1A"/>
                </a:solidFill>
              </a:rPr>
              <a:t>$1,412</a:t>
            </a:r>
          </a:p>
        </p:txBody>
      </p:sp>
      <p:sp>
        <p:nvSpPr>
          <p:cNvPr id="22" name="TextBox 21"/>
          <p:cNvSpPr txBox="1"/>
          <p:nvPr/>
        </p:nvSpPr>
        <p:spPr>
          <a:xfrm>
            <a:off x="5120640" y="1591056"/>
            <a:ext cx="1051560" cy="256032"/>
          </a:xfrm>
          <a:prstGeom prst="rect">
            <a:avLst/>
          </a:prstGeom>
          <a:noFill/>
        </p:spPr>
        <p:txBody>
          <a:bodyPr wrap="square">
            <a:spAutoFit/>
          </a:bodyPr>
          <a:lstStyle/>
          <a:p>
            <a:pPr algn="l"/>
            <a:r>
              <a:rPr sz="1600" b="0" i="0">
                <a:solidFill>
                  <a:srgbClr val="1A1A1A"/>
                </a:solidFill>
              </a:rPr>
              <a:t>$9,882</a:t>
            </a:r>
          </a:p>
        </p:txBody>
      </p:sp>
      <p:sp>
        <p:nvSpPr>
          <p:cNvPr id="23" name="TextBox 22"/>
          <p:cNvSpPr txBox="1"/>
          <p:nvPr/>
        </p:nvSpPr>
        <p:spPr>
          <a:xfrm>
            <a:off x="6309359" y="1591056"/>
            <a:ext cx="1051560" cy="256032"/>
          </a:xfrm>
          <a:prstGeom prst="rect">
            <a:avLst/>
          </a:prstGeom>
          <a:noFill/>
        </p:spPr>
        <p:txBody>
          <a:bodyPr wrap="square">
            <a:spAutoFit/>
          </a:bodyPr>
          <a:lstStyle/>
          <a:p>
            <a:pPr algn="l"/>
            <a:r>
              <a:rPr sz="1600" b="0" i="0">
                <a:solidFill>
                  <a:srgbClr val="1A1A1A"/>
                </a:solidFill>
              </a:rPr>
              <a:t>30.0 days</a:t>
            </a:r>
          </a:p>
        </p:txBody>
      </p:sp>
      <p:sp>
        <p:nvSpPr>
          <p:cNvPr id="24" name="TextBox 23"/>
          <p:cNvSpPr txBox="1"/>
          <p:nvPr/>
        </p:nvSpPr>
        <p:spPr>
          <a:xfrm>
            <a:off x="7498080" y="1591056"/>
            <a:ext cx="1143000" cy="256032"/>
          </a:xfrm>
          <a:prstGeom prst="rect">
            <a:avLst/>
          </a:prstGeom>
          <a:noFill/>
        </p:spPr>
        <p:txBody>
          <a:bodyPr wrap="square">
            <a:spAutoFit/>
          </a:bodyPr>
          <a:lstStyle/>
          <a:p>
            <a:pPr algn="l"/>
            <a:r>
              <a:rPr sz="1600" b="0" i="0">
                <a:solidFill>
                  <a:srgbClr val="1A1A1A"/>
                </a:solidFill>
              </a:rPr>
              <a:t>4.6x</a:t>
            </a:r>
          </a:p>
        </p:txBody>
      </p:sp>
      <p:sp>
        <p:nvSpPr>
          <p:cNvPr id="25" name="TextBox 24"/>
          <p:cNvSpPr txBox="1"/>
          <p:nvPr/>
        </p:nvSpPr>
        <p:spPr>
          <a:xfrm>
            <a:off x="8778240" y="1591056"/>
            <a:ext cx="2834640" cy="256032"/>
          </a:xfrm>
          <a:prstGeom prst="rect">
            <a:avLst/>
          </a:prstGeom>
          <a:noFill/>
        </p:spPr>
        <p:txBody>
          <a:bodyPr wrap="square">
            <a:spAutoFit/>
          </a:bodyPr>
          <a:lstStyle/>
          <a:p>
            <a:pPr algn="l"/>
            <a:r>
              <a:rPr sz="1600" b="0" i="0">
                <a:solidFill>
                  <a:srgbClr val="1A1A1A"/>
                </a:solidFill>
              </a:rPr>
              <a:t>$3,396</a:t>
            </a:r>
          </a:p>
        </p:txBody>
      </p:sp>
      <p:sp>
        <p:nvSpPr>
          <p:cNvPr id="26" name="Rectangle 25"/>
          <p:cNvSpPr/>
          <p:nvPr/>
        </p:nvSpPr>
        <p:spPr>
          <a:xfrm>
            <a:off x="320040" y="1956816"/>
            <a:ext cx="1152144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5759" y="2066544"/>
            <a:ext cx="2011679" cy="256032"/>
          </a:xfrm>
          <a:prstGeom prst="rect">
            <a:avLst/>
          </a:prstGeom>
          <a:noFill/>
        </p:spPr>
        <p:txBody>
          <a:bodyPr wrap="square">
            <a:spAutoFit/>
          </a:bodyPr>
          <a:lstStyle/>
          <a:p>
            <a:pPr algn="l"/>
            <a:r>
              <a:rPr sz="1600" b="0" i="0">
                <a:solidFill>
                  <a:srgbClr val="1A1A1A"/>
                </a:solidFill>
              </a:rPr>
              <a:t>Loyal</a:t>
            </a:r>
          </a:p>
        </p:txBody>
      </p:sp>
      <p:sp>
        <p:nvSpPr>
          <p:cNvPr id="28" name="TextBox 27"/>
          <p:cNvSpPr txBox="1"/>
          <p:nvPr/>
        </p:nvSpPr>
        <p:spPr>
          <a:xfrm>
            <a:off x="2514600" y="2066544"/>
            <a:ext cx="640080" cy="256032"/>
          </a:xfrm>
          <a:prstGeom prst="rect">
            <a:avLst/>
          </a:prstGeom>
          <a:noFill/>
        </p:spPr>
        <p:txBody>
          <a:bodyPr wrap="square">
            <a:spAutoFit/>
          </a:bodyPr>
          <a:lstStyle/>
          <a:p>
            <a:pPr algn="l"/>
            <a:r>
              <a:rPr sz="1600" b="0" i="0">
                <a:solidFill>
                  <a:srgbClr val="1A1A1A"/>
                </a:solidFill>
              </a:rPr>
              <a:t>8</a:t>
            </a:r>
          </a:p>
        </p:txBody>
      </p:sp>
      <p:sp>
        <p:nvSpPr>
          <p:cNvPr id="29" name="TextBox 28"/>
          <p:cNvSpPr txBox="1"/>
          <p:nvPr/>
        </p:nvSpPr>
        <p:spPr>
          <a:xfrm>
            <a:off x="3291839" y="2066544"/>
            <a:ext cx="685800" cy="256032"/>
          </a:xfrm>
          <a:prstGeom prst="rect">
            <a:avLst/>
          </a:prstGeom>
          <a:noFill/>
        </p:spPr>
        <p:txBody>
          <a:bodyPr wrap="square">
            <a:spAutoFit/>
          </a:bodyPr>
          <a:lstStyle/>
          <a:p>
            <a:pPr algn="l"/>
            <a:r>
              <a:rPr sz="1600" b="0" i="0">
                <a:solidFill>
                  <a:srgbClr val="1A1A1A"/>
                </a:solidFill>
              </a:rPr>
              <a:t>8%</a:t>
            </a:r>
          </a:p>
        </p:txBody>
      </p:sp>
      <p:sp>
        <p:nvSpPr>
          <p:cNvPr id="30" name="TextBox 29"/>
          <p:cNvSpPr txBox="1"/>
          <p:nvPr/>
        </p:nvSpPr>
        <p:spPr>
          <a:xfrm>
            <a:off x="4114800" y="2066544"/>
            <a:ext cx="868680" cy="256032"/>
          </a:xfrm>
          <a:prstGeom prst="rect">
            <a:avLst/>
          </a:prstGeom>
          <a:noFill/>
        </p:spPr>
        <p:txBody>
          <a:bodyPr wrap="square">
            <a:spAutoFit/>
          </a:bodyPr>
          <a:lstStyle/>
          <a:p>
            <a:pPr algn="l"/>
            <a:r>
              <a:rPr sz="1600" b="0" i="0">
                <a:solidFill>
                  <a:srgbClr val="1A1A1A"/>
                </a:solidFill>
              </a:rPr>
              <a:t>$832</a:t>
            </a:r>
          </a:p>
        </p:txBody>
      </p:sp>
      <p:sp>
        <p:nvSpPr>
          <p:cNvPr id="31" name="TextBox 30"/>
          <p:cNvSpPr txBox="1"/>
          <p:nvPr/>
        </p:nvSpPr>
        <p:spPr>
          <a:xfrm>
            <a:off x="5120640" y="2066544"/>
            <a:ext cx="1051560" cy="256032"/>
          </a:xfrm>
          <a:prstGeom prst="rect">
            <a:avLst/>
          </a:prstGeom>
          <a:noFill/>
        </p:spPr>
        <p:txBody>
          <a:bodyPr wrap="square">
            <a:spAutoFit/>
          </a:bodyPr>
          <a:lstStyle/>
          <a:p>
            <a:pPr algn="l"/>
            <a:r>
              <a:rPr sz="1600" b="0" i="0">
                <a:solidFill>
                  <a:srgbClr val="1A1A1A"/>
                </a:solidFill>
              </a:rPr>
              <a:t>$6,655</a:t>
            </a:r>
          </a:p>
        </p:txBody>
      </p:sp>
      <p:sp>
        <p:nvSpPr>
          <p:cNvPr id="32" name="TextBox 31"/>
          <p:cNvSpPr txBox="1"/>
          <p:nvPr/>
        </p:nvSpPr>
        <p:spPr>
          <a:xfrm>
            <a:off x="6309359" y="2066544"/>
            <a:ext cx="1051560" cy="256032"/>
          </a:xfrm>
          <a:prstGeom prst="rect">
            <a:avLst/>
          </a:prstGeom>
          <a:noFill/>
        </p:spPr>
        <p:txBody>
          <a:bodyPr wrap="square">
            <a:spAutoFit/>
          </a:bodyPr>
          <a:lstStyle/>
          <a:p>
            <a:pPr algn="l"/>
            <a:r>
              <a:rPr sz="1600" b="0" i="0">
                <a:solidFill>
                  <a:srgbClr val="1A1A1A"/>
                </a:solidFill>
              </a:rPr>
              <a:t>62.0 days</a:t>
            </a:r>
          </a:p>
        </p:txBody>
      </p:sp>
      <p:sp>
        <p:nvSpPr>
          <p:cNvPr id="33" name="TextBox 32"/>
          <p:cNvSpPr txBox="1"/>
          <p:nvPr/>
        </p:nvSpPr>
        <p:spPr>
          <a:xfrm>
            <a:off x="7498080" y="2066544"/>
            <a:ext cx="1143000" cy="256032"/>
          </a:xfrm>
          <a:prstGeom prst="rect">
            <a:avLst/>
          </a:prstGeom>
          <a:noFill/>
        </p:spPr>
        <p:txBody>
          <a:bodyPr wrap="square">
            <a:spAutoFit/>
          </a:bodyPr>
          <a:lstStyle/>
          <a:p>
            <a:pPr algn="l"/>
            <a:r>
              <a:rPr sz="1600" b="0" i="0">
                <a:solidFill>
                  <a:srgbClr val="1A1A1A"/>
                </a:solidFill>
              </a:rPr>
              <a:t>3x</a:t>
            </a:r>
          </a:p>
        </p:txBody>
      </p:sp>
      <p:sp>
        <p:nvSpPr>
          <p:cNvPr id="34" name="TextBox 33"/>
          <p:cNvSpPr txBox="1"/>
          <p:nvPr/>
        </p:nvSpPr>
        <p:spPr>
          <a:xfrm>
            <a:off x="8778240" y="2066544"/>
            <a:ext cx="2834640" cy="256032"/>
          </a:xfrm>
          <a:prstGeom prst="rect">
            <a:avLst/>
          </a:prstGeom>
          <a:noFill/>
        </p:spPr>
        <p:txBody>
          <a:bodyPr wrap="square">
            <a:spAutoFit/>
          </a:bodyPr>
          <a:lstStyle/>
          <a:p>
            <a:pPr algn="l"/>
            <a:r>
              <a:rPr sz="1600" b="0" i="0">
                <a:solidFill>
                  <a:srgbClr val="1A1A1A"/>
                </a:solidFill>
              </a:rPr>
              <a:t>$2,144</a:t>
            </a:r>
          </a:p>
        </p:txBody>
      </p:sp>
      <p:sp>
        <p:nvSpPr>
          <p:cNvPr id="35" name="Rectangle 34"/>
          <p:cNvSpPr/>
          <p:nvPr/>
        </p:nvSpPr>
        <p:spPr>
          <a:xfrm>
            <a:off x="320040" y="2432304"/>
            <a:ext cx="11521440" cy="4572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5759" y="2542032"/>
            <a:ext cx="2011679" cy="256032"/>
          </a:xfrm>
          <a:prstGeom prst="rect">
            <a:avLst/>
          </a:prstGeom>
          <a:noFill/>
        </p:spPr>
        <p:txBody>
          <a:bodyPr wrap="square">
            <a:spAutoFit/>
          </a:bodyPr>
          <a:lstStyle/>
          <a:p>
            <a:pPr algn="l"/>
            <a:r>
              <a:rPr sz="1600" b="0" i="0">
                <a:solidFill>
                  <a:srgbClr val="1A1A1A"/>
                </a:solidFill>
              </a:rPr>
              <a:t>Potential Loyalist</a:t>
            </a:r>
          </a:p>
        </p:txBody>
      </p:sp>
      <p:sp>
        <p:nvSpPr>
          <p:cNvPr id="37" name="TextBox 36"/>
          <p:cNvSpPr txBox="1"/>
          <p:nvPr/>
        </p:nvSpPr>
        <p:spPr>
          <a:xfrm>
            <a:off x="2514600" y="2542032"/>
            <a:ext cx="640080" cy="256032"/>
          </a:xfrm>
          <a:prstGeom prst="rect">
            <a:avLst/>
          </a:prstGeom>
          <a:noFill/>
        </p:spPr>
        <p:txBody>
          <a:bodyPr wrap="square">
            <a:spAutoFit/>
          </a:bodyPr>
          <a:lstStyle/>
          <a:p>
            <a:pPr algn="l"/>
            <a:r>
              <a:rPr sz="1600" b="0" i="0">
                <a:solidFill>
                  <a:srgbClr val="1A1A1A"/>
                </a:solidFill>
              </a:rPr>
              <a:t>15</a:t>
            </a:r>
          </a:p>
        </p:txBody>
      </p:sp>
      <p:sp>
        <p:nvSpPr>
          <p:cNvPr id="38" name="TextBox 37"/>
          <p:cNvSpPr txBox="1"/>
          <p:nvPr/>
        </p:nvSpPr>
        <p:spPr>
          <a:xfrm>
            <a:off x="3291839" y="2542032"/>
            <a:ext cx="685800" cy="256032"/>
          </a:xfrm>
          <a:prstGeom prst="rect">
            <a:avLst/>
          </a:prstGeom>
          <a:noFill/>
        </p:spPr>
        <p:txBody>
          <a:bodyPr wrap="square">
            <a:spAutoFit/>
          </a:bodyPr>
          <a:lstStyle/>
          <a:p>
            <a:pPr algn="l"/>
            <a:r>
              <a:rPr sz="1600" b="0" i="0">
                <a:solidFill>
                  <a:srgbClr val="1A1A1A"/>
                </a:solidFill>
              </a:rPr>
              <a:t>15%</a:t>
            </a:r>
          </a:p>
        </p:txBody>
      </p:sp>
      <p:sp>
        <p:nvSpPr>
          <p:cNvPr id="39" name="TextBox 38"/>
          <p:cNvSpPr txBox="1"/>
          <p:nvPr/>
        </p:nvSpPr>
        <p:spPr>
          <a:xfrm>
            <a:off x="4114800" y="2542032"/>
            <a:ext cx="868680" cy="256032"/>
          </a:xfrm>
          <a:prstGeom prst="rect">
            <a:avLst/>
          </a:prstGeom>
          <a:noFill/>
        </p:spPr>
        <p:txBody>
          <a:bodyPr wrap="square">
            <a:spAutoFit/>
          </a:bodyPr>
          <a:lstStyle/>
          <a:p>
            <a:pPr algn="l"/>
            <a:r>
              <a:rPr sz="1600" b="0" i="0">
                <a:solidFill>
                  <a:srgbClr val="1A1A1A"/>
                </a:solidFill>
              </a:rPr>
              <a:t>$599</a:t>
            </a:r>
          </a:p>
        </p:txBody>
      </p:sp>
      <p:sp>
        <p:nvSpPr>
          <p:cNvPr id="40" name="TextBox 39"/>
          <p:cNvSpPr txBox="1"/>
          <p:nvPr/>
        </p:nvSpPr>
        <p:spPr>
          <a:xfrm>
            <a:off x="5120640" y="2542032"/>
            <a:ext cx="1051560" cy="256032"/>
          </a:xfrm>
          <a:prstGeom prst="rect">
            <a:avLst/>
          </a:prstGeom>
          <a:noFill/>
        </p:spPr>
        <p:txBody>
          <a:bodyPr wrap="square">
            <a:spAutoFit/>
          </a:bodyPr>
          <a:lstStyle/>
          <a:p>
            <a:pPr algn="l"/>
            <a:r>
              <a:rPr sz="1600" b="0" i="0">
                <a:solidFill>
                  <a:srgbClr val="1A1A1A"/>
                </a:solidFill>
              </a:rPr>
              <a:t>$8,992</a:t>
            </a:r>
          </a:p>
        </p:txBody>
      </p:sp>
      <p:sp>
        <p:nvSpPr>
          <p:cNvPr id="41" name="TextBox 40"/>
          <p:cNvSpPr txBox="1"/>
          <p:nvPr/>
        </p:nvSpPr>
        <p:spPr>
          <a:xfrm>
            <a:off x="6309359" y="2542032"/>
            <a:ext cx="1051560" cy="256032"/>
          </a:xfrm>
          <a:prstGeom prst="rect">
            <a:avLst/>
          </a:prstGeom>
          <a:noFill/>
        </p:spPr>
        <p:txBody>
          <a:bodyPr wrap="square">
            <a:spAutoFit/>
          </a:bodyPr>
          <a:lstStyle/>
          <a:p>
            <a:pPr algn="l"/>
            <a:r>
              <a:rPr sz="1600" b="0" i="0">
                <a:solidFill>
                  <a:srgbClr val="1A1A1A"/>
                </a:solidFill>
              </a:rPr>
              <a:t>67.0 days</a:t>
            </a:r>
          </a:p>
        </p:txBody>
      </p:sp>
      <p:sp>
        <p:nvSpPr>
          <p:cNvPr id="42" name="TextBox 41"/>
          <p:cNvSpPr txBox="1"/>
          <p:nvPr/>
        </p:nvSpPr>
        <p:spPr>
          <a:xfrm>
            <a:off x="7498080" y="2542032"/>
            <a:ext cx="1143000" cy="256032"/>
          </a:xfrm>
          <a:prstGeom prst="rect">
            <a:avLst/>
          </a:prstGeom>
          <a:noFill/>
        </p:spPr>
        <p:txBody>
          <a:bodyPr wrap="square">
            <a:spAutoFit/>
          </a:bodyPr>
          <a:lstStyle/>
          <a:p>
            <a:pPr algn="l"/>
            <a:r>
              <a:rPr sz="1600" b="0" i="0">
                <a:solidFill>
                  <a:srgbClr val="1A1A1A"/>
                </a:solidFill>
              </a:rPr>
              <a:t>2x</a:t>
            </a:r>
          </a:p>
        </p:txBody>
      </p:sp>
      <p:sp>
        <p:nvSpPr>
          <p:cNvPr id="43" name="TextBox 42"/>
          <p:cNvSpPr txBox="1"/>
          <p:nvPr/>
        </p:nvSpPr>
        <p:spPr>
          <a:xfrm>
            <a:off x="8778240" y="2542032"/>
            <a:ext cx="2834640" cy="256032"/>
          </a:xfrm>
          <a:prstGeom prst="rect">
            <a:avLst/>
          </a:prstGeom>
          <a:noFill/>
        </p:spPr>
        <p:txBody>
          <a:bodyPr wrap="square">
            <a:spAutoFit/>
          </a:bodyPr>
          <a:lstStyle/>
          <a:p>
            <a:pPr algn="l"/>
            <a:r>
              <a:rPr sz="1600" b="0" i="0">
                <a:solidFill>
                  <a:srgbClr val="1A1A1A"/>
                </a:solidFill>
              </a:rPr>
              <a:t>$1,443</a:t>
            </a:r>
          </a:p>
        </p:txBody>
      </p:sp>
      <p:sp>
        <p:nvSpPr>
          <p:cNvPr id="44" name="Rectangle 43"/>
          <p:cNvSpPr/>
          <p:nvPr/>
        </p:nvSpPr>
        <p:spPr>
          <a:xfrm>
            <a:off x="320040" y="2907792"/>
            <a:ext cx="1152144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365759" y="3017520"/>
            <a:ext cx="2011679" cy="256032"/>
          </a:xfrm>
          <a:prstGeom prst="rect">
            <a:avLst/>
          </a:prstGeom>
          <a:noFill/>
        </p:spPr>
        <p:txBody>
          <a:bodyPr wrap="square">
            <a:spAutoFit/>
          </a:bodyPr>
          <a:lstStyle/>
          <a:p>
            <a:pPr algn="l"/>
            <a:r>
              <a:rPr sz="1600" b="0" i="0">
                <a:solidFill>
                  <a:srgbClr val="1A1A1A"/>
                </a:solidFill>
              </a:rPr>
              <a:t>Need Attention</a:t>
            </a:r>
          </a:p>
        </p:txBody>
      </p:sp>
      <p:sp>
        <p:nvSpPr>
          <p:cNvPr id="46" name="TextBox 45"/>
          <p:cNvSpPr txBox="1"/>
          <p:nvPr/>
        </p:nvSpPr>
        <p:spPr>
          <a:xfrm>
            <a:off x="2514600" y="3017520"/>
            <a:ext cx="640080" cy="256032"/>
          </a:xfrm>
          <a:prstGeom prst="rect">
            <a:avLst/>
          </a:prstGeom>
          <a:noFill/>
        </p:spPr>
        <p:txBody>
          <a:bodyPr wrap="square">
            <a:spAutoFit/>
          </a:bodyPr>
          <a:lstStyle/>
          <a:p>
            <a:pPr algn="l"/>
            <a:r>
              <a:rPr sz="1600" b="0" i="0">
                <a:solidFill>
                  <a:srgbClr val="1A1A1A"/>
                </a:solidFill>
              </a:rPr>
              <a:t>5</a:t>
            </a:r>
          </a:p>
        </p:txBody>
      </p:sp>
      <p:sp>
        <p:nvSpPr>
          <p:cNvPr id="47" name="TextBox 46"/>
          <p:cNvSpPr txBox="1"/>
          <p:nvPr/>
        </p:nvSpPr>
        <p:spPr>
          <a:xfrm>
            <a:off x="3291839" y="3017520"/>
            <a:ext cx="685800" cy="256032"/>
          </a:xfrm>
          <a:prstGeom prst="rect">
            <a:avLst/>
          </a:prstGeom>
          <a:noFill/>
        </p:spPr>
        <p:txBody>
          <a:bodyPr wrap="square">
            <a:spAutoFit/>
          </a:bodyPr>
          <a:lstStyle/>
          <a:p>
            <a:pPr algn="l"/>
            <a:r>
              <a:rPr sz="1600" b="0" i="0">
                <a:solidFill>
                  <a:srgbClr val="1A1A1A"/>
                </a:solidFill>
              </a:rPr>
              <a:t>5%</a:t>
            </a:r>
          </a:p>
        </p:txBody>
      </p:sp>
      <p:sp>
        <p:nvSpPr>
          <p:cNvPr id="48" name="TextBox 47"/>
          <p:cNvSpPr txBox="1"/>
          <p:nvPr/>
        </p:nvSpPr>
        <p:spPr>
          <a:xfrm>
            <a:off x="4114800" y="3017520"/>
            <a:ext cx="868680" cy="256032"/>
          </a:xfrm>
          <a:prstGeom prst="rect">
            <a:avLst/>
          </a:prstGeom>
          <a:noFill/>
        </p:spPr>
        <p:txBody>
          <a:bodyPr wrap="square">
            <a:spAutoFit/>
          </a:bodyPr>
          <a:lstStyle/>
          <a:p>
            <a:pPr algn="l"/>
            <a:r>
              <a:rPr sz="1600" b="0" i="0">
                <a:solidFill>
                  <a:srgbClr val="1A1A1A"/>
                </a:solidFill>
              </a:rPr>
              <a:t>$512</a:t>
            </a:r>
          </a:p>
        </p:txBody>
      </p:sp>
      <p:sp>
        <p:nvSpPr>
          <p:cNvPr id="49" name="TextBox 48"/>
          <p:cNvSpPr txBox="1"/>
          <p:nvPr/>
        </p:nvSpPr>
        <p:spPr>
          <a:xfrm>
            <a:off x="5120640" y="3017520"/>
            <a:ext cx="1051560" cy="256032"/>
          </a:xfrm>
          <a:prstGeom prst="rect">
            <a:avLst/>
          </a:prstGeom>
          <a:noFill/>
        </p:spPr>
        <p:txBody>
          <a:bodyPr wrap="square">
            <a:spAutoFit/>
          </a:bodyPr>
          <a:lstStyle/>
          <a:p>
            <a:pPr algn="l"/>
            <a:r>
              <a:rPr sz="1600" b="0" i="0">
                <a:solidFill>
                  <a:srgbClr val="1A1A1A"/>
                </a:solidFill>
              </a:rPr>
              <a:t>$2,562</a:t>
            </a:r>
          </a:p>
        </p:txBody>
      </p:sp>
      <p:sp>
        <p:nvSpPr>
          <p:cNvPr id="50" name="TextBox 49"/>
          <p:cNvSpPr txBox="1"/>
          <p:nvPr/>
        </p:nvSpPr>
        <p:spPr>
          <a:xfrm>
            <a:off x="6309359" y="3017520"/>
            <a:ext cx="1051560" cy="256032"/>
          </a:xfrm>
          <a:prstGeom prst="rect">
            <a:avLst/>
          </a:prstGeom>
          <a:noFill/>
        </p:spPr>
        <p:txBody>
          <a:bodyPr wrap="square">
            <a:spAutoFit/>
          </a:bodyPr>
          <a:lstStyle/>
          <a:p>
            <a:pPr algn="l"/>
            <a:r>
              <a:rPr sz="1600" b="0" i="0">
                <a:solidFill>
                  <a:srgbClr val="1A1A1A"/>
                </a:solidFill>
              </a:rPr>
              <a:t>134.0 days</a:t>
            </a:r>
          </a:p>
        </p:txBody>
      </p:sp>
      <p:sp>
        <p:nvSpPr>
          <p:cNvPr id="51" name="TextBox 50"/>
          <p:cNvSpPr txBox="1"/>
          <p:nvPr/>
        </p:nvSpPr>
        <p:spPr>
          <a:xfrm>
            <a:off x="7498080" y="3017520"/>
            <a:ext cx="1143000" cy="256032"/>
          </a:xfrm>
          <a:prstGeom prst="rect">
            <a:avLst/>
          </a:prstGeom>
          <a:noFill/>
        </p:spPr>
        <p:txBody>
          <a:bodyPr wrap="square">
            <a:spAutoFit/>
          </a:bodyPr>
          <a:lstStyle/>
          <a:p>
            <a:pPr algn="l"/>
            <a:r>
              <a:rPr sz="1600" b="0" i="0">
                <a:solidFill>
                  <a:srgbClr val="1A1A1A"/>
                </a:solidFill>
              </a:rPr>
              <a:t>2x</a:t>
            </a:r>
          </a:p>
        </p:txBody>
      </p:sp>
      <p:sp>
        <p:nvSpPr>
          <p:cNvPr id="52" name="TextBox 51"/>
          <p:cNvSpPr txBox="1"/>
          <p:nvPr/>
        </p:nvSpPr>
        <p:spPr>
          <a:xfrm>
            <a:off x="8778240" y="3017520"/>
            <a:ext cx="2834640" cy="256032"/>
          </a:xfrm>
          <a:prstGeom prst="rect">
            <a:avLst/>
          </a:prstGeom>
          <a:noFill/>
        </p:spPr>
        <p:txBody>
          <a:bodyPr wrap="square">
            <a:spAutoFit/>
          </a:bodyPr>
          <a:lstStyle/>
          <a:p>
            <a:pPr algn="l"/>
            <a:r>
              <a:rPr sz="1600" b="0" i="0">
                <a:solidFill>
                  <a:srgbClr val="1A1A1A"/>
                </a:solidFill>
              </a:rPr>
              <a:t>$1,487</a:t>
            </a:r>
          </a:p>
        </p:txBody>
      </p:sp>
      <p:sp>
        <p:nvSpPr>
          <p:cNvPr id="53" name="Rectangle 52"/>
          <p:cNvSpPr/>
          <p:nvPr/>
        </p:nvSpPr>
        <p:spPr>
          <a:xfrm>
            <a:off x="320040" y="3383280"/>
            <a:ext cx="11521440" cy="4572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365759" y="3493008"/>
            <a:ext cx="2011679" cy="256032"/>
          </a:xfrm>
          <a:prstGeom prst="rect">
            <a:avLst/>
          </a:prstGeom>
          <a:noFill/>
        </p:spPr>
        <p:txBody>
          <a:bodyPr wrap="square">
            <a:spAutoFit/>
          </a:bodyPr>
          <a:lstStyle/>
          <a:p>
            <a:pPr algn="l"/>
            <a:r>
              <a:rPr sz="1600" b="0" i="0">
                <a:solidFill>
                  <a:srgbClr val="1A1A1A"/>
                </a:solidFill>
              </a:rPr>
              <a:t>New Customer</a:t>
            </a:r>
          </a:p>
        </p:txBody>
      </p:sp>
      <p:sp>
        <p:nvSpPr>
          <p:cNvPr id="55" name="TextBox 54"/>
          <p:cNvSpPr txBox="1"/>
          <p:nvPr/>
        </p:nvSpPr>
        <p:spPr>
          <a:xfrm>
            <a:off x="2514600" y="3493008"/>
            <a:ext cx="640080" cy="256032"/>
          </a:xfrm>
          <a:prstGeom prst="rect">
            <a:avLst/>
          </a:prstGeom>
          <a:noFill/>
        </p:spPr>
        <p:txBody>
          <a:bodyPr wrap="square">
            <a:spAutoFit/>
          </a:bodyPr>
          <a:lstStyle/>
          <a:p>
            <a:pPr algn="l"/>
            <a:r>
              <a:rPr sz="1600" b="0" i="0">
                <a:solidFill>
                  <a:srgbClr val="1A1A1A"/>
                </a:solidFill>
              </a:rPr>
              <a:t>10</a:t>
            </a:r>
          </a:p>
        </p:txBody>
      </p:sp>
      <p:sp>
        <p:nvSpPr>
          <p:cNvPr id="56" name="TextBox 55"/>
          <p:cNvSpPr txBox="1"/>
          <p:nvPr/>
        </p:nvSpPr>
        <p:spPr>
          <a:xfrm>
            <a:off x="3291839" y="3493008"/>
            <a:ext cx="685800" cy="256032"/>
          </a:xfrm>
          <a:prstGeom prst="rect">
            <a:avLst/>
          </a:prstGeom>
          <a:noFill/>
        </p:spPr>
        <p:txBody>
          <a:bodyPr wrap="square">
            <a:spAutoFit/>
          </a:bodyPr>
          <a:lstStyle/>
          <a:p>
            <a:pPr algn="l"/>
            <a:r>
              <a:rPr sz="1600" b="0" i="0">
                <a:solidFill>
                  <a:srgbClr val="1A1A1A"/>
                </a:solidFill>
              </a:rPr>
              <a:t>10%</a:t>
            </a:r>
          </a:p>
        </p:txBody>
      </p:sp>
      <p:sp>
        <p:nvSpPr>
          <p:cNvPr id="57" name="TextBox 56"/>
          <p:cNvSpPr txBox="1"/>
          <p:nvPr/>
        </p:nvSpPr>
        <p:spPr>
          <a:xfrm>
            <a:off x="4114800" y="3493008"/>
            <a:ext cx="868680" cy="256032"/>
          </a:xfrm>
          <a:prstGeom prst="rect">
            <a:avLst/>
          </a:prstGeom>
          <a:noFill/>
        </p:spPr>
        <p:txBody>
          <a:bodyPr wrap="square">
            <a:spAutoFit/>
          </a:bodyPr>
          <a:lstStyle/>
          <a:p>
            <a:pPr algn="l"/>
            <a:r>
              <a:rPr sz="1600" b="0" i="0">
                <a:solidFill>
                  <a:srgbClr val="1A1A1A"/>
                </a:solidFill>
              </a:rPr>
              <a:t>$271</a:t>
            </a:r>
          </a:p>
        </p:txBody>
      </p:sp>
      <p:sp>
        <p:nvSpPr>
          <p:cNvPr id="58" name="TextBox 57"/>
          <p:cNvSpPr txBox="1"/>
          <p:nvPr/>
        </p:nvSpPr>
        <p:spPr>
          <a:xfrm>
            <a:off x="5120640" y="3493008"/>
            <a:ext cx="1051560" cy="256032"/>
          </a:xfrm>
          <a:prstGeom prst="rect">
            <a:avLst/>
          </a:prstGeom>
          <a:noFill/>
        </p:spPr>
        <p:txBody>
          <a:bodyPr wrap="square">
            <a:spAutoFit/>
          </a:bodyPr>
          <a:lstStyle/>
          <a:p>
            <a:pPr algn="l"/>
            <a:r>
              <a:rPr sz="1600" b="0" i="0">
                <a:solidFill>
                  <a:srgbClr val="1A1A1A"/>
                </a:solidFill>
              </a:rPr>
              <a:t>$2,706</a:t>
            </a:r>
          </a:p>
        </p:txBody>
      </p:sp>
      <p:sp>
        <p:nvSpPr>
          <p:cNvPr id="59" name="TextBox 58"/>
          <p:cNvSpPr txBox="1"/>
          <p:nvPr/>
        </p:nvSpPr>
        <p:spPr>
          <a:xfrm>
            <a:off x="6309359" y="3493008"/>
            <a:ext cx="1051560" cy="256032"/>
          </a:xfrm>
          <a:prstGeom prst="rect">
            <a:avLst/>
          </a:prstGeom>
          <a:noFill/>
        </p:spPr>
        <p:txBody>
          <a:bodyPr wrap="square">
            <a:spAutoFit/>
          </a:bodyPr>
          <a:lstStyle/>
          <a:p>
            <a:pPr algn="l"/>
            <a:r>
              <a:rPr sz="1600" b="0" i="0">
                <a:solidFill>
                  <a:srgbClr val="1A1A1A"/>
                </a:solidFill>
              </a:rPr>
              <a:t>88.0 days</a:t>
            </a:r>
          </a:p>
        </p:txBody>
      </p:sp>
      <p:sp>
        <p:nvSpPr>
          <p:cNvPr id="60" name="TextBox 59"/>
          <p:cNvSpPr txBox="1"/>
          <p:nvPr/>
        </p:nvSpPr>
        <p:spPr>
          <a:xfrm>
            <a:off x="7498080" y="3493008"/>
            <a:ext cx="1143000" cy="256032"/>
          </a:xfrm>
          <a:prstGeom prst="rect">
            <a:avLst/>
          </a:prstGeom>
          <a:noFill/>
        </p:spPr>
        <p:txBody>
          <a:bodyPr wrap="square">
            <a:spAutoFit/>
          </a:bodyPr>
          <a:lstStyle/>
          <a:p>
            <a:pPr algn="l"/>
            <a:r>
              <a:rPr sz="1600" b="0" i="0">
                <a:solidFill>
                  <a:srgbClr val="1A1A1A"/>
                </a:solidFill>
              </a:rPr>
              <a:t>1x</a:t>
            </a:r>
          </a:p>
        </p:txBody>
      </p:sp>
      <p:sp>
        <p:nvSpPr>
          <p:cNvPr id="61" name="TextBox 60"/>
          <p:cNvSpPr txBox="1"/>
          <p:nvPr/>
        </p:nvSpPr>
        <p:spPr>
          <a:xfrm>
            <a:off x="8778240" y="3493008"/>
            <a:ext cx="2834640" cy="256032"/>
          </a:xfrm>
          <a:prstGeom prst="rect">
            <a:avLst/>
          </a:prstGeom>
          <a:noFill/>
        </p:spPr>
        <p:txBody>
          <a:bodyPr wrap="square">
            <a:spAutoFit/>
          </a:bodyPr>
          <a:lstStyle/>
          <a:p>
            <a:pPr algn="l"/>
            <a:r>
              <a:rPr sz="1600" b="0" i="0">
                <a:solidFill>
                  <a:srgbClr val="1A1A1A"/>
                </a:solidFill>
              </a:rPr>
              <a:t>$693</a:t>
            </a:r>
          </a:p>
        </p:txBody>
      </p:sp>
      <p:sp>
        <p:nvSpPr>
          <p:cNvPr id="62" name="Rectangle 61"/>
          <p:cNvSpPr/>
          <p:nvPr/>
        </p:nvSpPr>
        <p:spPr>
          <a:xfrm>
            <a:off x="320040" y="3858768"/>
            <a:ext cx="1152144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365759" y="3968496"/>
            <a:ext cx="2011679" cy="256032"/>
          </a:xfrm>
          <a:prstGeom prst="rect">
            <a:avLst/>
          </a:prstGeom>
          <a:noFill/>
        </p:spPr>
        <p:txBody>
          <a:bodyPr wrap="square">
            <a:spAutoFit/>
          </a:bodyPr>
          <a:lstStyle/>
          <a:p>
            <a:pPr algn="l"/>
            <a:r>
              <a:rPr sz="1600" b="0" i="0">
                <a:solidFill>
                  <a:srgbClr val="1A1A1A"/>
                </a:solidFill>
              </a:rPr>
              <a:t>Promising</a:t>
            </a:r>
          </a:p>
        </p:txBody>
      </p:sp>
      <p:sp>
        <p:nvSpPr>
          <p:cNvPr id="64" name="TextBox 63"/>
          <p:cNvSpPr txBox="1"/>
          <p:nvPr/>
        </p:nvSpPr>
        <p:spPr>
          <a:xfrm>
            <a:off x="2514600" y="3968496"/>
            <a:ext cx="640080" cy="256032"/>
          </a:xfrm>
          <a:prstGeom prst="rect">
            <a:avLst/>
          </a:prstGeom>
          <a:noFill/>
        </p:spPr>
        <p:txBody>
          <a:bodyPr wrap="square">
            <a:spAutoFit/>
          </a:bodyPr>
          <a:lstStyle/>
          <a:p>
            <a:pPr algn="l"/>
            <a:r>
              <a:rPr sz="1600" b="0" i="0">
                <a:solidFill>
                  <a:srgbClr val="1A1A1A"/>
                </a:solidFill>
              </a:rPr>
              <a:t>15</a:t>
            </a:r>
          </a:p>
        </p:txBody>
      </p:sp>
      <p:sp>
        <p:nvSpPr>
          <p:cNvPr id="65" name="TextBox 64"/>
          <p:cNvSpPr txBox="1"/>
          <p:nvPr/>
        </p:nvSpPr>
        <p:spPr>
          <a:xfrm>
            <a:off x="3291839" y="3968496"/>
            <a:ext cx="685800" cy="256032"/>
          </a:xfrm>
          <a:prstGeom prst="rect">
            <a:avLst/>
          </a:prstGeom>
          <a:noFill/>
        </p:spPr>
        <p:txBody>
          <a:bodyPr wrap="square">
            <a:spAutoFit/>
          </a:bodyPr>
          <a:lstStyle/>
          <a:p>
            <a:pPr algn="l"/>
            <a:r>
              <a:rPr sz="1600" b="0" i="0">
                <a:solidFill>
                  <a:srgbClr val="1A1A1A"/>
                </a:solidFill>
              </a:rPr>
              <a:t>15%</a:t>
            </a:r>
          </a:p>
        </p:txBody>
      </p:sp>
      <p:sp>
        <p:nvSpPr>
          <p:cNvPr id="66" name="TextBox 65"/>
          <p:cNvSpPr txBox="1"/>
          <p:nvPr/>
        </p:nvSpPr>
        <p:spPr>
          <a:xfrm>
            <a:off x="4114800" y="3968496"/>
            <a:ext cx="868680" cy="256032"/>
          </a:xfrm>
          <a:prstGeom prst="rect">
            <a:avLst/>
          </a:prstGeom>
          <a:noFill/>
        </p:spPr>
        <p:txBody>
          <a:bodyPr wrap="square">
            <a:spAutoFit/>
          </a:bodyPr>
          <a:lstStyle/>
          <a:p>
            <a:pPr algn="l"/>
            <a:r>
              <a:rPr sz="1600" b="0" i="0">
                <a:solidFill>
                  <a:srgbClr val="1A1A1A"/>
                </a:solidFill>
              </a:rPr>
              <a:t>$244</a:t>
            </a:r>
          </a:p>
        </p:txBody>
      </p:sp>
      <p:sp>
        <p:nvSpPr>
          <p:cNvPr id="67" name="TextBox 66"/>
          <p:cNvSpPr txBox="1"/>
          <p:nvPr/>
        </p:nvSpPr>
        <p:spPr>
          <a:xfrm>
            <a:off x="5120640" y="3968496"/>
            <a:ext cx="1051560" cy="256032"/>
          </a:xfrm>
          <a:prstGeom prst="rect">
            <a:avLst/>
          </a:prstGeom>
          <a:noFill/>
        </p:spPr>
        <p:txBody>
          <a:bodyPr wrap="square">
            <a:spAutoFit/>
          </a:bodyPr>
          <a:lstStyle/>
          <a:p>
            <a:pPr algn="l"/>
            <a:r>
              <a:rPr sz="1600" b="0" i="0">
                <a:solidFill>
                  <a:srgbClr val="1A1A1A"/>
                </a:solidFill>
              </a:rPr>
              <a:t>$3,654</a:t>
            </a:r>
          </a:p>
        </p:txBody>
      </p:sp>
      <p:sp>
        <p:nvSpPr>
          <p:cNvPr id="68" name="TextBox 67"/>
          <p:cNvSpPr txBox="1"/>
          <p:nvPr/>
        </p:nvSpPr>
        <p:spPr>
          <a:xfrm>
            <a:off x="6309359" y="3968496"/>
            <a:ext cx="1051560" cy="256032"/>
          </a:xfrm>
          <a:prstGeom prst="rect">
            <a:avLst/>
          </a:prstGeom>
          <a:noFill/>
        </p:spPr>
        <p:txBody>
          <a:bodyPr wrap="square">
            <a:spAutoFit/>
          </a:bodyPr>
          <a:lstStyle/>
          <a:p>
            <a:pPr algn="l"/>
            <a:r>
              <a:rPr sz="1600" b="0" i="0">
                <a:solidFill>
                  <a:srgbClr val="1A1A1A"/>
                </a:solidFill>
              </a:rPr>
              <a:t>147.0 days</a:t>
            </a:r>
          </a:p>
        </p:txBody>
      </p:sp>
      <p:sp>
        <p:nvSpPr>
          <p:cNvPr id="69" name="TextBox 68"/>
          <p:cNvSpPr txBox="1"/>
          <p:nvPr/>
        </p:nvSpPr>
        <p:spPr>
          <a:xfrm>
            <a:off x="7498080" y="3968496"/>
            <a:ext cx="1143000" cy="256032"/>
          </a:xfrm>
          <a:prstGeom prst="rect">
            <a:avLst/>
          </a:prstGeom>
          <a:noFill/>
        </p:spPr>
        <p:txBody>
          <a:bodyPr wrap="square">
            <a:spAutoFit/>
          </a:bodyPr>
          <a:lstStyle/>
          <a:p>
            <a:pPr algn="l"/>
            <a:r>
              <a:rPr sz="1600" b="0" i="0">
                <a:solidFill>
                  <a:srgbClr val="1A1A1A"/>
                </a:solidFill>
              </a:rPr>
              <a:t>1x</a:t>
            </a:r>
          </a:p>
        </p:txBody>
      </p:sp>
      <p:sp>
        <p:nvSpPr>
          <p:cNvPr id="70" name="TextBox 69"/>
          <p:cNvSpPr txBox="1"/>
          <p:nvPr/>
        </p:nvSpPr>
        <p:spPr>
          <a:xfrm>
            <a:off x="8778240" y="3968496"/>
            <a:ext cx="2834640" cy="256032"/>
          </a:xfrm>
          <a:prstGeom prst="rect">
            <a:avLst/>
          </a:prstGeom>
          <a:noFill/>
        </p:spPr>
        <p:txBody>
          <a:bodyPr wrap="square">
            <a:spAutoFit/>
          </a:bodyPr>
          <a:lstStyle/>
          <a:p>
            <a:pPr algn="l"/>
            <a:r>
              <a:rPr sz="1600" b="0" i="0">
                <a:solidFill>
                  <a:srgbClr val="1A1A1A"/>
                </a:solidFill>
              </a:rPr>
              <a:t>$731</a:t>
            </a:r>
          </a:p>
        </p:txBody>
      </p:sp>
      <p:sp>
        <p:nvSpPr>
          <p:cNvPr id="71" name="Rectangle 70"/>
          <p:cNvSpPr/>
          <p:nvPr/>
        </p:nvSpPr>
        <p:spPr>
          <a:xfrm>
            <a:off x="320040" y="4334256"/>
            <a:ext cx="11521440" cy="45720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365759" y="4443984"/>
            <a:ext cx="2011679" cy="256032"/>
          </a:xfrm>
          <a:prstGeom prst="rect">
            <a:avLst/>
          </a:prstGeom>
          <a:noFill/>
        </p:spPr>
        <p:txBody>
          <a:bodyPr wrap="square">
            <a:spAutoFit/>
          </a:bodyPr>
          <a:lstStyle/>
          <a:p>
            <a:pPr algn="l"/>
            <a:r>
              <a:rPr sz="1600" b="0" i="0">
                <a:solidFill>
                  <a:srgbClr val="1A1A1A"/>
                </a:solidFill>
              </a:rPr>
              <a:t>Hibernating</a:t>
            </a:r>
          </a:p>
        </p:txBody>
      </p:sp>
      <p:sp>
        <p:nvSpPr>
          <p:cNvPr id="73" name="TextBox 72"/>
          <p:cNvSpPr txBox="1"/>
          <p:nvPr/>
        </p:nvSpPr>
        <p:spPr>
          <a:xfrm>
            <a:off x="2514600" y="4443984"/>
            <a:ext cx="640080" cy="256032"/>
          </a:xfrm>
          <a:prstGeom prst="rect">
            <a:avLst/>
          </a:prstGeom>
          <a:noFill/>
        </p:spPr>
        <p:txBody>
          <a:bodyPr wrap="square">
            <a:spAutoFit/>
          </a:bodyPr>
          <a:lstStyle/>
          <a:p>
            <a:pPr algn="l"/>
            <a:r>
              <a:rPr sz="1600" b="0" i="0">
                <a:solidFill>
                  <a:srgbClr val="1A1A1A"/>
                </a:solidFill>
              </a:rPr>
              <a:t>20</a:t>
            </a:r>
          </a:p>
        </p:txBody>
      </p:sp>
      <p:sp>
        <p:nvSpPr>
          <p:cNvPr id="74" name="TextBox 73"/>
          <p:cNvSpPr txBox="1"/>
          <p:nvPr/>
        </p:nvSpPr>
        <p:spPr>
          <a:xfrm>
            <a:off x="3291839" y="4443984"/>
            <a:ext cx="685800" cy="256032"/>
          </a:xfrm>
          <a:prstGeom prst="rect">
            <a:avLst/>
          </a:prstGeom>
          <a:noFill/>
        </p:spPr>
        <p:txBody>
          <a:bodyPr wrap="square">
            <a:spAutoFit/>
          </a:bodyPr>
          <a:lstStyle/>
          <a:p>
            <a:pPr algn="l"/>
            <a:r>
              <a:rPr sz="1600" b="0" i="0">
                <a:solidFill>
                  <a:srgbClr val="1A1A1A"/>
                </a:solidFill>
              </a:rPr>
              <a:t>20%</a:t>
            </a:r>
          </a:p>
        </p:txBody>
      </p:sp>
      <p:sp>
        <p:nvSpPr>
          <p:cNvPr id="75" name="TextBox 74"/>
          <p:cNvSpPr txBox="1"/>
          <p:nvPr/>
        </p:nvSpPr>
        <p:spPr>
          <a:xfrm>
            <a:off x="4114800" y="4443984"/>
            <a:ext cx="868680" cy="256032"/>
          </a:xfrm>
          <a:prstGeom prst="rect">
            <a:avLst/>
          </a:prstGeom>
          <a:noFill/>
        </p:spPr>
        <p:txBody>
          <a:bodyPr wrap="square">
            <a:spAutoFit/>
          </a:bodyPr>
          <a:lstStyle/>
          <a:p>
            <a:pPr algn="l"/>
            <a:r>
              <a:rPr sz="1600" b="0" i="0">
                <a:solidFill>
                  <a:srgbClr val="1A1A1A"/>
                </a:solidFill>
              </a:rPr>
              <a:t>$192</a:t>
            </a:r>
          </a:p>
        </p:txBody>
      </p:sp>
      <p:sp>
        <p:nvSpPr>
          <p:cNvPr id="76" name="TextBox 75"/>
          <p:cNvSpPr txBox="1"/>
          <p:nvPr/>
        </p:nvSpPr>
        <p:spPr>
          <a:xfrm>
            <a:off x="5120640" y="4443984"/>
            <a:ext cx="1051560" cy="256032"/>
          </a:xfrm>
          <a:prstGeom prst="rect">
            <a:avLst/>
          </a:prstGeom>
          <a:noFill/>
        </p:spPr>
        <p:txBody>
          <a:bodyPr wrap="square">
            <a:spAutoFit/>
          </a:bodyPr>
          <a:lstStyle/>
          <a:p>
            <a:pPr algn="l"/>
            <a:r>
              <a:rPr sz="1600" b="0" i="0">
                <a:solidFill>
                  <a:srgbClr val="1A1A1A"/>
                </a:solidFill>
              </a:rPr>
              <a:t>$3,842</a:t>
            </a:r>
          </a:p>
        </p:txBody>
      </p:sp>
      <p:sp>
        <p:nvSpPr>
          <p:cNvPr id="77" name="TextBox 76"/>
          <p:cNvSpPr txBox="1"/>
          <p:nvPr/>
        </p:nvSpPr>
        <p:spPr>
          <a:xfrm>
            <a:off x="6309359" y="4443984"/>
            <a:ext cx="1051560" cy="256032"/>
          </a:xfrm>
          <a:prstGeom prst="rect">
            <a:avLst/>
          </a:prstGeom>
          <a:noFill/>
        </p:spPr>
        <p:txBody>
          <a:bodyPr wrap="square">
            <a:spAutoFit/>
          </a:bodyPr>
          <a:lstStyle/>
          <a:p>
            <a:pPr algn="l"/>
            <a:r>
              <a:rPr sz="1600" b="0" i="0">
                <a:solidFill>
                  <a:srgbClr val="1A1A1A"/>
                </a:solidFill>
              </a:rPr>
              <a:t>230.0 days</a:t>
            </a:r>
          </a:p>
        </p:txBody>
      </p:sp>
      <p:sp>
        <p:nvSpPr>
          <p:cNvPr id="78" name="TextBox 77"/>
          <p:cNvSpPr txBox="1"/>
          <p:nvPr/>
        </p:nvSpPr>
        <p:spPr>
          <a:xfrm>
            <a:off x="7498080" y="4443984"/>
            <a:ext cx="1143000" cy="256032"/>
          </a:xfrm>
          <a:prstGeom prst="rect">
            <a:avLst/>
          </a:prstGeom>
          <a:noFill/>
        </p:spPr>
        <p:txBody>
          <a:bodyPr wrap="square">
            <a:spAutoFit/>
          </a:bodyPr>
          <a:lstStyle/>
          <a:p>
            <a:pPr algn="l"/>
            <a:r>
              <a:rPr sz="1600" b="0" i="0">
                <a:solidFill>
                  <a:srgbClr val="1A1A1A"/>
                </a:solidFill>
              </a:rPr>
              <a:t>1x</a:t>
            </a:r>
          </a:p>
        </p:txBody>
      </p:sp>
      <p:sp>
        <p:nvSpPr>
          <p:cNvPr id="79" name="TextBox 78"/>
          <p:cNvSpPr txBox="1"/>
          <p:nvPr/>
        </p:nvSpPr>
        <p:spPr>
          <a:xfrm>
            <a:off x="8778240" y="4443984"/>
            <a:ext cx="2834640" cy="256032"/>
          </a:xfrm>
          <a:prstGeom prst="rect">
            <a:avLst/>
          </a:prstGeom>
          <a:noFill/>
        </p:spPr>
        <p:txBody>
          <a:bodyPr wrap="square">
            <a:spAutoFit/>
          </a:bodyPr>
          <a:lstStyle/>
          <a:p>
            <a:pPr algn="l"/>
            <a:r>
              <a:rPr sz="1600" b="0" i="0">
                <a:solidFill>
                  <a:srgbClr val="1A1A1A"/>
                </a:solidFill>
              </a:rPr>
              <a:t>$725</a:t>
            </a:r>
          </a:p>
        </p:txBody>
      </p:sp>
      <p:sp>
        <p:nvSpPr>
          <p:cNvPr id="80" name="Rectangle 79"/>
          <p:cNvSpPr/>
          <p:nvPr/>
        </p:nvSpPr>
        <p:spPr>
          <a:xfrm>
            <a:off x="320040" y="4809744"/>
            <a:ext cx="11521440" cy="4572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365759" y="4919472"/>
            <a:ext cx="2011679" cy="256032"/>
          </a:xfrm>
          <a:prstGeom prst="rect">
            <a:avLst/>
          </a:prstGeom>
          <a:noFill/>
        </p:spPr>
        <p:txBody>
          <a:bodyPr wrap="square">
            <a:spAutoFit/>
          </a:bodyPr>
          <a:lstStyle/>
          <a:p>
            <a:pPr algn="l"/>
            <a:r>
              <a:rPr sz="1600" b="0" i="0">
                <a:solidFill>
                  <a:srgbClr val="1A1A1A"/>
                </a:solidFill>
              </a:rPr>
              <a:t>Lost</a:t>
            </a:r>
          </a:p>
        </p:txBody>
      </p:sp>
      <p:sp>
        <p:nvSpPr>
          <p:cNvPr id="82" name="TextBox 81"/>
          <p:cNvSpPr txBox="1"/>
          <p:nvPr/>
        </p:nvSpPr>
        <p:spPr>
          <a:xfrm>
            <a:off x="2514600" y="4919472"/>
            <a:ext cx="640080" cy="256032"/>
          </a:xfrm>
          <a:prstGeom prst="rect">
            <a:avLst/>
          </a:prstGeom>
          <a:noFill/>
        </p:spPr>
        <p:txBody>
          <a:bodyPr wrap="square">
            <a:spAutoFit/>
          </a:bodyPr>
          <a:lstStyle/>
          <a:p>
            <a:pPr algn="l"/>
            <a:r>
              <a:rPr sz="1600" b="0" i="0">
                <a:solidFill>
                  <a:srgbClr val="1A1A1A"/>
                </a:solidFill>
              </a:rPr>
              <a:t>20</a:t>
            </a:r>
          </a:p>
        </p:txBody>
      </p:sp>
      <p:sp>
        <p:nvSpPr>
          <p:cNvPr id="83" name="TextBox 82"/>
          <p:cNvSpPr txBox="1"/>
          <p:nvPr/>
        </p:nvSpPr>
        <p:spPr>
          <a:xfrm>
            <a:off x="3291839" y="4919472"/>
            <a:ext cx="685800" cy="256032"/>
          </a:xfrm>
          <a:prstGeom prst="rect">
            <a:avLst/>
          </a:prstGeom>
          <a:noFill/>
        </p:spPr>
        <p:txBody>
          <a:bodyPr wrap="square">
            <a:spAutoFit/>
          </a:bodyPr>
          <a:lstStyle/>
          <a:p>
            <a:pPr algn="l"/>
            <a:r>
              <a:rPr sz="1600" b="0" i="0">
                <a:solidFill>
                  <a:srgbClr val="1A1A1A"/>
                </a:solidFill>
              </a:rPr>
              <a:t>20%</a:t>
            </a:r>
          </a:p>
        </p:txBody>
      </p:sp>
      <p:sp>
        <p:nvSpPr>
          <p:cNvPr id="84" name="TextBox 83"/>
          <p:cNvSpPr txBox="1"/>
          <p:nvPr/>
        </p:nvSpPr>
        <p:spPr>
          <a:xfrm>
            <a:off x="4114800" y="4919472"/>
            <a:ext cx="868680" cy="256032"/>
          </a:xfrm>
          <a:prstGeom prst="rect">
            <a:avLst/>
          </a:prstGeom>
          <a:noFill/>
        </p:spPr>
        <p:txBody>
          <a:bodyPr wrap="square">
            <a:spAutoFit/>
          </a:bodyPr>
          <a:lstStyle/>
          <a:p>
            <a:pPr algn="l"/>
            <a:r>
              <a:rPr sz="1600" b="0" i="0">
                <a:solidFill>
                  <a:srgbClr val="1A1A1A"/>
                </a:solidFill>
              </a:rPr>
              <a:t>$142</a:t>
            </a:r>
          </a:p>
        </p:txBody>
      </p:sp>
      <p:sp>
        <p:nvSpPr>
          <p:cNvPr id="85" name="TextBox 84"/>
          <p:cNvSpPr txBox="1"/>
          <p:nvPr/>
        </p:nvSpPr>
        <p:spPr>
          <a:xfrm>
            <a:off x="5120640" y="4919472"/>
            <a:ext cx="1051560" cy="256032"/>
          </a:xfrm>
          <a:prstGeom prst="rect">
            <a:avLst/>
          </a:prstGeom>
          <a:noFill/>
        </p:spPr>
        <p:txBody>
          <a:bodyPr wrap="square">
            <a:spAutoFit/>
          </a:bodyPr>
          <a:lstStyle/>
          <a:p>
            <a:pPr algn="l"/>
            <a:r>
              <a:rPr sz="1600" b="0" i="0">
                <a:solidFill>
                  <a:srgbClr val="1A1A1A"/>
                </a:solidFill>
              </a:rPr>
              <a:t>$2,843</a:t>
            </a:r>
          </a:p>
        </p:txBody>
      </p:sp>
      <p:sp>
        <p:nvSpPr>
          <p:cNvPr id="86" name="TextBox 85"/>
          <p:cNvSpPr txBox="1"/>
          <p:nvPr/>
        </p:nvSpPr>
        <p:spPr>
          <a:xfrm>
            <a:off x="6309359" y="4919472"/>
            <a:ext cx="1051560" cy="256032"/>
          </a:xfrm>
          <a:prstGeom prst="rect">
            <a:avLst/>
          </a:prstGeom>
          <a:noFill/>
        </p:spPr>
        <p:txBody>
          <a:bodyPr wrap="square">
            <a:spAutoFit/>
          </a:bodyPr>
          <a:lstStyle/>
          <a:p>
            <a:pPr algn="l"/>
            <a:r>
              <a:rPr sz="1600" b="0" i="0">
                <a:solidFill>
                  <a:srgbClr val="1A1A1A"/>
                </a:solidFill>
              </a:rPr>
              <a:t>333.0 days</a:t>
            </a:r>
          </a:p>
        </p:txBody>
      </p:sp>
      <p:sp>
        <p:nvSpPr>
          <p:cNvPr id="87" name="TextBox 86"/>
          <p:cNvSpPr txBox="1"/>
          <p:nvPr/>
        </p:nvSpPr>
        <p:spPr>
          <a:xfrm>
            <a:off x="7498080" y="4919472"/>
            <a:ext cx="1143000" cy="256032"/>
          </a:xfrm>
          <a:prstGeom prst="rect">
            <a:avLst/>
          </a:prstGeom>
          <a:noFill/>
        </p:spPr>
        <p:txBody>
          <a:bodyPr wrap="square">
            <a:spAutoFit/>
          </a:bodyPr>
          <a:lstStyle/>
          <a:p>
            <a:pPr algn="l"/>
            <a:r>
              <a:rPr sz="1600" b="0" i="0">
                <a:solidFill>
                  <a:srgbClr val="1A1A1A"/>
                </a:solidFill>
              </a:rPr>
              <a:t>1x</a:t>
            </a:r>
          </a:p>
        </p:txBody>
      </p:sp>
      <p:sp>
        <p:nvSpPr>
          <p:cNvPr id="88" name="TextBox 87"/>
          <p:cNvSpPr txBox="1"/>
          <p:nvPr/>
        </p:nvSpPr>
        <p:spPr>
          <a:xfrm>
            <a:off x="8778240" y="4919472"/>
            <a:ext cx="2834640" cy="256032"/>
          </a:xfrm>
          <a:prstGeom prst="rect">
            <a:avLst/>
          </a:prstGeom>
          <a:noFill/>
        </p:spPr>
        <p:txBody>
          <a:bodyPr wrap="square">
            <a:spAutoFit/>
          </a:bodyPr>
          <a:lstStyle/>
          <a:p>
            <a:pPr algn="l"/>
            <a:r>
              <a:rPr sz="1600" b="0" i="0">
                <a:solidFill>
                  <a:srgbClr val="1A1A1A"/>
                </a:solidFill>
              </a:rPr>
              <a:t>$710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51560"/>
          </a:xfrm>
          <a:prstGeom prst="rect">
            <a:avLst/>
          </a:prstGeom>
          <a:solidFill>
            <a:srgbClr val="0033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82296"/>
            <a:ext cx="11430000" cy="475488"/>
          </a:xfrm>
          <a:prstGeom prst="rect">
            <a:avLst/>
          </a:prstGeom>
          <a:noFill/>
        </p:spPr>
        <p:txBody>
          <a:bodyPr wrap="square">
            <a:spAutoFit/>
          </a:bodyPr>
          <a:lstStyle/>
          <a:p>
            <a:pPr algn="l"/>
            <a:r>
              <a:rPr sz="2800" b="1" i="0">
                <a:solidFill>
                  <a:srgbClr val="FFFFFF"/>
                </a:solidFill>
              </a:rPr>
              <a:t>How This Was Built</a:t>
            </a:r>
          </a:p>
        </p:txBody>
      </p:sp>
      <p:sp>
        <p:nvSpPr>
          <p:cNvPr id="4" name="TextBox 3"/>
          <p:cNvSpPr txBox="1"/>
          <p:nvPr/>
        </p:nvSpPr>
        <p:spPr>
          <a:xfrm>
            <a:off x="365760" y="566928"/>
            <a:ext cx="11430000" cy="310896"/>
          </a:xfrm>
          <a:prstGeom prst="rect">
            <a:avLst/>
          </a:prstGeom>
          <a:noFill/>
        </p:spPr>
        <p:txBody>
          <a:bodyPr wrap="square">
            <a:spAutoFit/>
          </a:bodyPr>
          <a:lstStyle/>
          <a:p>
            <a:pPr algn="l"/>
            <a:r>
              <a:rPr sz="1500" b="0" i="0">
                <a:solidFill>
                  <a:srgbClr val="BDD7EE"/>
                </a:solidFill>
              </a:rPr>
              <a:t>Reading customer language without training a model</a:t>
            </a:r>
          </a:p>
        </p:txBody>
      </p:sp>
      <p:cxnSp>
        <p:nvCxnSpPr>
          <p:cNvPr id="5" name="Connector 4"/>
          <p:cNvCxnSpPr/>
          <p:nvPr/>
        </p:nvCxnSpPr>
        <p:spPr>
          <a:xfrm>
            <a:off x="365760" y="6473952"/>
            <a:ext cx="11457432" cy="0"/>
          </a:xfrm>
          <a:prstGeom prst="line">
            <a:avLst/>
          </a:prstGeom>
          <a:ln w="6350">
            <a:solidFill>
              <a:srgbClr val="D6D6D6"/>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65760" y="6510528"/>
            <a:ext cx="5486400" cy="256032"/>
          </a:xfrm>
          <a:prstGeom prst="rect">
            <a:avLst/>
          </a:prstGeom>
          <a:noFill/>
        </p:spPr>
        <p:txBody>
          <a:bodyPr wrap="square">
            <a:spAutoFit/>
          </a:bodyPr>
          <a:lstStyle/>
          <a:p>
            <a:pPr algn="l"/>
            <a:r>
              <a:rPr sz="1200" b="0" i="0">
                <a:solidFill>
                  <a:srgbClr val="595959"/>
                </a:solidFill>
              </a:rPr>
              <a:t>CONFIDENTIAL — RFM Customer Analysis</a:t>
            </a:r>
          </a:p>
        </p:txBody>
      </p:sp>
      <p:sp>
        <p:nvSpPr>
          <p:cNvPr id="7" name="TextBox 6"/>
          <p:cNvSpPr txBox="1"/>
          <p:nvPr/>
        </p:nvSpPr>
        <p:spPr>
          <a:xfrm>
            <a:off x="11612880" y="6428232"/>
            <a:ext cx="457200" cy="274320"/>
          </a:xfrm>
          <a:prstGeom prst="rect">
            <a:avLst/>
          </a:prstGeom>
          <a:noFill/>
        </p:spPr>
        <p:txBody>
          <a:bodyPr wrap="square">
            <a:spAutoFit/>
          </a:bodyPr>
          <a:lstStyle/>
          <a:p>
            <a:pPr algn="r"/>
            <a:r>
              <a:rPr sz="1200" b="0" i="0">
                <a:solidFill>
                  <a:srgbClr val="595959"/>
                </a:solidFill>
              </a:rPr>
              <a:t>14</a:t>
            </a:r>
          </a:p>
        </p:txBody>
      </p:sp>
      <p:sp>
        <p:nvSpPr>
          <p:cNvPr id="8" name="Rectangle 7"/>
          <p:cNvSpPr/>
          <p:nvPr/>
        </p:nvSpPr>
        <p:spPr>
          <a:xfrm>
            <a:off x="365760" y="1143000"/>
            <a:ext cx="3703320" cy="45262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1143000"/>
            <a:ext cx="3703320" cy="73152"/>
          </a:xfrm>
          <a:prstGeom prst="rect">
            <a:avLst/>
          </a:prstGeom>
          <a:solidFill>
            <a:srgbClr val="0070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298448"/>
            <a:ext cx="3383280" cy="228600"/>
          </a:xfrm>
          <a:prstGeom prst="rect">
            <a:avLst/>
          </a:prstGeom>
          <a:noFill/>
        </p:spPr>
        <p:txBody>
          <a:bodyPr wrap="square">
            <a:spAutoFit/>
          </a:bodyPr>
          <a:lstStyle/>
          <a:p>
            <a:pPr algn="l"/>
            <a:r>
              <a:rPr sz="1400" b="1" i="0">
                <a:solidFill>
                  <a:srgbClr val="0070C0"/>
                </a:solidFill>
              </a:rPr>
              <a:t>WHAT WE ASKED</a:t>
            </a:r>
          </a:p>
        </p:txBody>
      </p:sp>
      <p:sp>
        <p:nvSpPr>
          <p:cNvPr id="11" name="TextBox 10"/>
          <p:cNvSpPr txBox="1"/>
          <p:nvPr/>
        </p:nvSpPr>
        <p:spPr>
          <a:xfrm>
            <a:off x="566928" y="1591056"/>
            <a:ext cx="3383280" cy="868680"/>
          </a:xfrm>
          <a:prstGeom prst="rect">
            <a:avLst/>
          </a:prstGeom>
          <a:noFill/>
        </p:spPr>
        <p:txBody>
          <a:bodyPr wrap="square">
            <a:spAutoFit/>
          </a:bodyPr>
          <a:lstStyle/>
          <a:p>
            <a:pPr algn="l"/>
            <a:r>
              <a:rPr sz="1800" b="1" i="0">
                <a:solidFill>
                  <a:srgbClr val="1A1A1A"/>
                </a:solidFill>
              </a:rPr>
              <a:t>Five plain questions about
each customer message</a:t>
            </a:r>
          </a:p>
        </p:txBody>
      </p:sp>
      <p:sp>
        <p:nvSpPr>
          <p:cNvPr id="12" name="TextBox 11"/>
          <p:cNvSpPr txBox="1"/>
          <p:nvPr/>
        </p:nvSpPr>
        <p:spPr>
          <a:xfrm>
            <a:off x="566928" y="2578608"/>
            <a:ext cx="3337560" cy="306323"/>
          </a:xfrm>
          <a:prstGeom prst="rect">
            <a:avLst/>
          </a:prstGeom>
          <a:noFill/>
        </p:spPr>
        <p:txBody>
          <a:bodyPr wrap="square">
            <a:spAutoFit/>
          </a:bodyPr>
          <a:lstStyle/>
          <a:p>
            <a:pPr algn="l"/>
            <a:r>
              <a:rPr sz="1400" b="0" i="0">
                <a:solidFill>
                  <a:srgbClr val="595959"/>
                </a:solidFill>
              </a:rPr>
              <a:t>–  Are they signalling they want to leave?</a:t>
            </a:r>
          </a:p>
        </p:txBody>
      </p:sp>
      <p:sp>
        <p:nvSpPr>
          <p:cNvPr id="13" name="TextBox 12"/>
          <p:cNvSpPr txBox="1"/>
          <p:nvPr/>
        </p:nvSpPr>
        <p:spPr>
          <a:xfrm>
            <a:off x="566928" y="2976372"/>
            <a:ext cx="3337560" cy="306323"/>
          </a:xfrm>
          <a:prstGeom prst="rect">
            <a:avLst/>
          </a:prstGeom>
          <a:noFill/>
        </p:spPr>
        <p:txBody>
          <a:bodyPr wrap="square">
            <a:spAutoFit/>
          </a:bodyPr>
          <a:lstStyle/>
          <a:p>
            <a:pPr algn="l"/>
            <a:r>
              <a:rPr sz="1400" b="0" i="0">
                <a:solidFill>
                  <a:srgbClr val="595959"/>
                </a:solidFill>
              </a:rPr>
              <a:t>–  How serious is the problem?</a:t>
            </a:r>
          </a:p>
        </p:txBody>
      </p:sp>
      <p:sp>
        <p:nvSpPr>
          <p:cNvPr id="14" name="TextBox 13"/>
          <p:cNvSpPr txBox="1"/>
          <p:nvPr/>
        </p:nvSpPr>
        <p:spPr>
          <a:xfrm>
            <a:off x="566928" y="3374136"/>
            <a:ext cx="3337560" cy="521207"/>
          </a:xfrm>
          <a:prstGeom prst="rect">
            <a:avLst/>
          </a:prstGeom>
          <a:noFill/>
        </p:spPr>
        <p:txBody>
          <a:bodyPr wrap="square">
            <a:spAutoFit/>
          </a:bodyPr>
          <a:lstStyle/>
          <a:p>
            <a:pPr algn="l"/>
            <a:r>
              <a:rPr sz="1400" b="0" i="0">
                <a:solidFill>
                  <a:srgbClr val="595959"/>
                </a:solidFill>
              </a:rPr>
              <a:t>–  What is driving it — service, price, the product, a competitor?</a:t>
            </a:r>
          </a:p>
        </p:txBody>
      </p:sp>
      <p:sp>
        <p:nvSpPr>
          <p:cNvPr id="15" name="TextBox 14"/>
          <p:cNvSpPr txBox="1"/>
          <p:nvPr/>
        </p:nvSpPr>
        <p:spPr>
          <a:xfrm>
            <a:off x="566928" y="3986783"/>
            <a:ext cx="3337560" cy="521207"/>
          </a:xfrm>
          <a:prstGeom prst="rect">
            <a:avLst/>
          </a:prstGeom>
          <a:noFill/>
        </p:spPr>
        <p:txBody>
          <a:bodyPr wrap="square">
            <a:spAutoFit/>
          </a:bodyPr>
          <a:lstStyle/>
          <a:p>
            <a:pPr algn="l"/>
            <a:r>
              <a:rPr sz="1400" b="0" i="0">
                <a:solidFill>
                  <a:srgbClr val="595959"/>
                </a:solidFill>
              </a:rPr>
              <a:t>–  Could we still keep them if we acted now?</a:t>
            </a:r>
          </a:p>
        </p:txBody>
      </p:sp>
      <p:sp>
        <p:nvSpPr>
          <p:cNvPr id="16" name="TextBox 15"/>
          <p:cNvSpPr txBox="1"/>
          <p:nvPr/>
        </p:nvSpPr>
        <p:spPr>
          <a:xfrm>
            <a:off x="566928" y="4599431"/>
            <a:ext cx="3337560" cy="306323"/>
          </a:xfrm>
          <a:prstGeom prst="rect">
            <a:avLst/>
          </a:prstGeom>
          <a:noFill/>
        </p:spPr>
        <p:txBody>
          <a:bodyPr wrap="square">
            <a:spAutoFit/>
          </a:bodyPr>
          <a:lstStyle/>
          <a:p>
            <a:pPr algn="l"/>
            <a:r>
              <a:rPr sz="1400" b="0" i="0">
                <a:solidFill>
                  <a:srgbClr val="595959"/>
                </a:solidFill>
              </a:rPr>
              <a:t>–  Does this need a person, or a campaign?</a:t>
            </a:r>
          </a:p>
        </p:txBody>
      </p:sp>
      <p:sp>
        <p:nvSpPr>
          <p:cNvPr id="17" name="TextBox 16"/>
          <p:cNvSpPr txBox="1"/>
          <p:nvPr/>
        </p:nvSpPr>
        <p:spPr>
          <a:xfrm>
            <a:off x="566928" y="4997195"/>
            <a:ext cx="3337560" cy="521207"/>
          </a:xfrm>
          <a:prstGeom prst="rect">
            <a:avLst/>
          </a:prstGeom>
          <a:noFill/>
        </p:spPr>
        <p:txBody>
          <a:bodyPr wrap="square">
            <a:spAutoFit/>
          </a:bodyPr>
          <a:lstStyle/>
          <a:p>
            <a:pPr algn="l"/>
            <a:r>
              <a:rPr sz="1400" b="0" i="0">
                <a:solidFill>
                  <a:srgbClr val="595959"/>
                </a:solidFill>
              </a:rPr>
              <a:t>–  Answers come back as numbers, so ordinary code can use them.</a:t>
            </a:r>
          </a:p>
        </p:txBody>
      </p:sp>
      <p:sp>
        <p:nvSpPr>
          <p:cNvPr id="18" name="Rectangle 17"/>
          <p:cNvSpPr/>
          <p:nvPr/>
        </p:nvSpPr>
        <p:spPr>
          <a:xfrm>
            <a:off x="4315968" y="1143000"/>
            <a:ext cx="3703320" cy="45262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315968" y="1143000"/>
            <a:ext cx="3703320" cy="73152"/>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17136" y="1298448"/>
            <a:ext cx="3383280" cy="228600"/>
          </a:xfrm>
          <a:prstGeom prst="rect">
            <a:avLst/>
          </a:prstGeom>
          <a:noFill/>
        </p:spPr>
        <p:txBody>
          <a:bodyPr wrap="square">
            <a:spAutoFit/>
          </a:bodyPr>
          <a:lstStyle/>
          <a:p>
            <a:pPr algn="l"/>
            <a:r>
              <a:rPr sz="1400" b="1" i="0">
                <a:solidFill>
                  <a:srgbClr val="C00000"/>
                </a:solidFill>
              </a:rPr>
              <a:t>WHY NOT A TRAINED MODEL</a:t>
            </a:r>
          </a:p>
        </p:txBody>
      </p:sp>
      <p:sp>
        <p:nvSpPr>
          <p:cNvPr id="21" name="TextBox 20"/>
          <p:cNvSpPr txBox="1"/>
          <p:nvPr/>
        </p:nvSpPr>
        <p:spPr>
          <a:xfrm>
            <a:off x="4517136" y="1591056"/>
            <a:ext cx="3383280" cy="868680"/>
          </a:xfrm>
          <a:prstGeom prst="rect">
            <a:avLst/>
          </a:prstGeom>
          <a:noFill/>
        </p:spPr>
        <p:txBody>
          <a:bodyPr wrap="square">
            <a:spAutoFit/>
          </a:bodyPr>
          <a:lstStyle/>
          <a:p>
            <a:pPr algn="l"/>
            <a:r>
              <a:rPr sz="1800" b="1" i="0">
                <a:solidFill>
                  <a:srgbClr val="1A1A1A"/>
                </a:solidFill>
              </a:rPr>
              <a:t>The usual approach did not fit
the problem we had</a:t>
            </a:r>
          </a:p>
        </p:txBody>
      </p:sp>
      <p:sp>
        <p:nvSpPr>
          <p:cNvPr id="22" name="TextBox 21"/>
          <p:cNvSpPr txBox="1"/>
          <p:nvPr/>
        </p:nvSpPr>
        <p:spPr>
          <a:xfrm>
            <a:off x="4517136" y="2578608"/>
            <a:ext cx="3337560" cy="736092"/>
          </a:xfrm>
          <a:prstGeom prst="rect">
            <a:avLst/>
          </a:prstGeom>
          <a:noFill/>
        </p:spPr>
        <p:txBody>
          <a:bodyPr wrap="square">
            <a:spAutoFit/>
          </a:bodyPr>
          <a:lstStyle/>
          <a:p>
            <a:pPr algn="l"/>
            <a:r>
              <a:rPr sz="1400" b="0" i="0">
                <a:solidFill>
                  <a:srgbClr val="595959"/>
                </a:solidFill>
              </a:rPr>
              <a:t>–  A trained classifier learns from examples. It needs thousands of messages, each labelled by hand.</a:t>
            </a:r>
          </a:p>
        </p:txBody>
      </p:sp>
      <p:sp>
        <p:nvSpPr>
          <p:cNvPr id="23" name="TextBox 22"/>
          <p:cNvSpPr txBox="1"/>
          <p:nvPr/>
        </p:nvSpPr>
        <p:spPr>
          <a:xfrm>
            <a:off x="4517136" y="3406139"/>
            <a:ext cx="3337560" cy="521207"/>
          </a:xfrm>
          <a:prstGeom prst="rect">
            <a:avLst/>
          </a:prstGeom>
          <a:noFill/>
        </p:spPr>
        <p:txBody>
          <a:bodyPr wrap="square">
            <a:spAutoFit/>
          </a:bodyPr>
          <a:lstStyle/>
          <a:p>
            <a:pPr algn="l"/>
            <a:r>
              <a:rPr sz="1400" b="0" i="0">
                <a:solidFill>
                  <a:srgbClr val="595959"/>
                </a:solidFill>
              </a:rPr>
              <a:t>–  We have 100 customers and no labels at all.</a:t>
            </a:r>
          </a:p>
        </p:txBody>
      </p:sp>
      <p:sp>
        <p:nvSpPr>
          <p:cNvPr id="24" name="TextBox 23"/>
          <p:cNvSpPr txBox="1"/>
          <p:nvPr/>
        </p:nvSpPr>
        <p:spPr>
          <a:xfrm>
            <a:off x="4517136" y="4018787"/>
            <a:ext cx="3337560" cy="736092"/>
          </a:xfrm>
          <a:prstGeom prst="rect">
            <a:avLst/>
          </a:prstGeom>
          <a:noFill/>
        </p:spPr>
        <p:txBody>
          <a:bodyPr wrap="square">
            <a:spAutoFit/>
          </a:bodyPr>
          <a:lstStyle/>
          <a:p>
            <a:pPr algn="l"/>
            <a:r>
              <a:rPr sz="1400" b="0" i="0">
                <a:solidFill>
                  <a:srgbClr val="595959"/>
                </a:solidFill>
              </a:rPr>
              <a:t>–  Every new question would mean another labelled set and another training run. Here it took minutes.</a:t>
            </a:r>
          </a:p>
        </p:txBody>
      </p:sp>
      <p:sp>
        <p:nvSpPr>
          <p:cNvPr id="25" name="TextBox 24"/>
          <p:cNvSpPr txBox="1"/>
          <p:nvPr/>
        </p:nvSpPr>
        <p:spPr>
          <a:xfrm>
            <a:off x="4517136" y="4846320"/>
            <a:ext cx="3337560" cy="736092"/>
          </a:xfrm>
          <a:prstGeom prst="rect">
            <a:avLst/>
          </a:prstGeom>
          <a:noFill/>
        </p:spPr>
        <p:txBody>
          <a:bodyPr wrap="square">
            <a:spAutoFit/>
          </a:bodyPr>
          <a:lstStyle/>
          <a:p>
            <a:pPr algn="l"/>
            <a:r>
              <a:rPr sz="1400" b="0" i="0">
                <a:solidFill>
                  <a:srgbClr val="595959"/>
                </a:solidFill>
              </a:rPr>
              <a:t>–  Our first scoring rule was wrong. Fixing it cost nothing, because the answers were already saved.</a:t>
            </a:r>
          </a:p>
        </p:txBody>
      </p:sp>
      <p:sp>
        <p:nvSpPr>
          <p:cNvPr id="26" name="Rectangle 25"/>
          <p:cNvSpPr/>
          <p:nvPr/>
        </p:nvSpPr>
        <p:spPr>
          <a:xfrm>
            <a:off x="8266176" y="1143000"/>
            <a:ext cx="3703320" cy="4526280"/>
          </a:xfrm>
          <a:prstGeom prst="rect">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266176" y="1143000"/>
            <a:ext cx="3703320" cy="73152"/>
          </a:xfrm>
          <a:prstGeom prst="rect">
            <a:avLst/>
          </a:prstGeom>
          <a:solidFill>
            <a:srgbClr val="0070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67344" y="1298448"/>
            <a:ext cx="3383280" cy="228600"/>
          </a:xfrm>
          <a:prstGeom prst="rect">
            <a:avLst/>
          </a:prstGeom>
          <a:noFill/>
        </p:spPr>
        <p:txBody>
          <a:bodyPr wrap="square">
            <a:spAutoFit/>
          </a:bodyPr>
          <a:lstStyle/>
          <a:p>
            <a:pPr algn="l"/>
            <a:r>
              <a:rPr sz="1400" b="1" i="0">
                <a:solidFill>
                  <a:srgbClr val="007050"/>
                </a:solidFill>
              </a:rPr>
              <a:t>WHAT STAYED ORDINARY CODE</a:t>
            </a:r>
          </a:p>
        </p:txBody>
      </p:sp>
      <p:sp>
        <p:nvSpPr>
          <p:cNvPr id="29" name="TextBox 28"/>
          <p:cNvSpPr txBox="1"/>
          <p:nvPr/>
        </p:nvSpPr>
        <p:spPr>
          <a:xfrm>
            <a:off x="8467344" y="1591056"/>
            <a:ext cx="3383280" cy="868680"/>
          </a:xfrm>
          <a:prstGeom prst="rect">
            <a:avLst/>
          </a:prstGeom>
          <a:noFill/>
        </p:spPr>
        <p:txBody>
          <a:bodyPr wrap="square">
            <a:spAutoFit/>
          </a:bodyPr>
          <a:lstStyle/>
          <a:p>
            <a:pPr algn="l"/>
            <a:r>
              <a:rPr sz="1800" b="1" i="0">
                <a:solidFill>
                  <a:srgbClr val="1A1A1A"/>
                </a:solidFill>
              </a:rPr>
              <a:t>The model never touches
a single calculation</a:t>
            </a:r>
          </a:p>
        </p:txBody>
      </p:sp>
      <p:sp>
        <p:nvSpPr>
          <p:cNvPr id="30" name="TextBox 29"/>
          <p:cNvSpPr txBox="1"/>
          <p:nvPr/>
        </p:nvSpPr>
        <p:spPr>
          <a:xfrm>
            <a:off x="8467344" y="2578608"/>
            <a:ext cx="3337560" cy="736092"/>
          </a:xfrm>
          <a:prstGeom prst="rect">
            <a:avLst/>
          </a:prstGeom>
          <a:noFill/>
        </p:spPr>
        <p:txBody>
          <a:bodyPr wrap="square">
            <a:spAutoFit/>
          </a:bodyPr>
          <a:lstStyle/>
          <a:p>
            <a:pPr algn="l"/>
            <a:r>
              <a:rPr sz="1400" b="0" i="0">
                <a:solidFill>
                  <a:srgbClr val="595959"/>
                </a:solidFill>
              </a:rPr>
              <a:t>–  Every number is plain arithmetic: the scores, the lifetime value, the thresholds, the weights.</a:t>
            </a:r>
          </a:p>
        </p:txBody>
      </p:sp>
      <p:sp>
        <p:nvSpPr>
          <p:cNvPr id="31" name="TextBox 30"/>
          <p:cNvSpPr txBox="1"/>
          <p:nvPr/>
        </p:nvSpPr>
        <p:spPr>
          <a:xfrm>
            <a:off x="8467344" y="3406139"/>
            <a:ext cx="3337560" cy="521207"/>
          </a:xfrm>
          <a:prstGeom prst="rect">
            <a:avLst/>
          </a:prstGeom>
          <a:noFill/>
        </p:spPr>
        <p:txBody>
          <a:bodyPr wrap="square">
            <a:spAutoFit/>
          </a:bodyPr>
          <a:lstStyle/>
          <a:p>
            <a:pPr algn="l"/>
            <a:r>
              <a:rPr sz="1400" b="0" i="0">
                <a:solidFill>
                  <a:srgbClr val="595959"/>
                </a:solidFill>
              </a:rPr>
              <a:t>–  The model reads meaning. Code owns every calculation that follows.</a:t>
            </a:r>
          </a:p>
        </p:txBody>
      </p:sp>
      <p:sp>
        <p:nvSpPr>
          <p:cNvPr id="32" name="TextBox 31"/>
          <p:cNvSpPr txBox="1"/>
          <p:nvPr/>
        </p:nvSpPr>
        <p:spPr>
          <a:xfrm>
            <a:off x="8467344" y="4018787"/>
            <a:ext cx="3337560" cy="521207"/>
          </a:xfrm>
          <a:prstGeom prst="rect">
            <a:avLst/>
          </a:prstGeom>
          <a:noFill/>
        </p:spPr>
        <p:txBody>
          <a:bodyPr wrap="square">
            <a:spAutoFit/>
          </a:bodyPr>
          <a:lstStyle/>
          <a:p>
            <a:pPr algn="l"/>
            <a:r>
              <a:rPr sz="1400" b="0" i="0">
                <a:solidFill>
                  <a:srgbClr val="595959"/>
                </a:solidFill>
              </a:rPr>
              <a:t>–  This is the step before machine learning, not a replacement for it.</a:t>
            </a:r>
          </a:p>
        </p:txBody>
      </p:sp>
      <p:sp>
        <p:nvSpPr>
          <p:cNvPr id="33" name="TextBox 32"/>
          <p:cNvSpPr txBox="1"/>
          <p:nvPr/>
        </p:nvSpPr>
        <p:spPr>
          <a:xfrm>
            <a:off x="8467344" y="4631436"/>
            <a:ext cx="3337560" cy="736092"/>
          </a:xfrm>
          <a:prstGeom prst="rect">
            <a:avLst/>
          </a:prstGeom>
          <a:noFill/>
        </p:spPr>
        <p:txBody>
          <a:bodyPr wrap="square">
            <a:spAutoFit/>
          </a:bodyPr>
          <a:lstStyle/>
          <a:p>
            <a:pPr algn="l"/>
            <a:r>
              <a:rPr sz="1400" b="0" i="0">
                <a:solidFill>
                  <a:srgbClr val="595959"/>
                </a:solidFill>
              </a:rPr>
              <a:t>–  Pair enough of these judgments with real outcomes and they become inputs to a conventional model.</a:t>
            </a:r>
          </a:p>
        </p:txBody>
      </p:sp>
      <p:sp>
        <p:nvSpPr>
          <p:cNvPr id="34" name="Rectangle 33"/>
          <p:cNvSpPr/>
          <p:nvPr/>
        </p:nvSpPr>
        <p:spPr>
          <a:xfrm>
            <a:off x="365760" y="5797296"/>
            <a:ext cx="11430000" cy="566928"/>
          </a:xfrm>
          <a:prstGeom prst="rect">
            <a:avLst/>
          </a:prstGeom>
          <a:solidFill>
            <a:srgbClr val="ED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5925312"/>
            <a:ext cx="11064240" cy="329184"/>
          </a:xfrm>
          <a:prstGeom prst="rect">
            <a:avLst/>
          </a:prstGeom>
          <a:noFill/>
        </p:spPr>
        <p:txBody>
          <a:bodyPr wrap="square">
            <a:spAutoFit/>
          </a:bodyPr>
          <a:lstStyle/>
          <a:p>
            <a:pPr algn="l"/>
            <a:r>
              <a:rPr sz="1600" b="1" i="0">
                <a:solidFill>
                  <a:srgbClr val="003366"/>
                </a:solidFill>
              </a:rPr>
              <a:t>The model reports how sure it is — 2 of 8 plays fell below our confidence bar and are flagged for review.</a:t>
            </a:r>
          </a:p>
        </p:txBody>
      </p:sp>
      <p:sp>
        <p:nvSpPr>
          <p:cNvPr id="36" name="TextBox 35"/>
          <p:cNvSpPr txBox="1"/>
          <p:nvPr/>
        </p:nvSpPr>
        <p:spPr>
          <a:xfrm>
            <a:off x="365760" y="6236208"/>
            <a:ext cx="11430000" cy="256032"/>
          </a:xfrm>
          <a:prstGeom prst="rect">
            <a:avLst/>
          </a:prstGeom>
          <a:noFill/>
        </p:spPr>
        <p:txBody>
          <a:bodyPr wrap="square">
            <a:spAutoFit/>
          </a:bodyPr>
          <a:lstStyle/>
          <a:p>
            <a:pPr algn="l"/>
            <a:r>
              <a:rPr sz="1200" b="0" i="1">
                <a:solidFill>
                  <a:srgbClr val="595959"/>
                </a:solidFill>
              </a:rPr>
              <a:t>Customer messages are illustrative sample text, not real customer data. Replace with real support and survey data before acting on named accounts.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